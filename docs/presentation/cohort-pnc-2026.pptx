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Cohort helps researchers find passages, compare them and keep a record of the investigation.</a:t>
            </a:r>
          </a:p>
          <a:p/>
          <a:p>
            <a:r>
              <a:t>NEXT: Thank Michael Radich and introduce the data.</a:t>
            </a:r>
          </a:p>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p>
            <a:r>
              <a:t>A plain opening you can use:</a:t>
            </a:r>
          </a:p>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Michael Radich, for sharing the texts, catalogue and string list. The groups come from catalogue labels; Cohort computes the comparisons.</a:t>
            </a:r>
          </a:p>
          <a:p/>
          <a:p>
            <a:r>
              <a:t>BACKGROUND</a:t>
            </a:r>
          </a:p>
          <a:p>
            <a:r>
              <a:t>SAY: Thank you to Michael Radich for sharing the material that made these examples possible.</a:t>
            </a:r>
          </a:p>
          <a:p/>
          <a:p>
            <a:r>
              <a:t>NEXT: Introduce the functions.</a:t>
            </a:r>
          </a:p>
          <a:p/>
          <a:p>
            <a:r>
              <a:t>BACKGROUND</a:t>
            </a:r>
          </a:p>
          <a:p>
            <a:r>
              <a:t>Explain the restriction before presenting a ranking. CBETA is much larger than this dataset. The counts below come from the current selection ledger,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Corpus is for finding and reading passages. Vocabulary comparison compares wording. Inquiry starts an agent investigation. Findings presents its proposals. Graph shows their sources and relationships.</a:t>
            </a:r>
          </a:p>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know that a later commentary repeats wording from T0603. Could shared wording mislead us about who translated this text? The Lotus example asks whether we can find related passages across two translations.</a:t>
            </a:r>
          </a:p>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 passages and read them in context.</a:t>
            </a:r>
          </a:p>
          <a:p/>
          <a:p>
            <a:r>
              <a:t>SAY: This is where we retrieve passages and read their context. I will show one Lotus comparison in the application.</a:t>
            </a:r>
          </a:p>
          <a:p/>
          <a:p>
            <a:r>
              <a:t>BACKGROUND</a:t>
            </a:r>
          </a:p>
          <a:p>
            <a:r>
              <a:t>The selected passage is on the left; related results scroll on the right. This is the stored-embedding mode, not exact-phrase search. Source text is hidden in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 embedder has already converted passages to vectors. We compare those stored vectors, then read the candidates. The worker language model is separate.</a:t>
            </a:r>
          </a:p>
          <a:p/>
          <a:p>
            <a:r>
              <a:t>BACKGROUND</a:t>
            </a:r>
          </a:p>
          <a:p>
            <a:r>
              <a:t>Use a saved semantic_neighbors action if available. Read its target and returned candidate IDs. Do not call this translator identification. The diagram is the tool workflow, not a new measured run.</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two Lotus windows are close in the embedding index, but their longest exact shared sequence is only three Chinese characters. Retrieval gives us a pair to read; alignment shows where wording matches.</a:t>
            </a:r>
          </a:p>
          <a:p/>
          <a:p>
            <a:r>
              <a:t>BACKGROUND</a:t>
            </a:r>
          </a:p>
          <a:p>
            <a:r>
              <a:t>Historical orientation: An Shigao worked in the second century CE. Scholarship identifies T1694 as a later commentary, probably from the third century; do not treat the date as inferred by Cohort. Its title repeats 陰持入經 and adds 註, commentary. This is why shared wording may reflect transmission over time rather than the same translator.</a:t>
            </a:r>
          </a:p>
          <a:p/>
          <a:p>
            <a:r>
              <a:t>Explain the titles. T0603 is the Yin chi ru jing, associated with An Shigao. T1694 is its commentary; this relationship is known from scholarship. The tool locates shared runs, not the historical direction of borrowing.</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p>
            <a:r>
              <a:t>SAY: The list tells us which strings to count. Cohort compares the target’s usage with catalogue-labelled groups. It does not rank texts by how many dictionary words they contain.</a:t>
            </a:r>
          </a:p>
          <a:p/>
          <a:p>
            <a:r>
              <a:t>BACKGROUND</a:t>
            </a:r>
          </a:p>
          <a:p>
            <a:r>
              <a:t>Open Vocabulary comparison and use the T0603 example. Explain the vocabulary as short character strings, then show the full ranking. The example resets to curated strings and no additional exclusions.</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These choices change what the method counts. Curated is the setting for the checked exclusion example, not a claim that it is universally best.</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This list gives catalogue membership labels, not a ranking. The two mixed categories are not individual translators. Counts are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Do not compute the headline margin by dividing the already rounded gap displayed in a table. The backend computes it from unrounded scores before display rounding.</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Compare a text’s wording with texts labelled by translator.</a:t>
            </a:r>
          </a:p>
          <a:p/>
          <a:p>
            <a:r>
              <a:t>SAY: Read the group names beside A and B. Highlighting is the contribution to their score difference. The strings can occur in both groups. Strong colour is not certainty.</a:t>
            </a:r>
          </a:p>
          <a:p/>
          <a:p>
            <a:r>
              <a:t>BACKGROUND</a:t>
            </a:r>
          </a:p>
          <a:p>
            <a:r>
              <a:t>This compares a text against pooled groups using string counts, not embeddings. Use the live view for exclusions. Source passages are hidden in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T1694 is in the mixed early-material group. Removing it changes that group’s profile and the leader. The target and vocabulary stay fixed. The margin is the score gap divided by distinct matched strings; it is not a probability.</a:t>
            </a:r>
          </a:p>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p>
            <a:r>
              <a:t>Live action: enter T1694 and click Repeat comparison. Keep curated vocabulary fixed. The leading group changes, so both names must be read. This demonstrates sensitivity to included material, not successful attribution.</a:t>
            </a:r>
          </a:p>
          <a:p/>
          <a:p>
            <a:r>
              <a:t>Under **Does the result depend on another text?**, enter **T1694** in **Exclude additional texts** and click **Repeat comparison**. The target remains T0603; only the reference material changes. **Restore these texts** removes the additional exclusion.</a:t>
            </a:r>
          </a:p>
          <a:p/>
          <a:p>
            <a:r>
              <a:t>The reproduced results on 9 September 2026 are:</a:t>
            </a:r>
          </a:p>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p>
            <a:r>
              <a:t>T1694 contributes to the mixed group in the first row. “Other material before Dharmarakṣa” is a catalogue category for early material, not one competing translator. Excluding the commentary changes the leader and greatly reduces the lead.</a:t>
            </a:r>
          </a:p>
          <a:p/>
          <a:p>
            <a:r>
              <a:t>Say:</a:t>
            </a:r>
          </a:p>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p>
            <a:r>
              <a:t>Do not translate 0.096 into a probability or call it a statistically established tie. An Shigao’s new first place does not establish his authorship. The comparison does not determine which text borrowed from which.</a:t>
            </a:r>
          </a:p>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Give agents a research question and inspect their actions.</a:t>
            </a:r>
          </a:p>
          <a:p/>
          <a:p>
            <a:r>
              <a:t>SAY: Suggested inputs fill a draft. Inquire starts the workers. This screenshot contains an unsent draft; I will inspect a saved run in the application.</a:t>
            </a:r>
          </a:p>
          <a:p/>
          <a:p>
            <a:r>
              <a:t>BACKGROUND</a:t>
            </a:r>
          </a:p>
          <a:p>
            <a:r>
              <a:t>Show the distinction between a research question and research instructions. The screenshot shows an unsent draft; no new model run was started. Run history was hidden for this capture.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worker can pull material together, suggest explanations we might want to examine, and propose a next search. These are possibilities for research. We inspect the cited passages and recorded checks before deciding what to pursue.</a:t>
            </a:r>
          </a:p>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p>
            <a:r>
              <a:t>DIAGRAM: This is a high-level workflow, not the Graph's edge vocabulary or a promise that every retrieved passage is saved. The researcher chooses what to pursue; opening a tab does not execute this sequence.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agents’ proposals, citations and checks.</a:t>
            </a:r>
          </a:p>
          <a:p/>
          <a:p>
            <a:r>
              <a:t>SAY: Findings is a readable view of saved proposals. A conjecture adds an explanation, limits and a proposed test; it is not a container made of claims.</a:t>
            </a:r>
          </a:p>
          <a:p/>
          <a:p>
            <a:r>
              <a:t>BACKGROUND</a:t>
            </a:r>
          </a:p>
          <a:p>
            <a:r>
              <a:t>These are saved proposals, not established conclusions. The conjecture review found weaknesses; do not imply attested means correct. No proposal was accepted for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links between sources, proposals and decisions.</a:t>
            </a:r>
          </a:p>
          <a:p/>
          <a:p>
            <a:r>
              <a:t>SAY: The graph is already populated by saved work. It is not a display of every corpus text. Selecting a node shows its author, model and records.</a:t>
            </a:r>
          </a:p>
          <a:p/>
          <a:p>
            <a:r>
              <a:t>BACKGROUND</a:t>
            </a:r>
          </a:p>
          <a:p>
            <a:r>
              <a:t>Follow records and their relationships. Source-passage labels and query phrases are hidden in this screenshot; graph records and topology are otherwise unchanged. </a:t>
            </a:r>
          </a:p>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p>
            <a:r>
              <a:t>BACKGROUND</a:t>
            </a:r>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The arrows here follow schema direction: passage part_of source; passage attests proposal; proposal addresses question. Shapes are simplified but match node types. Use one selected record rather than narrating the entire graph.</a:t>
            </a:r>
          </a:p>
          <a:p/>
          <a:p>
            <a:r>
              <a:t>Diagram: Graph relationships](diagrams/graph.svg)</a:t>
            </a:r>
          </a:p>
          <a:p/>
          <a:p>
            <a:r>
              <a:t>Use the question checkboxes to show the investigation you are discussing. Hiding a question changes the view; it does not delete its records. Several proposals can address one question. An older session can also contain earlier questions.</a:t>
            </a:r>
          </a:p>
          <a:p/>
          <a:p>
            <a:r>
              <a:t>Select a single node. Its inspector shows the record’s type, status, worker, model, sources and relationships. New records can show the worker’s action reason. The historical model name describes the recorded call, not a later profile setting.</a:t>
            </a:r>
          </a:p>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Finding a quotation at its source is one check. Whether it supports the interpretation requires reading. Accepting a passage does not accept every connected proposal.</a:t>
            </a:r>
          </a:p>
          <a:p/>
          <a:p>
            <a:r>
              <a:t>BACKGROUND</a:t>
            </a:r>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 will use the same functions on the saved material.</a:t>
            </a:r>
          </a:p>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p>
            <a:r>
              <a:t>BACKGROUND</a:t>
            </a:r>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p>
            <a:r>
              <a:t>SAY: These tools help us inspect the material. They do not settle the historical interpretation.</a:t>
            </a:r>
          </a:p>
          <a:p/>
          <a:p>
            <a:r>
              <a:t>NEXT: End the presentation.</a:t>
            </a:r>
          </a:p>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p>
            <a:r>
              <a:t>Leave time for questions. Ask which operation would help the audience with material they already work on. The Q3 branch is described in a reference slide; do not imply it is merged or that its real-corpus findings were reproduced in this review.</a:t>
            </a:r>
          </a:p>
          <a:p/>
          <a:p>
            <a:r>
              <a:t>Diachronic research studies change through time. Translator ascriptions, the reuse of earlier texts and commentary relationships are historical questions. This dataset also supplies an ordering of its catalogue groups.</a:t>
            </a:r>
          </a:p>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rIns="0" t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² Humanistic-AI lab, College of Liberal Arts, National Taiwan University, Taipei, Taiwan</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Material</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Acknowledgement</a:t>
            </a:r>
          </a:p>
        </p:txBody>
      </p:sp>
      <p:sp>
        <p:nvSpPr>
          <p:cNvPr id="4" name="TextBox 3"/>
          <p:cNvSpPr txBox="1"/>
          <p:nvPr/>
        </p:nvSpPr>
        <p:spPr>
          <a:xfrm>
            <a:off x="523874" y="1809750"/>
            <a:ext cx="11049000" cy="619125"/>
          </a:xfrm>
          <a:prstGeom prst="rect">
            <a:avLst/>
          </a:prstGeom>
          <a:noFill/>
        </p:spPr>
        <p:txBody>
          <a:bodyPr wrap="square" lIns="0" rIns="0" tIns="0" bIns="0">
            <a:spAutoFit/>
          </a:bodyPr>
          <a:lstStyle/>
          <a:p>
            <a:pPr>
              <a:lnSpc>
                <a:spcPct val="118000"/>
              </a:lnSpc>
              <a:spcBef>
                <a:spcPts val="0"/>
              </a:spcBef>
              <a:spcAft>
                <a:spcPts val="0"/>
              </a:spcAft>
              <a:defRPr sz="3400" b="1">
                <a:solidFill>
                  <a:srgbClr val="146C68"/>
                </a:solidFill>
                <a:latin typeface="Lato"/>
              </a:defRPr>
            </a:pPr>
            <a:r>
              <a:rPr>
                <a:ea typeface="Microsoft JhengHei"/>
              </a:rPr>
              <a:t>Thank you, Michael Radich</a:t>
            </a:r>
          </a:p>
        </p:txBody>
      </p:sp>
      <p:sp>
        <p:nvSpPr>
          <p:cNvPr id="5" name="TextBox 4"/>
          <p:cNvSpPr txBox="1"/>
          <p:nvPr/>
        </p:nvSpPr>
        <p:spPr>
          <a:xfrm>
            <a:off x="71437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1" name="TextBox 10"/>
          <p:cNvSpPr txBox="1"/>
          <p:nvPr/>
        </p:nvSpPr>
        <p:spPr>
          <a:xfrm>
            <a:off x="523874" y="5448300"/>
            <a:ext cx="11049000" cy="619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Cohort builds the profiles and calculates the rankings.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Purpose</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we built Cohort</a:t>
            </a:r>
          </a:p>
        </p:txBody>
      </p:sp>
      <p:sp>
        <p:nvSpPr>
          <p:cNvPr id="4" name="TextBox 3"/>
          <p:cNvSpPr txBox="1"/>
          <p:nvPr/>
        </p:nvSpPr>
        <p:spPr>
          <a:xfrm>
            <a:off x="523874" y="1952624"/>
            <a:ext cx="10953750" cy="1238250"/>
          </a:xfrm>
          <a:prstGeom prst="rect">
            <a:avLst/>
          </a:prstGeom>
          <a:noFill/>
        </p:spPr>
        <p:txBody>
          <a:bodyPr wrap="square" lIns="0" rIns="0" tIns="0" bIns="0">
            <a:spAutoFit/>
          </a:bodyPr>
          <a:lstStyle/>
          <a:p>
            <a:pPr>
              <a:lnSpc>
                <a:spcPct val="118000"/>
              </a:lnSpc>
              <a:spcBef>
                <a:spcPts val="0"/>
              </a:spcBef>
              <a:spcAft>
                <a:spcPts val="0"/>
              </a:spcAft>
              <a:defRPr sz="3200" b="0">
                <a:solidFill>
                  <a:srgbClr val="24384A"/>
                </a:solidFill>
                <a:latin typeface="Lato"/>
              </a:defRPr>
            </a:pPr>
            <a:r>
              <a:rPr>
                <a:ea typeface="Microsoft JhengHei"/>
              </a:rPr>
              <a:t>Let researchers direct agents and inspect</a:t>
            </a:r>
          </a:p>
          <a:p>
            <a:pPr>
              <a:lnSpc>
                <a:spcPct val="118000"/>
              </a:lnSpc>
              <a:spcBef>
                <a:spcPts val="0"/>
              </a:spcBef>
              <a:spcAft>
                <a:spcPts val="0"/>
              </a:spcAft>
              <a:defRPr sz="3200" b="0">
                <a:solidFill>
                  <a:srgbClr val="24384A"/>
                </a:solidFill>
                <a:latin typeface="Lato"/>
              </a:defRPr>
            </a:pPr>
            <a:r>
              <a:rPr>
                <a:ea typeface="Microsoft JhengHei"/>
              </a:rPr>
              <a:t>the evidence behind their proposals.</a:t>
            </a:r>
          </a:p>
        </p:txBody>
      </p:sp>
      <p:sp>
        <p:nvSpPr>
          <p:cNvPr id="5" name="TextBox 4"/>
          <p:cNvSpPr txBox="1"/>
          <p:nvPr/>
        </p:nvSpPr>
        <p:spPr>
          <a:xfrm>
            <a:off x="742950" y="3905249"/>
            <a:ext cx="10477500" cy="523874"/>
          </a:xfrm>
          <a:prstGeom prst="rect">
            <a:avLst/>
          </a:prstGeom>
          <a:noFill/>
        </p:spPr>
        <p:txBody>
          <a:bodyPr wrap="square" lIns="0" rIns="0" t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4591050"/>
            <a:ext cx="10477500" cy="1000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a:ea typeface="Microsoft JhengHei"/>
              </a:rPr>
              <a:t>where results can mislead, and what the researcher decides.</a:t>
            </a:r>
          </a:p>
        </p:txBody>
      </p:sp>
      <p:sp>
        <p:nvSpPr>
          <p:cNvPr id="7" name="TextBox 6"/>
          <p:cNvSpPr txBox="1"/>
          <p:nvPr/>
        </p:nvSpPr>
        <p:spPr>
          <a:xfrm>
            <a:off x="523874" y="5981700"/>
            <a:ext cx="11049000" cy="40005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We are demonstrating research tools, not reporting a new translator attribution.</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From the abstract</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76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Corpus retrieval</a:t>
            </a:r>
          </a:p>
        </p:txBody>
      </p:sp>
      <p:sp>
        <p:nvSpPr>
          <p:cNvPr id="6" name="TextBox 5"/>
          <p:cNvSpPr txBox="1"/>
          <p:nvPr/>
        </p:nvSpPr>
        <p:spPr>
          <a:xfrm>
            <a:off x="676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relevant texts</a:t>
            </a:r>
          </a:p>
          <a:p>
            <a:pPr>
              <a:lnSpc>
                <a:spcPct val="118000"/>
              </a:lnSpc>
              <a:spcBef>
                <a:spcPts val="0"/>
              </a:spcBef>
              <a:spcAft>
                <a:spcPts val="0"/>
              </a:spcAft>
              <a:defRPr sz="1900" b="0">
                <a:solidFill>
                  <a:srgbClr val="24384A"/>
                </a:solidFill>
                <a:latin typeface="Lato"/>
              </a:defRPr>
            </a:pPr>
            <a:r>
              <a:rPr>
                <a:ea typeface="Microsoft JhengHei"/>
              </a:rPr>
              <a:t>and passages.</a:t>
            </a:r>
          </a:p>
        </p:txBody>
      </p:sp>
      <p:sp>
        <p:nvSpPr>
          <p:cNvPr id="7" name="TextBox 6"/>
          <p:cNvSpPr txBox="1"/>
          <p:nvPr/>
        </p:nvSpPr>
        <p:spPr>
          <a:xfrm>
            <a:off x="3533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Semantic analysis</a:t>
            </a:r>
          </a:p>
        </p:txBody>
      </p:sp>
      <p:sp>
        <p:nvSpPr>
          <p:cNvPr id="8" name="TextBox 7"/>
          <p:cNvSpPr txBox="1"/>
          <p:nvPr/>
        </p:nvSpPr>
        <p:spPr>
          <a:xfrm>
            <a:off x="3533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passages with</a:t>
            </a:r>
          </a:p>
          <a:p>
            <a:pPr>
              <a:lnSpc>
                <a:spcPct val="118000"/>
              </a:lnSpc>
              <a:spcBef>
                <a:spcPts val="0"/>
              </a:spcBef>
              <a:spcAft>
                <a:spcPts val="0"/>
              </a:spcAft>
              <a:defRPr sz="1900" b="0">
                <a:solidFill>
                  <a:srgbClr val="24384A"/>
                </a:solidFill>
                <a:latin typeface="Lato"/>
              </a:defRPr>
            </a:pPr>
            <a:r>
              <a:rPr>
                <a:ea typeface="Microsoft JhengHei"/>
              </a:rPr>
              <a:t>related content.</a:t>
            </a:r>
          </a:p>
        </p:txBody>
      </p:sp>
      <p:sp>
        <p:nvSpPr>
          <p:cNvPr id="9" name="TextBox 8"/>
          <p:cNvSpPr txBox="1"/>
          <p:nvPr/>
        </p:nvSpPr>
        <p:spPr>
          <a:xfrm>
            <a:off x="6391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Alignment</a:t>
            </a:r>
          </a:p>
        </p:txBody>
      </p:sp>
      <p:sp>
        <p:nvSpPr>
          <p:cNvPr id="10" name="TextBox 9"/>
          <p:cNvSpPr txBox="1"/>
          <p:nvPr/>
        </p:nvSpPr>
        <p:spPr>
          <a:xfrm>
            <a:off x="6391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Locate matching</a:t>
            </a:r>
          </a:p>
          <a:p>
            <a:pPr>
              <a:lnSpc>
                <a:spcPct val="118000"/>
              </a:lnSpc>
              <a:spcBef>
                <a:spcPts val="0"/>
              </a:spcBef>
              <a:spcAft>
                <a:spcPts val="0"/>
              </a:spcAft>
              <a:defRPr sz="1800" b="0">
                <a:solidFill>
                  <a:srgbClr val="24384A"/>
                </a:solidFill>
                <a:latin typeface="Lato"/>
              </a:defRPr>
            </a:pPr>
            <a:r>
              <a:rPr>
                <a:ea typeface="Microsoft JhengHei"/>
              </a:rPr>
              <a:t>wording and positions.</a:t>
            </a:r>
          </a:p>
        </p:txBody>
      </p:sp>
      <p:sp>
        <p:nvSpPr>
          <p:cNvPr id="11" name="TextBox 10"/>
          <p:cNvSpPr txBox="1"/>
          <p:nvPr/>
        </p:nvSpPr>
        <p:spPr>
          <a:xfrm>
            <a:off x="9248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Interpretation</a:t>
            </a:r>
          </a:p>
        </p:txBody>
      </p:sp>
      <p:sp>
        <p:nvSpPr>
          <p:cNvPr id="12" name="TextBox 11"/>
          <p:cNvSpPr txBox="1"/>
          <p:nvPr/>
        </p:nvSpPr>
        <p:spPr>
          <a:xfrm>
            <a:off x="9248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Propose explanations</a:t>
            </a:r>
          </a:p>
          <a:p>
            <a:pPr>
              <a:lnSpc>
                <a:spcPct val="118000"/>
              </a:lnSpc>
              <a:spcBef>
                <a:spcPts val="0"/>
              </a:spcBef>
              <a:spcAft>
                <a:spcPts val="0"/>
              </a:spcAft>
              <a:defRPr sz="1900" b="0">
                <a:solidFill>
                  <a:srgbClr val="24384A"/>
                </a:solidFill>
                <a:latin typeface="Lato"/>
              </a:defRPr>
            </a:pPr>
            <a:r>
              <a:rPr>
                <a:ea typeface="Microsoft JhengHei"/>
              </a:rPr>
              <a:t>and alternatives.</a:t>
            </a:r>
          </a:p>
        </p:txBody>
      </p:sp>
      <p:sp>
        <p:nvSpPr>
          <p:cNvPr id="13" name="TextBox 12"/>
          <p:cNvSpPr txBox="1"/>
          <p:nvPr/>
        </p:nvSpPr>
        <p:spPr>
          <a:xfrm>
            <a:off x="723900" y="5143500"/>
            <a:ext cx="2762250" cy="428625"/>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Provenance</a:t>
            </a:r>
          </a:p>
        </p:txBody>
      </p:sp>
      <p:sp>
        <p:nvSpPr>
          <p:cNvPr id="14" name="TextBox 13"/>
          <p:cNvSpPr txBox="1"/>
          <p:nvPr/>
        </p:nvSpPr>
        <p:spPr>
          <a:xfrm>
            <a:off x="3810000" y="5143500"/>
            <a:ext cx="7524749" cy="4572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 sources and checks attached to proposals.</a:t>
            </a:r>
          </a:p>
        </p:txBody>
      </p:sp>
      <p:sp>
        <p:nvSpPr>
          <p:cNvPr id="15" name="TextBox 14"/>
          <p:cNvSpPr txBox="1"/>
          <p:nvPr/>
        </p:nvSpPr>
        <p:spPr>
          <a:xfrm>
            <a:off x="723900" y="5610225"/>
            <a:ext cx="2952750" cy="381000"/>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Researcher decisions</a:t>
            </a:r>
          </a:p>
        </p:txBody>
      </p:sp>
      <p:sp>
        <p:nvSpPr>
          <p:cNvPr id="16" name="TextBox 15"/>
          <p:cNvSpPr txBox="1"/>
          <p:nvPr/>
        </p:nvSpPr>
        <p:spPr>
          <a:xfrm>
            <a:off x="3810000" y="5610225"/>
            <a:ext cx="7524749" cy="4000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the evidence; accept or reject proposals.</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Five tabs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451485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451485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4" name="TextBox 13"/>
          <p:cNvSpPr txBox="1"/>
          <p:nvPr/>
        </p:nvSpPr>
        <p:spPr>
          <a:xfrm>
            <a:off x="685800" y="53435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53435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Chinese Buddhist texts over time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 · T0263</a:t>
            </a:r>
          </a:p>
          <a:p>
            <a:pPr>
              <a:lnSpc>
                <a:spcPct val="118000"/>
              </a:lnSpc>
              <a:spcBef>
                <a:spcPts val="0"/>
              </a:spcBef>
              <a:spcAft>
                <a:spcPts val="0"/>
              </a:spcAft>
              <a:defRPr sz="2100" b="0">
                <a:solidFill>
                  <a:srgbClr val="24384A"/>
                </a:solidFill>
                <a:latin typeface="Lato"/>
              </a:defRPr>
            </a:pPr>
            <a:r>
              <a:rPr>
                <a:ea typeface="Microsoft JhengHei"/>
              </a:rPr>
              <a:t>Kumārajīva 鳩摩羅什 · T0262</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Can we find related passages</a:t>
            </a:r>
          </a:p>
          <a:p>
            <a:pPr>
              <a:lnSpc>
                <a:spcPct val="118000"/>
              </a:lnSpc>
              <a:spcBef>
                <a:spcPts val="0"/>
              </a:spcBef>
              <a:spcAft>
                <a:spcPts val="0"/>
              </a:spcAft>
              <a:defRPr sz="2100" b="0">
                <a:solidFill>
                  <a:srgbClr val="24384A"/>
                </a:solidFill>
                <a:latin typeface="Lato"/>
              </a:defRPr>
            </a:pPr>
            <a:r>
              <a:rPr>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155F88"/>
                </a:solidFill>
                <a:latin typeface="Lato"/>
              </a:defRPr>
            </a:pPr>
            <a:r>
              <a:rPr>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Semantic analysis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3874" y="501967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Corpus → Related passages; agents can call semantic_neighbors.</a:t>
            </a:r>
          </a:p>
        </p:txBody>
      </p:sp>
      <p:sp>
        <p:nvSpPr>
          <p:cNvPr id="14" name="TextBox 13"/>
          <p:cNvSpPr txBox="1"/>
          <p:nvPr/>
        </p:nvSpPr>
        <p:spPr>
          <a:xfrm>
            <a:off x="523874" y="5724525"/>
            <a:ext cx="11049000" cy="523874"/>
          </a:xfrm>
          <a:prstGeom prst="rect">
            <a:avLst/>
          </a:prstGeom>
          <a:noFill/>
        </p:spPr>
        <p:txBody>
          <a:bodyPr wrap="square" lIns="0" rIns="0" tIns="0" bIns="0">
            <a:spAutoFit/>
          </a:bodyPr>
          <a:lstStyle/>
          <a:p>
            <a:pPr>
              <a:lnSpc>
                <a:spcPct val="118000"/>
              </a:lnSpc>
              <a:spcBef>
                <a:spcPts val="0"/>
              </a:spcBef>
              <a:spcAft>
                <a:spcPts val="0"/>
              </a:spcAft>
              <a:defRPr sz="1900" b="0">
                <a:solidFill>
                  <a:srgbClr val="526778"/>
                </a:solidFill>
                <a:latin typeface="Lato"/>
              </a:defRPr>
            </a:pPr>
            <a:r>
              <a:rPr>
                <a:ea typeface="Microsoft JhengHei"/>
              </a:rPr>
              <a:t>Model name comes from the index filename; its exact revision is unrecorded.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Retrieval and alignment</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rIns="0" t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4667250"/>
            <a:ext cx="10620375" cy="495299"/>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1" name="TextBox 10"/>
          <p:cNvSpPr txBox="1"/>
          <p:nvPr/>
        </p:nvSpPr>
        <p:spPr>
          <a:xfrm>
            <a:off x="742950" y="5248275"/>
            <a:ext cx="10620375" cy="4762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Shared wording is checked separately, with positions in both sources.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6" name="TextBox 5"/>
          <p:cNvSpPr txBox="1"/>
          <p:nvPr/>
        </p:nvSpPr>
        <p:spPr>
          <a:xfrm>
            <a:off x="461962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8" name="TextBox 7"/>
          <p:cNvSpPr txBox="1"/>
          <p:nvPr/>
        </p:nvSpPr>
        <p:spPr>
          <a:xfrm>
            <a:off x="8524875" y="2105025"/>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9" name="TextBox 8"/>
          <p:cNvSpPr txBox="1"/>
          <p:nvPr/>
        </p:nvSpPr>
        <p:spPr>
          <a:xfrm>
            <a:off x="8524875" y="2714625"/>
            <a:ext cx="295275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0" name="Connector 9"/>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4572000"/>
            <a:ext cx="6810375" cy="714375"/>
          </a:xfrm>
          <a:prstGeom prst="rect">
            <a:avLst/>
          </a:prstGeom>
          <a:noFill/>
        </p:spPr>
        <p:txBody>
          <a:bodyPr wrap="square" lIns="0" rIns="0" t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4" name="TextBox 13"/>
          <p:cNvSpPr txBox="1"/>
          <p:nvPr/>
        </p:nvSpPr>
        <p:spPr>
          <a:xfrm>
            <a:off x="523874" y="5657850"/>
            <a:ext cx="11049000" cy="5905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13 usable groups in this dataset. The target’s whole work is withheld.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 recorded comparison · curated strings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647700"/>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0" name="TextBox 9"/>
          <p:cNvSpPr txBox="1"/>
          <p:nvPr/>
        </p:nvSpPr>
        <p:spPr>
          <a:xfrm>
            <a:off x="523874" y="5886450"/>
            <a:ext cx="11049000" cy="38100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agents and researcher</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4" name="TextBox 3"/>
          <p:cNvSpPr txBox="1"/>
          <p:nvPr/>
        </p:nvSpPr>
        <p:spPr>
          <a:xfrm>
            <a:off x="523874" y="1828800"/>
            <a:ext cx="11049000" cy="781050"/>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532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057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582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286000" cy="4476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2762250" y="5105400"/>
            <a:ext cx="8858250" cy="7620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8" name="TextBox 17"/>
          <p:cNvSpPr txBox="1"/>
          <p:nvPr/>
        </p:nvSpPr>
        <p:spPr>
          <a:xfrm>
            <a:off x="523874" y="5962650"/>
            <a:ext cx="11049000" cy="390525"/>
          </a:xfrm>
          <a:prstGeom prst="rect">
            <a:avLst/>
          </a:prstGeom>
          <a:noFill/>
        </p:spPr>
        <p:txBody>
          <a:bodyPr wrap="square" lIns="0" rIns="0" t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findings.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0" y="3810000"/>
            <a:ext cx="1619250" cy="62865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10750" y="3810000"/>
            <a:ext cx="1714500" cy="62865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pic>
        <p:nvPicPr>
          <p:cNvPr id="6" name="Picture 5" descr="graph.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48124"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86775" y="2257425"/>
            <a:ext cx="1352550" cy="666750"/>
          </a:xfrm>
          <a:prstGeom prst="rect">
            <a:avLst/>
          </a:prstGeom>
          <a:noFill/>
        </p:spPr>
        <p:txBody>
          <a:bodyPr wrap="square" lIns="0" rIns="0" t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8124" y="4381500"/>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8750" y="4591050"/>
            <a:ext cx="1619250" cy="1047749"/>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Checks and researcher decisions</a:t>
            </a:r>
          </a:p>
        </p:txBody>
      </p:sp>
      <p:sp>
        <p:nvSpPr>
          <p:cNvPr id="4" name="TextBox 3"/>
          <p:cNvSpPr txBox="1"/>
          <p:nvPr/>
        </p:nvSpPr>
        <p:spPr>
          <a:xfrm>
            <a:off x="714375"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Span verified</a:t>
            </a:r>
          </a:p>
        </p:txBody>
      </p:sp>
      <p:sp>
        <p:nvSpPr>
          <p:cNvPr id="5" name="TextBox 4"/>
          <p:cNvSpPr txBox="1"/>
          <p:nvPr/>
        </p:nvSpPr>
        <p:spPr>
          <a:xfrm>
            <a:off x="714375"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The quotation resolves</a:t>
            </a:r>
          </a:p>
          <a:p>
            <a:pPr>
              <a:lnSpc>
                <a:spcPct val="118000"/>
              </a:lnSpc>
              <a:spcBef>
                <a:spcPts val="0"/>
              </a:spcBef>
              <a:spcAft>
                <a:spcPts val="0"/>
              </a:spcAft>
              <a:defRPr sz="2100" b="0">
                <a:solidFill>
                  <a:srgbClr val="24384A"/>
                </a:solidFill>
                <a:latin typeface="Lato"/>
              </a:defRPr>
            </a:pPr>
            <a:r>
              <a:rPr>
                <a:ea typeface="Microsoft JhengHei"/>
              </a:rPr>
              <a:t>at its source position.</a:t>
            </a:r>
          </a:p>
        </p:txBody>
      </p:sp>
      <p:sp>
        <p:nvSpPr>
          <p:cNvPr id="6" name="TextBox 5"/>
          <p:cNvSpPr txBox="1"/>
          <p:nvPr/>
        </p:nvSpPr>
        <p:spPr>
          <a:xfrm>
            <a:off x="4572000"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Review recorded</a:t>
            </a:r>
          </a:p>
        </p:txBody>
      </p:sp>
      <p:sp>
        <p:nvSpPr>
          <p:cNvPr id="7" name="TextBox 6"/>
          <p:cNvSpPr txBox="1"/>
          <p:nvPr/>
        </p:nvSpPr>
        <p:spPr>
          <a:xfrm>
            <a:off x="4572000"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Inspect the reviewer’s</a:t>
            </a:r>
          </a:p>
          <a:p>
            <a:pPr>
              <a:lnSpc>
                <a:spcPct val="118000"/>
              </a:lnSpc>
              <a:spcBef>
                <a:spcPts val="0"/>
              </a:spcBef>
              <a:spcAft>
                <a:spcPts val="0"/>
              </a:spcAft>
              <a:defRPr sz="2100" b="0">
                <a:solidFill>
                  <a:srgbClr val="24384A"/>
                </a:solidFill>
                <a:latin typeface="Lato"/>
              </a:defRPr>
            </a:pPr>
            <a:r>
              <a:rPr>
                <a:ea typeface="Microsoft JhengHei"/>
              </a:rPr>
              <a:t>verdict and evidence.</a:t>
            </a:r>
          </a:p>
        </p:txBody>
      </p:sp>
      <p:sp>
        <p:nvSpPr>
          <p:cNvPr id="8" name="TextBox 7"/>
          <p:cNvSpPr txBox="1"/>
          <p:nvPr/>
        </p:nvSpPr>
        <p:spPr>
          <a:xfrm>
            <a:off x="8429625"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Researcher decides</a:t>
            </a:r>
          </a:p>
        </p:txBody>
      </p:sp>
      <p:sp>
        <p:nvSpPr>
          <p:cNvPr id="9" name="TextBox 8"/>
          <p:cNvSpPr txBox="1"/>
          <p:nvPr/>
        </p:nvSpPr>
        <p:spPr>
          <a:xfrm>
            <a:off x="8429625"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Accept or reject an</a:t>
            </a:r>
          </a:p>
          <a:p>
            <a:pPr>
              <a:lnSpc>
                <a:spcPct val="118000"/>
              </a:lnSpc>
              <a:spcBef>
                <a:spcPts val="0"/>
              </a:spcBef>
              <a:spcAft>
                <a:spcPts val="0"/>
              </a:spcAft>
              <a:defRPr sz="2100" b="0">
                <a:solidFill>
                  <a:srgbClr val="24384A"/>
                </a:solidFill>
                <a:latin typeface="Lato"/>
              </a:defRPr>
            </a:pPr>
            <a:r>
              <a:rPr>
                <a:ea typeface="Microsoft JhengHei"/>
              </a:rPr>
              <a:t>eligible record.</a:t>
            </a:r>
          </a:p>
        </p:txBody>
      </p:sp>
      <p:sp>
        <p:nvSpPr>
          <p:cNvPr id="10" name="TextBox 9"/>
          <p:cNvSpPr txBox="1"/>
          <p:nvPr/>
        </p:nvSpPr>
        <p:spPr>
          <a:xfrm>
            <a:off x="523874" y="5038725"/>
            <a:ext cx="11049000" cy="619125"/>
          </a:xfrm>
          <a:prstGeom prst="rect">
            <a:avLst/>
          </a:prstGeom>
          <a:noFill/>
        </p:spPr>
        <p:txBody>
          <a:bodyPr wrap="square" lIns="0" rIns="0" tIns="0" bIns="0">
            <a:spAutoFit/>
          </a:bodyPr>
          <a:lstStyle/>
          <a:p>
            <a:pPr>
              <a:lnSpc>
                <a:spcPct val="118000"/>
              </a:lnSpc>
              <a:spcBef>
                <a:spcPts val="0"/>
              </a:spcBef>
              <a:spcAft>
                <a:spcPts val="0"/>
              </a:spcAft>
              <a:defRPr sz="3000" b="1">
                <a:solidFill>
                  <a:srgbClr val="146C68"/>
                </a:solidFill>
                <a:latin typeface="Lato"/>
              </a:defRPr>
            </a:pPr>
            <a:r>
              <a:rPr>
                <a:ea typeface="Microsoft JhengHei"/>
              </a:rPr>
              <a:t>Accepted passage ≠ accepted interpretation</a:t>
            </a:r>
          </a:p>
        </p:txBody>
      </p:sp>
      <p:sp>
        <p:nvSpPr>
          <p:cNvPr id="11" name="TextBox 10"/>
          <p:cNvSpPr txBox="1"/>
          <p:nvPr/>
        </p:nvSpPr>
        <p:spPr>
          <a:xfrm>
            <a:off x="523874" y="5772150"/>
            <a:ext cx="11049000" cy="466724"/>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Decisions stay in the record. The source text is unchanged.</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TextBox 5"/>
          <p:cNvSpPr txBox="1"/>
          <p:nvPr/>
        </p:nvSpPr>
        <p:spPr>
          <a:xfrm>
            <a:off x="762000" y="271462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7" name="TextBox 6"/>
          <p:cNvSpPr txBox="1"/>
          <p:nvPr/>
        </p:nvSpPr>
        <p:spPr>
          <a:xfrm>
            <a:off x="6762750" y="271462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8" name="TextBox 7"/>
          <p:cNvSpPr txBox="1"/>
          <p:nvPr/>
        </p:nvSpPr>
        <p:spPr>
          <a:xfrm>
            <a:off x="762000" y="3886200"/>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9" name="TextBox 8"/>
          <p:cNvSpPr txBox="1"/>
          <p:nvPr/>
        </p:nvSpPr>
        <p:spPr>
          <a:xfrm>
            <a:off x="6762750" y="3886200"/>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0" name="TextBox 9"/>
          <p:cNvSpPr txBox="1"/>
          <p:nvPr/>
        </p:nvSpPr>
        <p:spPr>
          <a:xfrm>
            <a:off x="762000" y="505777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1" name="TextBox 10"/>
          <p:cNvSpPr txBox="1"/>
          <p:nvPr/>
        </p:nvSpPr>
        <p:spPr>
          <a:xfrm>
            <a:off x="6762750" y="505777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