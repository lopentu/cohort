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can pull material together, suggest explanations we might want to examine, and propose a next search. These are possibilities for research. We inspect the cited passages and recorded checks before deciding what to pursue.</a:t>
            </a:r>
          </a:p>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p>
            <a:r>
              <a:t>DIAGRAM: This is a high-level workflow, not the Graph's edge vocabulary or a promise that every retrieved passage is saved. The researcher chooses what to pursue; opening a tab does not execute this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TextBox 4"/>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1" name="TextBox 10"/>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7" name="TextBox 6"/>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6" name="TextBox 5"/>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7" name="TextBox 6"/>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8" name="TextBox 7"/>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9" name="TextBox 8"/>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0" name="TextBox 9"/>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1" name="TextBox 10"/>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2" name="TextBox 11"/>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pic>
        <p:nvPicPr>
          <p:cNvPr id="4" name="Picture 3" descr="corpus.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Find</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Search exact wording or select Related passages.</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Read</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Selected passage on the left; candidates on the right.</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Compare</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Open shared wording and inspect source positions.</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4" name="TextBox 13"/>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4" name="TextBox 13"/>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pic>
        <p:nvPicPr>
          <p:cNvPr id="4" name="Picture 3" descr="vocabulary.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Rankings</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Which group’s string frequencies resemble this text?</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Colours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Teal adds weight to A; rust adds weight to B.</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Exclusions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Remove comparison material and calculate again.</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pic>
        <p:nvPicPr>
          <p:cNvPr id="4" name="Picture 3" descr="inquiry.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Question</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What do you want to find out?</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Instructions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How should the worker investigate it?</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Run results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Reopen the actions, inputs and outputs.</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agents and researcher</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53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057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58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pic>
        <p:nvPicPr>
          <p:cNvPr id="4" name="Picture 3" descr="findings.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Proposal</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A claim or a conjecture from the worker.</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Sources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its citations and recorded checks.</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Alternatives</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Inspect what else could explain the observation.</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pic>
        <p:nvPicPr>
          <p:cNvPr id="4" name="Picture 3" descr="graph.png"/>
          <p:cNvPicPr>
            <a:picLocks noChangeAspect="1"/>
          </p:cNvPicPr>
          <p:nvPr/>
        </p:nvPicPr>
        <p:blipFill>
          <a:blip r:embed="rId2"/>
          <a:stretch>
            <a:fillRect/>
          </a:stretch>
        </p:blipFill>
        <p:spPr>
          <a:xfrm>
            <a:off x="495299" y="1809750"/>
            <a:ext cx="8381999" cy="4657725"/>
          </a:xfrm>
          <a:prstGeom prst="rect">
            <a:avLst/>
          </a:prstGeom>
        </p:spPr>
      </p:pic>
      <p:sp>
        <p:nvSpPr>
          <p:cNvPr id="5" name="TextBox 4"/>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Records</a:t>
            </a:r>
          </a:p>
        </p:txBody>
      </p:sp>
      <p:sp>
        <p:nvSpPr>
          <p:cNvPr id="6" name="TextBox 5"/>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Sources, passages, proposals and questions.</a:t>
            </a:r>
          </a:p>
        </p:txBody>
      </p:sp>
      <p:sp>
        <p:nvSpPr>
          <p:cNvPr id="7" name="TextBox 6"/>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Links</a:t>
            </a:r>
          </a:p>
        </p:txBody>
      </p:sp>
      <p:sp>
        <p:nvSpPr>
          <p:cNvPr id="8" name="TextBox 7"/>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the relationship label on each arrow.</a:t>
            </a:r>
          </a:p>
        </p:txBody>
      </p:sp>
      <p:sp>
        <p:nvSpPr>
          <p:cNvPr id="9" name="TextBox 8"/>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Exploration</a:t>
            </a:r>
          </a:p>
        </p:txBody>
      </p:sp>
      <p:sp>
        <p:nvSpPr>
          <p:cNvPr id="10" name="TextBox 9"/>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Show recorded tool activity beyond cited evidence.</a:t>
            </a:r>
          </a:p>
        </p:txBody>
      </p:sp>
      <p:sp>
        <p:nvSpPr>
          <p:cNvPr id="11" name="TextBox 10"/>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Checks and researcher decisions</a:t>
            </a:r>
          </a:p>
        </p:txBody>
      </p:sp>
      <p:sp>
        <p:nvSpPr>
          <p:cNvPr id="4" name="TextBox 3"/>
          <p:cNvSpPr txBox="1"/>
          <p:nvPr/>
        </p:nvSpPr>
        <p:spPr>
          <a:xfrm>
            <a:off x="71437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Span verified</a:t>
            </a:r>
          </a:p>
        </p:txBody>
      </p:sp>
      <p:sp>
        <p:nvSpPr>
          <p:cNvPr id="5" name="TextBox 4"/>
          <p:cNvSpPr txBox="1"/>
          <p:nvPr/>
        </p:nvSpPr>
        <p:spPr>
          <a:xfrm>
            <a:off x="71437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The quotation resolves</a:t>
            </a:r>
          </a:p>
          <a:p>
            <a:pPr>
              <a:lnSpc>
                <a:spcPct val="118000"/>
              </a:lnSpc>
              <a:spcBef>
                <a:spcPts val="0"/>
              </a:spcBef>
              <a:spcAft>
                <a:spcPts val="0"/>
              </a:spcAft>
              <a:defRPr sz="2100" b="0">
                <a:solidFill>
                  <a:srgbClr val="24384A"/>
                </a:solidFill>
                <a:latin typeface="Lato"/>
              </a:defRPr>
            </a:pPr>
            <a:r>
              <a:rPr>
                <a:ea typeface="Microsoft JhengHei"/>
              </a:rPr>
              <a:t>at its source position.</a:t>
            </a:r>
          </a:p>
        </p:txBody>
      </p:sp>
      <p:sp>
        <p:nvSpPr>
          <p:cNvPr id="6" name="TextBox 5"/>
          <p:cNvSpPr txBox="1"/>
          <p:nvPr/>
        </p:nvSpPr>
        <p:spPr>
          <a:xfrm>
            <a:off x="4572000"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 recorded</a:t>
            </a:r>
          </a:p>
        </p:txBody>
      </p:sp>
      <p:sp>
        <p:nvSpPr>
          <p:cNvPr id="7" name="TextBox 6"/>
          <p:cNvSpPr txBox="1"/>
          <p:nvPr/>
        </p:nvSpPr>
        <p:spPr>
          <a:xfrm>
            <a:off x="4572000"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Inspect the reviewer’s</a:t>
            </a:r>
          </a:p>
          <a:p>
            <a:pPr>
              <a:lnSpc>
                <a:spcPct val="118000"/>
              </a:lnSpc>
              <a:spcBef>
                <a:spcPts val="0"/>
              </a:spcBef>
              <a:spcAft>
                <a:spcPts val="0"/>
              </a:spcAft>
              <a:defRPr sz="2100" b="0">
                <a:solidFill>
                  <a:srgbClr val="24384A"/>
                </a:solidFill>
                <a:latin typeface="Lato"/>
              </a:defRPr>
            </a:pPr>
            <a:r>
              <a:rPr>
                <a:ea typeface="Microsoft JhengHei"/>
              </a:rPr>
              <a:t>verdict and evidence.</a:t>
            </a:r>
          </a:p>
        </p:txBody>
      </p:sp>
      <p:sp>
        <p:nvSpPr>
          <p:cNvPr id="8" name="TextBox 7"/>
          <p:cNvSpPr txBox="1"/>
          <p:nvPr/>
        </p:nvSpPr>
        <p:spPr>
          <a:xfrm>
            <a:off x="842962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Researcher decides</a:t>
            </a:r>
          </a:p>
        </p:txBody>
      </p:sp>
      <p:sp>
        <p:nvSpPr>
          <p:cNvPr id="9" name="TextBox 8"/>
          <p:cNvSpPr txBox="1"/>
          <p:nvPr/>
        </p:nvSpPr>
        <p:spPr>
          <a:xfrm>
            <a:off x="842962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Accept or reject an</a:t>
            </a:r>
          </a:p>
          <a:p>
            <a:pPr>
              <a:lnSpc>
                <a:spcPct val="118000"/>
              </a:lnSpc>
              <a:spcBef>
                <a:spcPts val="0"/>
              </a:spcBef>
              <a:spcAft>
                <a:spcPts val="0"/>
              </a:spcAft>
              <a:defRPr sz="2100" b="0">
                <a:solidFill>
                  <a:srgbClr val="24384A"/>
                </a:solidFill>
                <a:latin typeface="Lato"/>
              </a:defRPr>
            </a:pPr>
            <a:r>
              <a:rPr>
                <a:ea typeface="Microsoft JhengHei"/>
              </a:rPr>
              <a:t>eligible record.</a:t>
            </a:r>
          </a:p>
        </p:txBody>
      </p:sp>
      <p:sp>
        <p:nvSpPr>
          <p:cNvPr id="10" name="TextBox 9"/>
          <p:cNvSpPr txBox="1"/>
          <p:nvPr/>
        </p:nvSpPr>
        <p:spPr>
          <a:xfrm>
            <a:off x="523874" y="5038725"/>
            <a:ext cx="11049000" cy="619125"/>
          </a:xfrm>
          <a:prstGeom prst="rect">
            <a:avLst/>
          </a:prstGeom>
          <a:noFill/>
        </p:spPr>
        <p:txBody>
          <a:bodyPr wrap="square" lIns="0" rIns="0" tIns="0" bIns="0">
            <a:spAutoFit/>
          </a:bodyPr>
          <a:lstStyle/>
          <a:p>
            <a:pPr>
              <a:lnSpc>
                <a:spcPct val="118000"/>
              </a:lnSpc>
              <a:spcBef>
                <a:spcPts val="0"/>
              </a:spcBef>
              <a:spcAft>
                <a:spcPts val="0"/>
              </a:spcAft>
              <a:defRPr sz="3000" b="1">
                <a:solidFill>
                  <a:srgbClr val="146C68"/>
                </a:solidFill>
                <a:latin typeface="Lato"/>
              </a:defRPr>
            </a:pPr>
            <a:r>
              <a:rPr>
                <a:ea typeface="Microsoft JhengHei"/>
              </a:rPr>
              <a:t>Accepted passage ≠ accepted interpretation</a:t>
            </a:r>
          </a:p>
        </p:txBody>
      </p:sp>
      <p:sp>
        <p:nvSpPr>
          <p:cNvPr id="11" name="TextBox 10"/>
          <p:cNvSpPr txBox="1"/>
          <p:nvPr/>
        </p:nvSpPr>
        <p:spPr>
          <a:xfrm>
            <a:off x="523874" y="5772150"/>
            <a:ext cx="11049000" cy="466724"/>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Decisions stay in the record. The source text is unchanged.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