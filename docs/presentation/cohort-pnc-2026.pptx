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two Lotus windows are close in the embedding index, but their longest exact shared sequence is only three Chinese characters. Retrieval gives us a pair to read; alignment shows where wording matches.</a:t>
            </a:r>
          </a:p>
          <a:p/>
          <a:p>
            <a:r>
              <a:t>BACKGROUND</a:t>
            </a:r>
          </a:p>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worker chooses tools and proposes. The reviewer records checks. The analyst explains a selected view and can investigate further, but cannot write graph proposals.</a:t>
            </a:r>
          </a:p>
          <a:p/>
          <a:p>
            <a:r>
              <a:t>BACKGROUND</a:t>
            </a:r>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a:p/>
          <a:p>
            <a:r>
              <a:t>Open Analyze this view without starting a run. Show a saved analysis if one is available. The analyst can use read-only tools, but does not promote its answer into a graph proposal.</a:t>
            </a:r>
          </a:p>
          <a:p/>
          <a:p>
            <a:r>
              <a:t>Click **Analyze this view**. A side panel opens without moving the main tab. Choose or retain the model, then click **Start analysis**. Merely opening the panel does not call a model.</a:t>
            </a:r>
          </a:p>
          <a:p/>
          <a:p>
            <a:r>
              <a:t>The analyst can inspect records, search passages, read bounded source material and repeat available evidence comparisons. Its final answer is formatted text with expandable actions and reasons. It cannot propose, accept, reject or modify graph records. Its explanation is an AI interpretation, not a verification.</a:t>
            </a:r>
          </a:p>
          <a:p/>
          <a:p>
            <a:r>
              <a:t>Select an entry under **Saved analyses** to reopen it. The answer describes the view supplied when that analysis began; later changes to the graph or exclusion settings do not rewrite it. Close the panel to inspect the underlying view. Closing or switching tabs does not stop an active run. Only one inquiry or analysis runs at a time in this instance.</a:t>
            </a:r>
          </a:p>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Material</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5" name="TextBox 4"/>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1" name="TextBox 10"/>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Purpose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5" name="TextBox 4"/>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7" name="TextBox 6"/>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From the abstract</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6" name="TextBox 5"/>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7" name="TextBox 6"/>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8" name="TextBox 7"/>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9" name="TextBox 8"/>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10" name="TextBox 9"/>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1" name="TextBox 10"/>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2" name="TextBox 11"/>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3" name="TextBox 12"/>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4" name="TextBox 13"/>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5" name="TextBox 14"/>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6" name="TextBox 15"/>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Five tabs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Chinese Buddhist texts over time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pic>
        <p:nvPicPr>
          <p:cNvPr id="4" name="Picture 3" descr="corpus.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Find</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Search exact wording or select Related passages.</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Read</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Selected passage on the left; candidates on the right.</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Compare</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Open shared wording and inspect source positions.</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Semantic analysis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4" name="TextBox 13"/>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Retrieval and alignment</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4" name="TextBox 13"/>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pic>
        <p:nvPicPr>
          <p:cNvPr id="4" name="Picture 3" descr="vocabulary.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Rankings</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Which group’s string frequencies resemble this text?</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Colours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Teal adds weight to A; rust adds weight to B.</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Exclusions</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Remove comparison material and calculate again.</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 recorded comparison · curated strings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pic>
        <p:nvPicPr>
          <p:cNvPr id="4" name="Picture 3" descr="inquiry.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Question</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What do you want to find out?</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Instructions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How should the worker investigate it?</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Run results</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Reopen the actions, inputs and outputs.</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Agent roles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Worker, reviewer and analyst</a:t>
            </a:r>
          </a:p>
        </p:txBody>
      </p:sp>
      <p:sp>
        <p:nvSpPr>
          <p:cNvPr id="4" name="TextBox 3"/>
          <p:cNvSpPr txBox="1"/>
          <p:nvPr/>
        </p:nvSpPr>
        <p:spPr>
          <a:xfrm>
            <a:off x="71437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65439A"/>
                </a:solidFill>
                <a:latin typeface="Lato"/>
              </a:defRPr>
            </a:pPr>
            <a:r>
              <a:rPr>
                <a:ea typeface="Microsoft JhengHei"/>
              </a:rPr>
              <a:t>Worker</a:t>
            </a:r>
          </a:p>
        </p:txBody>
      </p:sp>
      <p:sp>
        <p:nvSpPr>
          <p:cNvPr id="5" name="TextBox 4"/>
          <p:cNvSpPr txBox="1"/>
          <p:nvPr/>
        </p:nvSpPr>
        <p:spPr>
          <a:xfrm>
            <a:off x="71437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Search and compare</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Record proposals</a:t>
            </a:r>
          </a:p>
          <a:p>
            <a:pPr>
              <a:lnSpc>
                <a:spcPct val="118000"/>
              </a:lnSpc>
              <a:spcBef>
                <a:spcPts val="0"/>
              </a:spcBef>
              <a:spcAft>
                <a:spcPts val="0"/>
              </a:spcAft>
              <a:defRPr sz="2100" b="0">
                <a:solidFill>
                  <a:srgbClr val="24384A"/>
                </a:solidFill>
                <a:latin typeface="Lato"/>
              </a:defRPr>
            </a:pPr>
            <a:r>
              <a:rPr>
                <a:ea typeface="Microsoft JhengHei"/>
              </a:rPr>
              <a:t>and citations</a:t>
            </a:r>
          </a:p>
        </p:txBody>
      </p:sp>
      <p:sp>
        <p:nvSpPr>
          <p:cNvPr id="6" name="TextBox 5"/>
          <p:cNvSpPr txBox="1"/>
          <p:nvPr/>
        </p:nvSpPr>
        <p:spPr>
          <a:xfrm>
            <a:off x="461962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Reviewer</a:t>
            </a:r>
          </a:p>
        </p:txBody>
      </p:sp>
      <p:sp>
        <p:nvSpPr>
          <p:cNvPr id="7" name="TextBox 6"/>
          <p:cNvSpPr txBox="1"/>
          <p:nvPr/>
        </p:nvSpPr>
        <p:spPr>
          <a:xfrm>
            <a:off x="461962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Different model family</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Record citation checks</a:t>
            </a:r>
          </a:p>
          <a:p>
            <a:pPr>
              <a:lnSpc>
                <a:spcPct val="118000"/>
              </a:lnSpc>
              <a:spcBef>
                <a:spcPts val="0"/>
              </a:spcBef>
              <a:spcAft>
                <a:spcPts val="0"/>
              </a:spcAft>
              <a:defRPr sz="2100" b="0">
                <a:solidFill>
                  <a:srgbClr val="24384A"/>
                </a:solidFill>
                <a:latin typeface="Lato"/>
              </a:defRPr>
            </a:pPr>
            <a:r>
              <a:rPr>
                <a:ea typeface="Microsoft JhengHei"/>
              </a:rPr>
              <a:t>and review verdicts</a:t>
            </a:r>
          </a:p>
        </p:txBody>
      </p:sp>
      <p:sp>
        <p:nvSpPr>
          <p:cNvPr id="8" name="TextBox 7"/>
          <p:cNvSpPr txBox="1"/>
          <p:nvPr/>
        </p:nvSpPr>
        <p:spPr>
          <a:xfrm>
            <a:off x="852487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View analyst</a:t>
            </a:r>
          </a:p>
        </p:txBody>
      </p:sp>
      <p:sp>
        <p:nvSpPr>
          <p:cNvPr id="9" name="TextBox 8"/>
          <p:cNvSpPr txBox="1"/>
          <p:nvPr/>
        </p:nvSpPr>
        <p:spPr>
          <a:xfrm>
            <a:off x="852487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Graph and vocabulary</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Explain outputs; use</a:t>
            </a:r>
          </a:p>
          <a:p>
            <a:pPr>
              <a:lnSpc>
                <a:spcPct val="118000"/>
              </a:lnSpc>
              <a:spcBef>
                <a:spcPts val="0"/>
              </a:spcBef>
              <a:spcAft>
                <a:spcPts val="0"/>
              </a:spcAft>
              <a:defRPr sz="2100" b="0">
                <a:solidFill>
                  <a:srgbClr val="24384A"/>
                </a:solidFill>
                <a:latin typeface="Lato"/>
              </a:defRPr>
            </a:pPr>
            <a:r>
              <a:rPr>
                <a:ea typeface="Microsoft JhengHei"/>
              </a:rPr>
              <a:t>read-only tools</a:t>
            </a:r>
          </a:p>
        </p:txBody>
      </p:sp>
      <p:sp>
        <p:nvSpPr>
          <p:cNvPr id="10" name="TextBox 9"/>
          <p:cNvSpPr txBox="1"/>
          <p:nvPr/>
        </p:nvSpPr>
        <p:spPr>
          <a:xfrm>
            <a:off x="523874" y="5324475"/>
            <a:ext cx="11049000" cy="762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Model names and actions are recorded. A reviewer can still be wrong.</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pic>
        <p:nvPicPr>
          <p:cNvPr id="4" name="Picture 3" descr="findings.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Proposal</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A claim or a conjecture from the worker.</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Sources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its citations and recorded checks.</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Alternatives</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Inspect what else could explain the observation.</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pic>
        <p:nvPicPr>
          <p:cNvPr id="4" name="Picture 3" descr="graph.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Records</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Sources, passages, proposals and questions.</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Links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the relationship label on each arrow.</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Exploration</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Show recorded tool activity beyond cited evidence.</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86775" y="2257425"/>
            <a:ext cx="1352550" cy="666750"/>
          </a:xfrm>
          <a:prstGeom prst="rect">
            <a:avLst/>
          </a:prstGeom>
          <a:noFill/>
        </p:spPr>
        <p:txBody>
          <a:bodyPr wrap="square" lIns="0" rIns="0" t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Checks and researcher decisions</a:t>
            </a:r>
          </a:p>
        </p:txBody>
      </p:sp>
      <p:sp>
        <p:nvSpPr>
          <p:cNvPr id="4" name="TextBox 3"/>
          <p:cNvSpPr txBox="1"/>
          <p:nvPr/>
        </p:nvSpPr>
        <p:spPr>
          <a:xfrm>
            <a:off x="71437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Span verified</a:t>
            </a:r>
          </a:p>
        </p:txBody>
      </p:sp>
      <p:sp>
        <p:nvSpPr>
          <p:cNvPr id="5" name="TextBox 4"/>
          <p:cNvSpPr txBox="1"/>
          <p:nvPr/>
        </p:nvSpPr>
        <p:spPr>
          <a:xfrm>
            <a:off x="71437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The quotation resolves</a:t>
            </a:r>
          </a:p>
          <a:p>
            <a:pPr>
              <a:lnSpc>
                <a:spcPct val="118000"/>
              </a:lnSpc>
              <a:spcBef>
                <a:spcPts val="0"/>
              </a:spcBef>
              <a:spcAft>
                <a:spcPts val="0"/>
              </a:spcAft>
              <a:defRPr sz="2100" b="0">
                <a:solidFill>
                  <a:srgbClr val="24384A"/>
                </a:solidFill>
                <a:latin typeface="Lato"/>
              </a:defRPr>
            </a:pPr>
            <a:r>
              <a:rPr>
                <a:ea typeface="Microsoft JhengHei"/>
              </a:rPr>
              <a:t>at its source position.</a:t>
            </a:r>
          </a:p>
        </p:txBody>
      </p:sp>
      <p:sp>
        <p:nvSpPr>
          <p:cNvPr id="6" name="TextBox 5"/>
          <p:cNvSpPr txBox="1"/>
          <p:nvPr/>
        </p:nvSpPr>
        <p:spPr>
          <a:xfrm>
            <a:off x="4572000"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 recorded</a:t>
            </a:r>
          </a:p>
        </p:txBody>
      </p:sp>
      <p:sp>
        <p:nvSpPr>
          <p:cNvPr id="7" name="TextBox 6"/>
          <p:cNvSpPr txBox="1"/>
          <p:nvPr/>
        </p:nvSpPr>
        <p:spPr>
          <a:xfrm>
            <a:off x="4572000"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Inspect the reviewer’s</a:t>
            </a:r>
          </a:p>
          <a:p>
            <a:pPr>
              <a:lnSpc>
                <a:spcPct val="118000"/>
              </a:lnSpc>
              <a:spcBef>
                <a:spcPts val="0"/>
              </a:spcBef>
              <a:spcAft>
                <a:spcPts val="0"/>
              </a:spcAft>
              <a:defRPr sz="2100" b="0">
                <a:solidFill>
                  <a:srgbClr val="24384A"/>
                </a:solidFill>
                <a:latin typeface="Lato"/>
              </a:defRPr>
            </a:pPr>
            <a:r>
              <a:rPr>
                <a:ea typeface="Microsoft JhengHei"/>
              </a:rPr>
              <a:t>verdict and evidence.</a:t>
            </a:r>
          </a:p>
        </p:txBody>
      </p:sp>
      <p:sp>
        <p:nvSpPr>
          <p:cNvPr id="8" name="TextBox 7"/>
          <p:cNvSpPr txBox="1"/>
          <p:nvPr/>
        </p:nvSpPr>
        <p:spPr>
          <a:xfrm>
            <a:off x="842962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Researcher decides</a:t>
            </a:r>
          </a:p>
        </p:txBody>
      </p:sp>
      <p:sp>
        <p:nvSpPr>
          <p:cNvPr id="9" name="TextBox 8"/>
          <p:cNvSpPr txBox="1"/>
          <p:nvPr/>
        </p:nvSpPr>
        <p:spPr>
          <a:xfrm>
            <a:off x="842962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Accept or reject an</a:t>
            </a:r>
          </a:p>
          <a:p>
            <a:pPr>
              <a:lnSpc>
                <a:spcPct val="118000"/>
              </a:lnSpc>
              <a:spcBef>
                <a:spcPts val="0"/>
              </a:spcBef>
              <a:spcAft>
                <a:spcPts val="0"/>
              </a:spcAft>
              <a:defRPr sz="2100" b="0">
                <a:solidFill>
                  <a:srgbClr val="24384A"/>
                </a:solidFill>
                <a:latin typeface="Lato"/>
              </a:defRPr>
            </a:pPr>
            <a:r>
              <a:rPr>
                <a:ea typeface="Microsoft JhengHei"/>
              </a:rPr>
              <a:t>eligible record.</a:t>
            </a:r>
          </a:p>
        </p:txBody>
      </p:sp>
      <p:sp>
        <p:nvSpPr>
          <p:cNvPr id="10" name="TextBox 9"/>
          <p:cNvSpPr txBox="1"/>
          <p:nvPr/>
        </p:nvSpPr>
        <p:spPr>
          <a:xfrm>
            <a:off x="523874" y="5038725"/>
            <a:ext cx="11049000" cy="619125"/>
          </a:xfrm>
          <a:prstGeom prst="rect">
            <a:avLst/>
          </a:prstGeom>
          <a:noFill/>
        </p:spPr>
        <p:txBody>
          <a:bodyPr wrap="square" lIns="0" rIns="0" tIns="0" bIns="0">
            <a:spAutoFit/>
          </a:bodyPr>
          <a:lstStyle/>
          <a:p>
            <a:pPr>
              <a:lnSpc>
                <a:spcPct val="118000"/>
              </a:lnSpc>
              <a:spcBef>
                <a:spcPts val="0"/>
              </a:spcBef>
              <a:spcAft>
                <a:spcPts val="0"/>
              </a:spcAft>
              <a:defRPr sz="3000" b="1">
                <a:solidFill>
                  <a:srgbClr val="146C68"/>
                </a:solidFill>
                <a:latin typeface="Lato"/>
              </a:defRPr>
            </a:pPr>
            <a:r>
              <a:rPr>
                <a:ea typeface="Microsoft JhengHei"/>
              </a:rPr>
              <a:t>Accepted passage ≠ accepted interpretation</a:t>
            </a:r>
          </a:p>
        </p:txBody>
      </p:sp>
      <p:sp>
        <p:nvSpPr>
          <p:cNvPr id="11" name="TextBox 10"/>
          <p:cNvSpPr txBox="1"/>
          <p:nvPr/>
        </p:nvSpPr>
        <p:spPr>
          <a:xfrm>
            <a:off x="523874" y="5772150"/>
            <a:ext cx="11049000" cy="466724"/>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Decisions stay in the record. The source text is unchanged.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