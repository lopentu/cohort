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Introduce yourself and your affiliation verbally.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functions I’ll show: search, comparison and an agent investigation.</a:t>
            </a:r>
          </a:p>
          <a:p/>
          <a:p>
            <a:r>
              <a:t>NEXT: Introduce the two example research questions.</a:t>
            </a:r>
          </a:p>
          <a:p/>
          <a:p>
            <a:r>
              <a:t>BACKGROUND</a:t>
            </a:r>
          </a:p>
          <a:p>
            <a:r>
              <a:t>Follow the abstract’s retrieval, semantic analysis, alignment, interpretation and provenance activities. Do not tour every control now; the application will supply the examples. The worker language model chooses tools; the frozen embedding vectors support related-passage retrieval. Neither alignment nor vocabulary scoring uses embeddings.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We’re approaching this as tool builders. These are two questions we think are worth exploring with specialists.</a:t>
            </a:r>
          </a:p>
          <a:p/>
          <a:p>
            <a:r>
              <a:t>NEXT: Switch to the application on the Cohort slide.</a:t>
            </a:r>
          </a:p>
          <a:p/>
          <a:p>
            <a:r>
              <a:t>BACKGROUND</a:t>
            </a:r>
          </a:p>
          <a:p>
            <a:r>
              <a:t>Introduce the Lotus Sūtra by name, not just its catalogue IDs. T0263 is Dharmarakṣa’s 正法華經; T0262 is Kumārajīva’s 妙法蓮華經. Our indexed units omit particular separately catalogued sections: these are not complete editions. The T0603 case is a known commentary relationship, not a new attribution. Acknowledge Michael Radich’s corpus, labels and string list. T0263 catalogue: https://dazangthings.nz/cbc/text/398/ .</a:t>
            </a:r>
          </a:p>
          <a:p/>
          <a:p>
            <a:r>
              <a:t>The Lotus Sūtra is a Buddhist scripture preserved in different Chinese translations. T0603 is the Yin chi ru jing 陰持入經, a text about body, mind and senses. T1694 is its commentary. Say the names and relationship before using the IDs. These are our practical example questions; do not attribute this exact wording to Radich. We are not resolving an unknown translator ascription.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I’ll start with finding a related passage, then compare vocabulary, then open a saved investigation.</a:t>
            </a:r>
          </a:p>
          <a:p/>
          <a:p>
            <a:r>
              <a:t>NEXT: Return to Results after the application walkthrough.</a:t>
            </a:r>
          </a:p>
          <a:p/>
          <a:p>
            <a:r>
              <a:t>BACKGROUND</a:t>
            </a:r>
          </a:p>
          <a:p>
            <a:r>
              <a:t>Switch to the light interface here. Spend approximately 4 minutes retrieving the Lotus Sūtra example, 5 on vocabulary and the T0603 exclusion, 4 on a saved inquiry and one finding, and 3 on provenance and researcher controls. These are planned times. Do not wait for a new language-model run. Return to the slides for the last six minutes. Read the walkthrough for exact inputs and interpretation. The reference diagrams are fallback material, not a second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selected passage is on the left; related results scroll on the right. This is the stored-embedding mode, not exact-phrase search. Source text is hidden in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compares a text against pooled groups using string counts, not embeddings. Use the live view for exclusions. Source passages are hidden in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distinction between a research question and research instructions. The screenshot shows an unsent draft; no new model run was started. Run history was hidden for this capture.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saved proposals, not established conclusions. The conjecture review found weaknesses; do not imply attested means correct. No proposal was accepted for the screenshot. Use this slide as backup rather than repeating the live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records and their relationships. Source-passage labels and query phrases are hidden in this screenshot; graph records and topology are otherwise unchanged. Use this slide as backup rather than repeating the live walkthrough.</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historical question here, before the interface. Radich’s Q1 concerns translator ascriptions for uncertain texts. This is a narrower methodological question adapted from it: which shared wording helps assess a translator, and which comes from later textual reuse? T0603 is attributed to An Shigao in modern scholarship; its later commentary, T1694, supplies a known relationship against which to examine the calculation. We are not answering an unknown ascription. The later commentary can pull an earlier text toward the group containing the commentary because the ranking counts wording without inferring its chronology. Dates and the commentary relationship come from scholarship; the tools measure similarity and overlap. Keep the original question about uncertain ascriptions as the motivation, rather than claiming this example answers Q1.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Corpus. Use the suggested opening formula. Inspect one result and explain corpus order. Investigate this passage prepares a question; it does not launch an agent.</a:t>
            </a:r>
          </a:p>
          <a:p/>
          <a:p>
            <a:r>
              <a:t>Diagram: Corpus controls](diagrams/corpus.svg)</a:t>
            </a:r>
          </a:p>
          <a:p/>
          <a:p>
            <a:r>
              <a:t>1. Select **Corpus**.</a:t>
            </a:r>
          </a:p>
          <a:p>
            <a:r>
              <a:t>2. Click **Opening formula · 如是我聞**, or type an exact phrase. This familiar opening is often translated as “Thus have I heard.” It is useful for explaining why an ordinary shared expression does not identify a translator.</a:t>
            </a:r>
          </a:p>
          <a:p>
            <a:r>
              <a:t>3. Read the result count and ordering. If the list is cut off, narrow the search. The first entries are in corpus order, not ranked by relevance.</a:t>
            </a:r>
          </a:p>
          <a:p>
            <a:r>
              <a:t>4. Open one result to read its context. **Show/hide TEI markup** changes the reading display. Do not calculate citation offsets from the markup-stripped view.</a:t>
            </a:r>
          </a:p>
          <a:p>
            <a:r>
              <a:t>5. Click **Investigate this passage** if you want to move into Inquiry. It prepares a research question and instructions using that result; it does not start an agent or attach a new citation.</a:t>
            </a:r>
          </a:p>
          <a:p/>
          <a:p>
            <a:r>
              <a:t>You can also click **Phrase from T0603 · 多熱如是名遍** for the worked example. Explain that this phrase was taken from an earlier comparison. You are checking known wording, not asking the search box to discover a research topic.</a:t>
            </a:r>
          </a:p>
          <a:p/>
          <a:p>
            <a:r>
              <a:t>A witness is a retrieved source record. Multiple witnesses or passages may contain related or repeated material; their count is not automatically a count of independent confirmations.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shows a proposed question you can type or paste, not a claim that the existing suggestion button has been changed. Full question: Which texts share wording with T0603, and does that similarity reflect a translator’s usage or later reuse? Instructions: retrieve candidate passages; align shared wording; compare the T0603 ranking with and without T1694 while keeping vocabulary fixed; distinguish catalogue or scholarly chronology from computed overlap; state what cannot be concluded about translator identity or borrowing direction.</a:t>
            </a:r>
          </a:p>
          <a:p/>
          <a:p>
            <a:r>
              <a:t>Show the fields and a completed run. Do not start a paid run simply to fill presentation time. Point out the distinct Record question and Inquire actions.</a:t>
            </a:r>
          </a:p>
          <a:p/>
          <a:p>
            <a:r>
              <a:t>Diagram: Inquiry fields](diagrams/inquiry.svg)</a:t>
            </a:r>
          </a:p>
          <a:p/>
          <a:p>
            <a:r>
              <a:t>The two fields have different jobs:</a:t>
            </a:r>
          </a:p>
          <a:p/>
          <a:p>
            <a:r>
              <a:t>- **Research question:** what you want to find out. For example, “Which passages elsewhere in the corpus are closely related to the Yin chi ru jing (陰持入經, T0603), and what might explain those relationships?”</a:t>
            </a:r>
          </a:p>
          <a:p>
            <a:r>
              <a:t>- **Research instructions:** how you want the investigation approached and what evidence you want back. Ask for candidate passages, source references, comparisons, alternatives and limitations. These instructions guide the worker; they do not guarantee compliance or a successful answer.</a:t>
            </a:r>
          </a:p>
          <a:p/>
          <a:p>
            <a:r>
              <a:t>Suggested inputs fill the draft. **Record question** saves a question and selects it. **Inquire** starts the agents. The question becomes a star in Graph; further nodes depend on what the worker actually records.</a:t>
            </a:r>
          </a:p>
          <a:p/>
          <a:p>
            <a:r>
              <a:t>Expand **Agent roles and settings** only if discussing model configuration. A worker searches, compares and proposes. A reviewer is a separate agent, required to use a different model family, that records checks on proposals. Read the configured model names from the interface; do not assume a name from an older run describes a new run.</a:t>
            </a:r>
          </a:p>
          <a:p/>
          <a:p>
            <a:r>
              <a:t>The local session has no monetary stopping threshold or output-token cap. A worker still has a 32-turn limit and can finish earlier. A turn is an iteration of its model/tool loop, not a guarantee of a new text or finding. Switching tabs does not stop the server-side run. The stop control requests a stop after the current turn.</a:t>
            </a:r>
          </a:p>
          <a:p/>
          <a:p>
            <a:r>
              <a:t>Use **Run results** to reopen a completed run. Expand an action to show its inputs and result. New worker actions have a recorded explanation of why the worker chose that action or string. This is the model’s stated rationale, not proof that the choice was good or a transcript of its hidden reasoning. Older runs can lack these explanations.</a:t>
            </a:r>
          </a:p>
          <a:p/>
          <a:p>
            <a:r>
              <a:t>A new question need not produce a large graph. A worker can search many texts but attach only a few passages to its proposals. In Graph, **Show exploration** adds recorded search activity. Those dashed activity records are separate from evidence supporting a proposal.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one saved proposal and read its actual status. Claims and conjectures are both hypotheses. The field labels make the agent’s argument inspectable; they do not guarantee that it is a good argument.</a:t>
            </a:r>
          </a:p>
          <a:p/>
          <a:p>
            <a:r>
              <a:t>Diagram: Findings fields](diagrams/findings.svg)</a:t>
            </a:r>
          </a:p>
          <a:p/>
          <a:p>
            <a:r>
              <a:t>Open **Findings** and expand one relevant proposal. Entries are newest first, not sorted by confidence. Read its type and status before the text.</a:t>
            </a:r>
          </a:p>
          <a:p/>
          <a:p>
            <a:r>
              <a:t>**Hypothesis** is an umbrella term. A hypothesis can be a **claim** or a **conjecture**; it is not a container assembled from claims. A claim states something its cited passages are supposed to support. A conjecture offers an explanation that goes beyond the observations and must include a test. Neither label certifies truth.</a:t>
            </a:r>
          </a:p>
          <a:p/>
          <a:p>
            <a:r>
              <a:t>The system checks required fields and relationships. It cannot reliably decide whether a statement is historically sound merely by checking its structure. Its grounding rule checks whether a supplied string exists; a very short or irrelevant string can pass that existence check. Do not call grounding a relevance guarantee.</a:t>
            </a:r>
          </a:p>
          <a:p/>
          <a:p>
            <a:r>
              <a:t>| Field | What to read it as |</a:t>
            </a:r>
          </a:p>
          <a:p>
            <a:r>
              <a:t>|---|---|</a:t>
            </a:r>
          </a:p>
          <a:p>
            <a:r>
              <a:t>| How the proposal was reached (`derivation`) | The observations and steps the worker says led to it |</a:t>
            </a:r>
          </a:p>
          <a:p>
            <a:r>
              <a:t>| Material examined (`corpus_boundary`) | What the worker reports examining or excluding |</a:t>
            </a:r>
          </a:p>
          <a:p>
            <a:r>
              <a:t>| What could bias the comparison (`selection_risks`) | Ways that choosing these texts or strings could distort the result |</a:t>
            </a:r>
          </a:p>
          <a:p>
            <a:r>
              <a:t>| Other possible explanations (`alternative_explanations`) | Competing accounts, such as reuse, a shared source or a recurring expression |</a:t>
            </a:r>
          </a:p>
          <a:p>
            <a:r>
              <a:t>| Test | A recorded query and expected result intended to challenge the conjecture |</a:t>
            </a:r>
          </a:p>
          <a:p/>
          <a:p>
            <a:r>
              <a:t>Inspect whether a test could distinguish the alternatives. A search returning a phrase already seen is weak evidence for a new historical explanation. The presence of a test field does not establish that a useful test was run prospectively.</a:t>
            </a:r>
          </a:p>
          <a:p/>
          <a:p>
            <a:r>
              <a:t>Click a cited passage to open it in Graph. The AI interpretation in the side panel is separate from these recorded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Analyze this view without starting a run. Show a saved analysis if one is available. The analyst can use read-only tools, but does not promote its answer into a graph proposal.</a:t>
            </a:r>
          </a:p>
          <a:p/>
          <a:p>
            <a:r>
              <a:t>Click **Analyze this view**. A side panel opens without moving the main tab. Choose or retain the model, then click **Start analysis**. Merely opening the panel does not call a model.</a:t>
            </a:r>
          </a:p>
          <a:p/>
          <a:p>
            <a:r>
              <a:t>The analyst can inspect records, search passages, read bounded source material and repeat available evidence comparisons. Its final answer is formatted text with expandable actions and reasons. It cannot propose, accept, reject or modify graph records. Its explanation is an AI interpretation, not a verification.</a:t>
            </a:r>
          </a:p>
          <a:p/>
          <a:p>
            <a:r>
              <a:t>Select an entry under **Saved analyses** to reopen it. The answer describes the view supplied when that analysis began; later changes to the graph or exclusion settings do not rewrite it. Close the panel to inspect the underlying view. Closing or switching tabs does not stop an active run. Only one inquiry or analysis runs at a time in this instance.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known textual relationship. Use it as a retrieval control, not a discovery. The earlier task did not supply the counterpart ID, but pretrained knowledge cannot be ruled out.</a:t>
            </a:r>
          </a:p>
          <a:p/>
          <a:p>
            <a:r>
              <a:t>T0453 is a Maitreya text, **Maitreya’s descent 彌勒下生經**. It has a known textual relation to material in the **Ekottarikāgama 增壹阿含經, T0125**, section 48.3. The earlier retrieval exercise reached that counterpart without supplying its identifier in the task. This is a control for finding a relevant parallel, not a new discovery or an attribution of an unknown text.</a:t>
            </a:r>
          </a:p>
          <a:p/>
          <a:p>
            <a:r>
              <a:t>Use it to explain retrieval and alignment if asked for another example. Do not promise that a fresh model run will take the same route. Withholding an identifier from a prompt also does not exclude pretrained knowledge. The main slides omit the old overlap percentages because their different denominators require a separate explanation and are unnecessary for introducing the tools.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audience using the abstract. These rows map research activities to available tools. They are not a pipeline in which every arrow writes a new record.</a:t>
            </a:r>
          </a:p>
          <a:p/>
          <a:p>
            <a:r>
              <a:t>Diagram: Map of the tabs and their connections](diagrams/tabs.svg)</a:t>
            </a:r>
          </a:p>
          <a:p/>
          <a:p>
            <a:r>
              <a:t>**Corpus** reads the local source material. **Vocabulary comparison** computes comparisons. Neither operation, by itself, inserts passages or proposals into the graph.</a:t>
            </a:r>
          </a:p>
          <a:p/>
          <a:p>
            <a:r>
              <a:t>**Inquiry** records a research question and starts agents. Workers can then record passages, searches, claims and conjectures. **Findings** displays those proposals as readable entries. **Graph** displays their relationships and opens the researcher’s decision controls.</a:t>
            </a:r>
          </a:p>
          <a:p/>
          <a:p>
            <a:r>
              <a:t>The **Analyze this view** button in Graph and Vocabulary comparison opens a separate analyst. It can investigate using read-only tools and save an explanation. Its answer does not become a claim or an accepted finding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a:t>
            </a:r>
          </a:p>
        </p:txBody>
      </p:sp>
      <p:sp>
        <p:nvSpPr>
          <p:cNvPr id="6" name="TextBox 5"/>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7" name="TextBox 6"/>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8" name="TextBox 7"/>
          <p:cNvSpPr txBox="1"/>
          <p:nvPr/>
        </p:nvSpPr>
        <p:spPr>
          <a:xfrm>
            <a:off x="552450" y="5410200"/>
            <a:ext cx="10477500" cy="428625"/>
          </a:xfrm>
          <a:prstGeom prst="rect">
            <a:avLst/>
          </a:prstGeom>
          <a:noFill/>
        </p:spPr>
        <p:txBody>
          <a:bodyPr wrap="square" lIns="0" rIns="0" tIns="0" bIns="0">
            <a:spAutoFit/>
          </a:bodyPr>
          <a:lstStyle/>
          <a:p>
            <a:pPr>
              <a:lnSpc>
                <a:spcPct val="118000"/>
              </a:lnSpc>
              <a:spcBef>
                <a:spcPts val="0"/>
              </a:spcBef>
              <a:spcAft>
                <a:spcPts val="0"/>
              </a:spcAft>
              <a:defRPr sz="2100" b="0">
                <a:solidFill>
                  <a:srgbClr val="526778"/>
                </a:solidFill>
                <a:latin typeface="Lato"/>
              </a:defRPr>
            </a:pPr>
            <a:r>
              <a:rPr>
                <a:ea typeface="Microsoft JhengHei"/>
              </a:rPr>
              <a:t>Chinese Buddhist texts · researcher-controlled investigation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Research material</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Data and thanks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a:t>
            </a:r>
          </a:p>
        </p:txBody>
      </p:sp>
      <p:sp>
        <p:nvSpPr>
          <p:cNvPr id="6" name="TextBox 5"/>
          <p:cNvSpPr txBox="1"/>
          <p:nvPr/>
        </p:nvSpPr>
        <p:spPr>
          <a:xfrm>
            <a:off x="552450" y="2238375"/>
            <a:ext cx="10668000" cy="90487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Thank you, Michael Radich</a:t>
            </a:r>
          </a:p>
        </p:txBody>
      </p:sp>
      <p:sp>
        <p:nvSpPr>
          <p:cNvPr id="7" name="TextBox 6"/>
          <p:cNvSpPr txBox="1"/>
          <p:nvPr/>
        </p:nvSpPr>
        <p:spPr>
          <a:xfrm>
            <a:off x="552450" y="3000375"/>
            <a:ext cx="10668000" cy="9048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For sharing a CBETA-derived research corpus, working catalogue and curated vocabulary list.</a:t>
            </a:r>
          </a:p>
        </p:txBody>
      </p:sp>
      <p:sp>
        <p:nvSpPr>
          <p:cNvPr id="8" name="TextBox 7"/>
          <p:cNvSpPr txBox="1"/>
          <p:nvPr/>
        </p:nvSpPr>
        <p:spPr>
          <a:xfrm>
            <a:off x="552450" y="4238625"/>
            <a:ext cx="10668000" cy="9048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368 texts/chapters in 13 vocabulary comparison groups.</a:t>
            </a:r>
          </a:p>
        </p:txBody>
      </p:sp>
      <p:sp>
        <p:nvSpPr>
          <p:cNvPr id="9" name="TextBox 8"/>
          <p:cNvSpPr txBox="1"/>
          <p:nvPr/>
        </p:nvSpPr>
        <p:spPr>
          <a:xfrm>
            <a:off x="552450" y="5095875"/>
            <a:ext cx="10668000" cy="9048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The source texts derive from CBETA. This is a selected corpus, not the whole canon.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Corpus search</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Passage and vocabulary comparisons</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Agent investigations, source records and researcher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Sūtra: where do the two translations discuss the same material in different words?</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and its commentary: how much does repeated wording affect the vocabulary result?</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These examples test the tools on known textual relationships.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Corpus → related passages → inspect shared wording</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comparison → repeat with a source excluded</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Inquiry → saved actions → Findings → 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Sūtra: 283 of 327 indexed passages retrieve the other translation first.</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Dharmarakṣa ranks first for the earlier Lotus translation under both lists.</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removing the commentary changes the first-ranked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Cohort</a:t>
            </a:r>
          </a:p>
        </p:txBody>
      </p:sp>
      <p:sp>
        <p:nvSpPr>
          <p:cNvPr id="3" name="TextBox 2"/>
          <p:cNvSpPr txBox="1"/>
          <p:nvPr/>
        </p:nvSpPr>
        <p:spPr>
          <a:xfrm>
            <a:off x="495299" y="800100"/>
            <a:ext cx="11201400" cy="11430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Limits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52450" y="214312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A similar passage still needs to be read in context.</a:t>
            </a:r>
          </a:p>
        </p:txBody>
      </p:sp>
      <p:sp>
        <p:nvSpPr>
          <p:cNvPr id="6" name="TextBox 5"/>
          <p:cNvSpPr txBox="1"/>
          <p:nvPr/>
        </p:nvSpPr>
        <p:spPr>
          <a:xfrm>
            <a:off x="552450" y="3429000"/>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Vocabulary rankings can be wrong. Dates and borrowing need separate evidence.</a:t>
            </a:r>
          </a:p>
        </p:txBody>
      </p:sp>
      <p:sp>
        <p:nvSpPr>
          <p:cNvPr id="7" name="TextBox 6"/>
          <p:cNvSpPr txBox="1"/>
          <p:nvPr/>
        </p:nvSpPr>
        <p:spPr>
          <a:xfrm>
            <a:off x="552450" y="4714875"/>
            <a:ext cx="10668000" cy="1143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The researcher decides whether to accept a proposal.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Corpus</a:t>
            </a:r>
          </a:p>
        </p:txBody>
      </p:sp>
      <p:pic>
        <p:nvPicPr>
          <p:cNvPr id="3" name="Picture 2" descr="corpus.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Vocabulary comparison</a:t>
            </a:r>
          </a:p>
        </p:txBody>
      </p:sp>
      <p:pic>
        <p:nvPicPr>
          <p:cNvPr id="3" name="Picture 2" descr="vocabulary.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Inquiry</a:t>
            </a:r>
          </a:p>
        </p:txBody>
      </p:sp>
      <p:pic>
        <p:nvPicPr>
          <p:cNvPr id="3" name="Picture 2" descr="inquiry.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Findings</a:t>
            </a:r>
          </a:p>
        </p:txBody>
      </p:sp>
      <p:pic>
        <p:nvPicPr>
          <p:cNvPr id="3" name="Picture 2" descr="findings.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2450" y="266700"/>
            <a:ext cx="10953750" cy="590550"/>
          </a:xfrm>
          <a:prstGeom prst="rect">
            <a:avLst/>
          </a:prstGeom>
          <a:noFill/>
        </p:spPr>
        <p:txBody>
          <a:bodyPr wrap="square" lIns="0" rIns="0" tIns="0" bIns="0">
            <a:spAutoFit/>
          </a:bodyPr>
          <a:lstStyle/>
          <a:p>
            <a:pPr>
              <a:lnSpc>
                <a:spcPct val="118000"/>
              </a:lnSpc>
              <a:spcBef>
                <a:spcPts val="0"/>
              </a:spcBef>
              <a:spcAft>
                <a:spcPts val="0"/>
              </a:spcAft>
              <a:defRPr sz="3000" b="1">
                <a:solidFill>
                  <a:srgbClr val="24384A"/>
                </a:solidFill>
                <a:latin typeface="Lato"/>
              </a:defRPr>
            </a:pPr>
            <a:r>
              <a:rPr>
                <a:ea typeface="Microsoft JhengHei"/>
              </a:rPr>
              <a:t>Graph</a:t>
            </a:r>
          </a:p>
        </p:txBody>
      </p:sp>
      <p:pic>
        <p:nvPicPr>
          <p:cNvPr id="3" name="Picture 2" descr="graph.png"/>
          <p:cNvPicPr>
            <a:picLocks noChangeAspect="1"/>
          </p:cNvPicPr>
          <p:nvPr/>
        </p:nvPicPr>
        <p:blipFill>
          <a:blip r:embed="rId2"/>
          <a:stretch>
            <a:fillRect/>
          </a:stretch>
        </p:blipFill>
        <p:spPr>
          <a:xfrm>
            <a:off x="1123950" y="952500"/>
            <a:ext cx="9944100" cy="5524500"/>
          </a:xfrm>
          <a:prstGeom prst="rect">
            <a:avLst/>
          </a:prstGeom>
        </p:spPr>
      </p:pic>
      <p:sp>
        <p:nvSpPr>
          <p:cNvPr id="4" name="TextBox 3"/>
          <p:cNvSpPr txBox="1"/>
          <p:nvPr/>
        </p:nvSpPr>
        <p:spPr>
          <a:xfrm>
            <a:off x="552450" y="6562725"/>
            <a:ext cx="1104900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Interface reference · source passages hidden where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Historical question · adapted from Radich’s Q1</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Translator usage or later reuse?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13</a:t>
            </a:r>
          </a:p>
        </p:txBody>
      </p:sp>
      <p:sp>
        <p:nvSpPr>
          <p:cNvPr id="6" name="TextBox 5"/>
          <p:cNvSpPr txBox="1"/>
          <p:nvPr/>
        </p:nvSpPr>
        <p:spPr>
          <a:xfrm>
            <a:off x="523874" y="2162175"/>
            <a:ext cx="10953750" cy="1552575"/>
          </a:xfrm>
          <a:prstGeom prst="rect">
            <a:avLst/>
          </a:prstGeom>
          <a:noFill/>
        </p:spPr>
        <p:txBody>
          <a:bodyPr wrap="square" lIns="0" rIns="0" tIns="0" bIns="0">
            <a:spAutoFit/>
          </a:bodyPr>
          <a:lstStyle/>
          <a:p>
            <a:pPr>
              <a:lnSpc>
                <a:spcPct val="118000"/>
              </a:lnSpc>
              <a:spcBef>
                <a:spcPts val="0"/>
              </a:spcBef>
              <a:spcAft>
                <a:spcPts val="0"/>
              </a:spcAft>
              <a:defRPr sz="3100" b="1">
                <a:solidFill>
                  <a:srgbClr val="126B85"/>
                </a:solidFill>
                <a:latin typeface="Lato"/>
              </a:defRPr>
            </a:pPr>
            <a:r>
              <a:rPr>
                <a:ea typeface="Microsoft JhengHei"/>
              </a:rPr>
              <a:t>Which texts share wording with T0603, and does that similarity reflect a translator’s usage or later reuse?</a:t>
            </a:r>
          </a:p>
        </p:txBody>
      </p:sp>
      <p:sp>
        <p:nvSpPr>
          <p:cNvPr id="7" name="TextBox 6"/>
          <p:cNvSpPr txBox="1"/>
          <p:nvPr/>
        </p:nvSpPr>
        <p:spPr>
          <a:xfrm>
            <a:off x="523874" y="4210050"/>
            <a:ext cx="10858500" cy="11906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T0603 has an accepted attribution to An Shigao.</a:t>
            </a:r>
          </a:p>
          <a:p>
            <a:pPr>
              <a:lnSpc>
                <a:spcPct val="118000"/>
              </a:lnSpc>
              <a:spcBef>
                <a:spcPts val="0"/>
              </a:spcBef>
              <a:spcAft>
                <a:spcPts val="0"/>
              </a:spcAft>
              <a:defRPr sz="2600" b="0">
                <a:solidFill>
                  <a:srgbClr val="24384A"/>
                </a:solidFill>
                <a:latin typeface="Lato"/>
              </a:defRPr>
            </a:pPr>
            <a:r>
              <a:rPr>
                <a:ea typeface="Microsoft JhengHei"/>
              </a:rPr>
              <a:t>Its later commentary repeats wording from the earlier text.</a:t>
            </a:r>
          </a:p>
        </p:txBody>
      </p:sp>
      <p:sp>
        <p:nvSpPr>
          <p:cNvPr id="8" name="TextBox 7"/>
          <p:cNvSpPr txBox="1"/>
          <p:nvPr/>
        </p:nvSpPr>
        <p:spPr>
          <a:xfrm>
            <a:off x="523874" y="5743575"/>
            <a:ext cx="10858500" cy="571500"/>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Use this known case to examine the method before applying it to disputed texts.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Corpus retrieval · Corpus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Find a phrase and open its source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14</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Corpus</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Rectangle 11"/>
          <p:cNvSpPr/>
          <p:nvPr/>
        </p:nvSpPr>
        <p:spPr>
          <a:xfrm>
            <a:off x="733425" y="3095625"/>
            <a:ext cx="4714875" cy="438150"/>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725" y="3171825"/>
            <a:ext cx="4190999" cy="3238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如是我聞</a:t>
            </a:r>
          </a:p>
        </p:txBody>
      </p:sp>
      <p:sp>
        <p:nvSpPr>
          <p:cNvPr id="14" name="Rectangle 13"/>
          <p:cNvSpPr/>
          <p:nvPr/>
        </p:nvSpPr>
        <p:spPr>
          <a:xfrm>
            <a:off x="5591175" y="3095625"/>
            <a:ext cx="138112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86425" y="3190875"/>
            <a:ext cx="119062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Search</a:t>
            </a:r>
          </a:p>
        </p:txBody>
      </p:sp>
      <p:sp>
        <p:nvSpPr>
          <p:cNvPr id="16" name="TextBox 15"/>
          <p:cNvSpPr txBox="1"/>
          <p:nvPr/>
        </p:nvSpPr>
        <p:spPr>
          <a:xfrm>
            <a:off x="733425" y="3810000"/>
            <a:ext cx="5905500" cy="3238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Suggested searches</a:t>
            </a:r>
          </a:p>
        </p:txBody>
      </p:sp>
      <p:sp>
        <p:nvSpPr>
          <p:cNvPr id="17" name="TextBox 16"/>
          <p:cNvSpPr txBox="1"/>
          <p:nvPr/>
        </p:nvSpPr>
        <p:spPr>
          <a:xfrm>
            <a:off x="733425" y="4219575"/>
            <a:ext cx="5905500" cy="333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Opening formula · 如是我聞</a:t>
            </a:r>
          </a:p>
        </p:txBody>
      </p:sp>
      <p:sp>
        <p:nvSpPr>
          <p:cNvPr id="18" name="TextBox 17"/>
          <p:cNvSpPr txBox="1"/>
          <p:nvPr/>
        </p:nvSpPr>
        <p:spPr>
          <a:xfrm>
            <a:off x="733425" y="4810125"/>
            <a:ext cx="5905500" cy="3619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Open a matching source record</a:t>
            </a:r>
          </a:p>
        </p:txBody>
      </p:sp>
      <p:sp>
        <p:nvSpPr>
          <p:cNvPr id="19" name="Rectangle 18"/>
          <p:cNvSpPr/>
          <p:nvPr/>
        </p:nvSpPr>
        <p:spPr>
          <a:xfrm>
            <a:off x="733425" y="5372100"/>
            <a:ext cx="242887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675" y="5467350"/>
            <a:ext cx="223837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Investigate this passage</a:t>
            </a:r>
          </a:p>
        </p:txBody>
      </p:sp>
      <p:sp>
        <p:nvSpPr>
          <p:cNvPr id="21" name="TextBox 20"/>
          <p:cNvSpPr txBox="1"/>
          <p:nvPr/>
        </p:nvSpPr>
        <p:spPr>
          <a:xfrm>
            <a:off x="7962900" y="2428875"/>
            <a:ext cx="3571875" cy="24765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Exact wording</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Read the context</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Prepare an inquiry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Agent-based architecture · Inquiry</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Give the agent a question and instructions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15</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Inquiry</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38475"/>
            <a:ext cx="5953125" cy="28575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Research question</a:t>
            </a:r>
          </a:p>
        </p:txBody>
      </p:sp>
      <p:sp>
        <p:nvSpPr>
          <p:cNvPr id="13" name="Rectangle 12"/>
          <p:cNvSpPr/>
          <p:nvPr/>
        </p:nvSpPr>
        <p:spPr>
          <a:xfrm>
            <a:off x="733425" y="3362325"/>
            <a:ext cx="6334125" cy="790575"/>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725" y="3457575"/>
            <a:ext cx="6096000" cy="6096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Does T0603’s shared wording reflect</a:t>
            </a:r>
          </a:p>
          <a:p>
            <a:pPr>
              <a:lnSpc>
                <a:spcPct val="118000"/>
              </a:lnSpc>
              <a:spcBef>
                <a:spcPts val="0"/>
              </a:spcBef>
              <a:spcAft>
                <a:spcPts val="0"/>
              </a:spcAft>
              <a:defRPr sz="1900" b="0">
                <a:solidFill>
                  <a:srgbClr val="24384A"/>
                </a:solidFill>
                <a:latin typeface="Lato"/>
              </a:defRPr>
            </a:pPr>
            <a:r>
              <a:rPr>
                <a:ea typeface="Microsoft JhengHei"/>
              </a:rPr>
              <a:t>a translator’s usage or later reuse?</a:t>
            </a:r>
          </a:p>
        </p:txBody>
      </p:sp>
      <p:sp>
        <p:nvSpPr>
          <p:cNvPr id="15" name="TextBox 14"/>
          <p:cNvSpPr txBox="1"/>
          <p:nvPr/>
        </p:nvSpPr>
        <p:spPr>
          <a:xfrm>
            <a:off x="733425" y="4305300"/>
            <a:ext cx="5905500" cy="28575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Research instructions</a:t>
            </a:r>
          </a:p>
        </p:txBody>
      </p:sp>
      <p:sp>
        <p:nvSpPr>
          <p:cNvPr id="16" name="Rectangle 15"/>
          <p:cNvSpPr/>
          <p:nvPr/>
        </p:nvSpPr>
        <p:spPr>
          <a:xfrm>
            <a:off x="733425" y="4619625"/>
            <a:ext cx="6334125" cy="571500"/>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7725" y="4724400"/>
            <a:ext cx="6096000" cy="428625"/>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Find passages; compare reuse and translator usage.</a:t>
            </a:r>
          </a:p>
        </p:txBody>
      </p:sp>
      <p:sp>
        <p:nvSpPr>
          <p:cNvPr id="18" name="Rectangle 17"/>
          <p:cNvSpPr/>
          <p:nvPr/>
        </p:nvSpPr>
        <p:spPr>
          <a:xfrm>
            <a:off x="733425" y="5372100"/>
            <a:ext cx="1714500"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675" y="5467350"/>
            <a:ext cx="1524000"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Record question</a:t>
            </a:r>
          </a:p>
        </p:txBody>
      </p:sp>
      <p:sp>
        <p:nvSpPr>
          <p:cNvPr id="20" name="Rectangle 19"/>
          <p:cNvSpPr/>
          <p:nvPr/>
        </p:nvSpPr>
        <p:spPr>
          <a:xfrm>
            <a:off x="2619375" y="5372100"/>
            <a:ext cx="1190625" cy="400050"/>
          </a:xfrm>
          <a:prstGeom prst="rect">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4625" y="5467350"/>
            <a:ext cx="1000125" cy="266700"/>
          </a:xfrm>
          <a:prstGeom prst="rect">
            <a:avLst/>
          </a:prstGeom>
          <a:noFill/>
        </p:spPr>
        <p:txBody>
          <a:bodyPr wrap="square" lIns="0" rIns="0" tIns="0" bIns="0">
            <a:spAutoFit/>
          </a:bodyPr>
          <a:lstStyle/>
          <a:p>
            <a:pPr>
              <a:lnSpc>
                <a:spcPct val="118000"/>
              </a:lnSpc>
              <a:spcBef>
                <a:spcPts val="0"/>
              </a:spcBef>
              <a:spcAft>
                <a:spcPts val="0"/>
              </a:spcAft>
              <a:defRPr sz="1500" b="1">
                <a:solidFill>
                  <a:srgbClr val="126B85"/>
                </a:solidFill>
                <a:latin typeface="Lato"/>
              </a:defRPr>
            </a:pPr>
            <a:r>
              <a:rPr>
                <a:ea typeface="Microsoft JhengHei"/>
              </a:rPr>
              <a:t>Inquire</a:t>
            </a:r>
          </a:p>
        </p:txBody>
      </p:sp>
      <p:sp>
        <p:nvSpPr>
          <p:cNvPr id="22" name="TextBox 21"/>
          <p:cNvSpPr txBox="1"/>
          <p:nvPr/>
        </p:nvSpPr>
        <p:spPr>
          <a:xfrm>
            <a:off x="7962900" y="2295525"/>
            <a:ext cx="3552825" cy="31718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Question: what to investigate</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Instructions: how to approach it</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Run results: what the agents did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Semantic analysis · agent tools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Retrieve candidates by content</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16</a:t>
            </a:r>
          </a:p>
        </p:txBody>
      </p:sp>
      <p:sp>
        <p:nvSpPr>
          <p:cNvPr id="6" name="TextBox 5"/>
          <p:cNvSpPr txBox="1"/>
          <p:nvPr/>
        </p:nvSpPr>
        <p:spPr>
          <a:xfrm>
            <a:off x="523874" y="23050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Input</a:t>
            </a:r>
          </a:p>
        </p:txBody>
      </p:sp>
      <p:sp>
        <p:nvSpPr>
          <p:cNvPr id="7" name="TextBox 6"/>
          <p:cNvSpPr txBox="1"/>
          <p:nvPr/>
        </p:nvSpPr>
        <p:spPr>
          <a:xfrm>
            <a:off x="4000500" y="23050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A text or passage</a:t>
            </a:r>
          </a:p>
        </p:txBody>
      </p:sp>
      <p:sp>
        <p:nvSpPr>
          <p:cNvPr id="8" name="TextBox 7"/>
          <p:cNvSpPr txBox="1"/>
          <p:nvPr/>
        </p:nvSpPr>
        <p:spPr>
          <a:xfrm>
            <a:off x="523874" y="33337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Semantic neighbours</a:t>
            </a:r>
          </a:p>
        </p:txBody>
      </p:sp>
      <p:sp>
        <p:nvSpPr>
          <p:cNvPr id="9" name="TextBox 8"/>
          <p:cNvSpPr txBox="1"/>
          <p:nvPr/>
        </p:nvSpPr>
        <p:spPr>
          <a:xfrm>
            <a:off x="4000500" y="33337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Retrieve similar passages from the embedding index</a:t>
            </a:r>
          </a:p>
        </p:txBody>
      </p:sp>
      <p:sp>
        <p:nvSpPr>
          <p:cNvPr id="10" name="TextBox 9"/>
          <p:cNvSpPr txBox="1"/>
          <p:nvPr/>
        </p:nvSpPr>
        <p:spPr>
          <a:xfrm>
            <a:off x="523874" y="4362450"/>
            <a:ext cx="3143250" cy="9144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Researcher’s next step</a:t>
            </a:r>
          </a:p>
        </p:txBody>
      </p:sp>
      <p:sp>
        <p:nvSpPr>
          <p:cNvPr id="11" name="TextBox 10"/>
          <p:cNvSpPr txBox="1"/>
          <p:nvPr/>
        </p:nvSpPr>
        <p:spPr>
          <a:xfrm>
            <a:off x="4000500" y="4362450"/>
            <a:ext cx="7667624" cy="9144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candidates and choose pairs to compare</a:t>
            </a:r>
          </a:p>
        </p:txBody>
      </p:sp>
      <p:sp>
        <p:nvSpPr>
          <p:cNvPr id="12" name="TextBox 11"/>
          <p:cNvSpPr txBox="1"/>
          <p:nvPr/>
        </p:nvSpPr>
        <p:spPr>
          <a:xfrm>
            <a:off x="523874" y="5638800"/>
            <a:ext cx="11001375" cy="57150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Similar content can come from a shared subject, a formula or textual reuse.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Alignment · agent tools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Locate shared wording in a selected pair</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17</a:t>
            </a:r>
          </a:p>
        </p:txBody>
      </p:sp>
      <p:sp>
        <p:nvSpPr>
          <p:cNvPr id="6" name="TextBox 5"/>
          <p:cNvSpPr txBox="1"/>
          <p:nvPr/>
        </p:nvSpPr>
        <p:spPr>
          <a:xfrm>
            <a:off x="523874" y="2181225"/>
            <a:ext cx="4953000" cy="523874"/>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T0603</a:t>
            </a:r>
          </a:p>
        </p:txBody>
      </p:sp>
      <p:sp>
        <p:nvSpPr>
          <p:cNvPr id="7" name="TextBox 6"/>
          <p:cNvSpPr txBox="1"/>
          <p:nvPr/>
        </p:nvSpPr>
        <p:spPr>
          <a:xfrm>
            <a:off x="523874" y="2876550"/>
            <a:ext cx="4857750" cy="1095375"/>
          </a:xfrm>
          <a:prstGeom prst="rect">
            <a:avLst/>
          </a:prstGeom>
          <a:noFill/>
        </p:spPr>
        <p:txBody>
          <a:bodyPr wrap="square" lIns="0" rIns="0" tIns="0" bIns="0">
            <a:spAutoFit/>
          </a:bodyPr>
          <a:lstStyle/>
          <a:p>
            <a:pPr>
              <a:lnSpc>
                <a:spcPct val="118000"/>
              </a:lnSpc>
              <a:spcBef>
                <a:spcPts val="0"/>
              </a:spcBef>
              <a:spcAft>
                <a:spcPts val="0"/>
              </a:spcAft>
              <a:defRPr sz="3000" b="0">
                <a:solidFill>
                  <a:srgbClr val="24384A"/>
                </a:solidFill>
                <a:latin typeface="Lato"/>
              </a:defRPr>
            </a:pPr>
            <a:r>
              <a:rPr>
                <a:ea typeface="Microsoft JhengHei"/>
              </a:rPr>
              <a:t>Yin chi ru jing</a:t>
            </a:r>
          </a:p>
          <a:p>
            <a:pPr>
              <a:lnSpc>
                <a:spcPct val="118000"/>
              </a:lnSpc>
              <a:spcBef>
                <a:spcPts val="0"/>
              </a:spcBef>
              <a:spcAft>
                <a:spcPts val="0"/>
              </a:spcAft>
              <a:defRPr sz="3000" b="0">
                <a:solidFill>
                  <a:srgbClr val="24384A"/>
                </a:solidFill>
                <a:latin typeface="Lato"/>
              </a:defRPr>
            </a:pPr>
            <a:r>
              <a:rPr>
                <a:ea typeface="Microsoft JhengHei"/>
              </a:rPr>
              <a:t>陰持入經</a:t>
            </a:r>
          </a:p>
        </p:txBody>
      </p:sp>
      <p:sp>
        <p:nvSpPr>
          <p:cNvPr id="8" name="TextBox 7"/>
          <p:cNvSpPr txBox="1"/>
          <p:nvPr/>
        </p:nvSpPr>
        <p:spPr>
          <a:xfrm>
            <a:off x="6819900" y="2181225"/>
            <a:ext cx="4762500" cy="523874"/>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T1694</a:t>
            </a:r>
          </a:p>
        </p:txBody>
      </p:sp>
      <p:sp>
        <p:nvSpPr>
          <p:cNvPr id="9" name="TextBox 8"/>
          <p:cNvSpPr txBox="1"/>
          <p:nvPr/>
        </p:nvSpPr>
        <p:spPr>
          <a:xfrm>
            <a:off x="6819900" y="2876550"/>
            <a:ext cx="4762500" cy="1095375"/>
          </a:xfrm>
          <a:prstGeom prst="rect">
            <a:avLst/>
          </a:prstGeom>
          <a:noFill/>
        </p:spPr>
        <p:txBody>
          <a:bodyPr wrap="square" lIns="0" rIns="0" tIns="0" bIns="0">
            <a:spAutoFit/>
          </a:bodyPr>
          <a:lstStyle/>
          <a:p>
            <a:pPr>
              <a:lnSpc>
                <a:spcPct val="118000"/>
              </a:lnSpc>
              <a:spcBef>
                <a:spcPts val="0"/>
              </a:spcBef>
              <a:spcAft>
                <a:spcPts val="0"/>
              </a:spcAft>
              <a:defRPr sz="3000" b="0">
                <a:solidFill>
                  <a:srgbClr val="24384A"/>
                </a:solidFill>
                <a:latin typeface="Lato"/>
              </a:defRPr>
            </a:pPr>
            <a:r>
              <a:rPr>
                <a:ea typeface="Microsoft JhengHei"/>
              </a:rPr>
              <a:t>Yin chi ru jing zhu</a:t>
            </a:r>
          </a:p>
          <a:p>
            <a:pPr>
              <a:lnSpc>
                <a:spcPct val="118000"/>
              </a:lnSpc>
              <a:spcBef>
                <a:spcPts val="0"/>
              </a:spcBef>
              <a:spcAft>
                <a:spcPts val="0"/>
              </a:spcAft>
              <a:defRPr sz="3000" b="0">
                <a:solidFill>
                  <a:srgbClr val="24384A"/>
                </a:solidFill>
                <a:latin typeface="Lato"/>
              </a:defRPr>
            </a:pPr>
            <a:r>
              <a:rPr>
                <a:ea typeface="Microsoft JhengHei"/>
              </a:rPr>
              <a:t>陰持入經註</a:t>
            </a:r>
          </a:p>
        </p:txBody>
      </p:sp>
      <p:cxnSp>
        <p:nvCxnSpPr>
          <p:cNvPr id="10" name="Connector 9"/>
          <p:cNvCxnSpPr/>
          <p:nvPr/>
        </p:nvCxnSpPr>
        <p:spPr>
          <a:xfrm>
            <a:off x="5362575" y="3305175"/>
            <a:ext cx="10287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3874" y="4524375"/>
            <a:ext cx="11049000" cy="8572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Earlier translation → later commentary: a relationship known from scholarship.</a:t>
            </a:r>
          </a:p>
        </p:txBody>
      </p:sp>
      <p:sp>
        <p:nvSpPr>
          <p:cNvPr id="12" name="TextBox 11"/>
          <p:cNvSpPr txBox="1"/>
          <p:nvPr/>
        </p:nvSpPr>
        <p:spPr>
          <a:xfrm>
            <a:off x="523874" y="5648325"/>
            <a:ext cx="11049000" cy="47625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Alignment locates shared wording; it does not establish the chronology.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Analysis · Evidence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Compare string counts across groups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18</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1600" b="1">
                <a:solidFill>
                  <a:srgbClr val="126B85"/>
                </a:solidFill>
                <a:latin typeface="Lato"/>
              </a:defRPr>
            </a:pPr>
            <a:r>
              <a:rPr>
                <a:ea typeface="Microsoft JhengHei"/>
              </a:rPr>
              <a:t>Vocabulary comparison</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95625"/>
            <a:ext cx="6191250" cy="40005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Text: T0603 · 陰持入經</a:t>
            </a:r>
          </a:p>
        </p:txBody>
      </p:sp>
      <p:sp>
        <p:nvSpPr>
          <p:cNvPr id="13" name="TextBox 12"/>
          <p:cNvSpPr txBox="1"/>
          <p:nvPr/>
        </p:nvSpPr>
        <p:spPr>
          <a:xfrm>
            <a:off x="733425" y="3686175"/>
            <a:ext cx="6191250" cy="304800"/>
          </a:xfrm>
          <a:prstGeom prst="rect">
            <a:avLst/>
          </a:prstGeom>
          <a:noFill/>
        </p:spPr>
        <p:txBody>
          <a:bodyPr wrap="square" lIns="0" rIns="0" tIns="0" bIns="0">
            <a:spAutoFit/>
          </a:bodyPr>
          <a:lstStyle/>
          <a:p>
            <a:pPr>
              <a:lnSpc>
                <a:spcPct val="118000"/>
              </a:lnSpc>
              <a:spcBef>
                <a:spcPts val="0"/>
              </a:spcBef>
              <a:spcAft>
                <a:spcPts val="0"/>
              </a:spcAft>
              <a:defRPr sz="1800" b="1">
                <a:solidFill>
                  <a:srgbClr val="126B85"/>
                </a:solidFill>
                <a:latin typeface="Lato"/>
              </a:defRPr>
            </a:pPr>
            <a:r>
              <a:rPr>
                <a:ea typeface="Microsoft JhengHei"/>
              </a:rPr>
              <a:t>Vocabulary and method</a:t>
            </a:r>
          </a:p>
        </p:txBody>
      </p:sp>
      <p:sp>
        <p:nvSpPr>
          <p:cNvPr id="14" name="TextBox 13"/>
          <p:cNvSpPr txBox="1"/>
          <p:nvPr/>
        </p:nvSpPr>
        <p:spPr>
          <a:xfrm>
            <a:off x="733425" y="4133849"/>
            <a:ext cx="6191250" cy="3810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Radich’s curated strings</a:t>
            </a:r>
          </a:p>
        </p:txBody>
      </p:sp>
      <p:sp>
        <p:nvSpPr>
          <p:cNvPr id="15" name="TextBox 14"/>
          <p:cNvSpPr txBox="1"/>
          <p:nvPr/>
        </p:nvSpPr>
        <p:spPr>
          <a:xfrm>
            <a:off x="733425" y="4781550"/>
            <a:ext cx="6191250" cy="333375"/>
          </a:xfrm>
          <a:prstGeom prst="rect">
            <a:avLst/>
          </a:prstGeom>
          <a:noFill/>
        </p:spPr>
        <p:txBody>
          <a:bodyPr wrap="square" lIns="0" rIns="0" tIns="0" bIns="0">
            <a:spAutoFit/>
          </a:bodyPr>
          <a:lstStyle/>
          <a:p>
            <a:pPr>
              <a:lnSpc>
                <a:spcPct val="118000"/>
              </a:lnSpc>
              <a:spcBef>
                <a:spcPts val="0"/>
              </a:spcBef>
              <a:spcAft>
                <a:spcPts val="0"/>
              </a:spcAft>
              <a:defRPr sz="2100" b="1">
                <a:solidFill>
                  <a:srgbClr val="126B85"/>
                </a:solidFill>
                <a:latin typeface="Lato"/>
              </a:defRPr>
            </a:pPr>
            <a:r>
              <a:rPr>
                <a:ea typeface="Microsoft JhengHei"/>
              </a:rPr>
              <a:t>All comparison groups, ranked</a:t>
            </a:r>
          </a:p>
        </p:txBody>
      </p:sp>
      <p:sp>
        <p:nvSpPr>
          <p:cNvPr id="16" name="TextBox 15"/>
          <p:cNvSpPr txBox="1"/>
          <p:nvPr/>
        </p:nvSpPr>
        <p:spPr>
          <a:xfrm>
            <a:off x="733425" y="5276850"/>
            <a:ext cx="619125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Rank     Group     Score relative to leader</a:t>
            </a:r>
          </a:p>
        </p:txBody>
      </p:sp>
      <p:sp>
        <p:nvSpPr>
          <p:cNvPr id="17" name="TextBox 16"/>
          <p:cNvSpPr txBox="1"/>
          <p:nvPr/>
        </p:nvSpPr>
        <p:spPr>
          <a:xfrm>
            <a:off x="7962900" y="2305050"/>
            <a:ext cx="3476625" cy="288607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Select the strings</a:t>
            </a:r>
          </a:p>
          <a:p>
            <a:pPr>
              <a:lnSpc>
                <a:spcPct val="118000"/>
              </a:lnSpc>
              <a:spcBef>
                <a:spcPts val="0"/>
              </a:spcBef>
              <a:spcAft>
                <a:spcPts val="0"/>
              </a:spcAft>
              <a:defRPr sz="2400" b="0">
                <a:solidFill>
                  <a:srgbClr val="24384A"/>
                </a:solidFill>
                <a:latin typeface="Lato"/>
              </a:defRPr>
            </a:pPr>
          </a:p>
          <a:p>
            <a:pPr>
              <a:lnSpc>
                <a:spcPct val="118000"/>
              </a:lnSpc>
              <a:spcBef>
                <a:spcPts val="0"/>
              </a:spcBef>
              <a:spcAft>
                <a:spcPts val="0"/>
              </a:spcAft>
              <a:defRPr sz="2400" b="0">
                <a:solidFill>
                  <a:srgbClr val="24384A"/>
                </a:solidFill>
                <a:latin typeface="Lato"/>
              </a:defRPr>
            </a:pPr>
            <a:r>
              <a:rPr>
                <a:ea typeface="Microsoft JhengHei"/>
              </a:rPr>
              <a:t>Read the ranked groups</a:t>
            </a:r>
          </a:p>
          <a:p>
            <a:pPr>
              <a:lnSpc>
                <a:spcPct val="118000"/>
              </a:lnSpc>
              <a:spcBef>
                <a:spcPts val="0"/>
              </a:spcBef>
              <a:spcAft>
                <a:spcPts val="0"/>
              </a:spcAft>
              <a:defRPr sz="2400" b="0">
                <a:solidFill>
                  <a:srgbClr val="24384A"/>
                </a:solidFill>
                <a:latin typeface="Lato"/>
              </a:defRPr>
            </a:pPr>
          </a:p>
          <a:p>
            <a:pPr>
              <a:lnSpc>
                <a:spcPct val="118000"/>
              </a:lnSpc>
              <a:spcBef>
                <a:spcPts val="0"/>
              </a:spcBef>
              <a:spcAft>
                <a:spcPts val="0"/>
              </a:spcAft>
              <a:defRPr sz="2400" b="0">
                <a:solidFill>
                  <a:srgbClr val="24384A"/>
                </a:solidFill>
                <a:latin typeface="Lato"/>
              </a:defRPr>
            </a:pPr>
            <a:r>
              <a:rPr>
                <a:ea typeface="Microsoft JhengHei"/>
              </a:rPr>
              <a:t>Inspect the wording behind the scores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Analysis · controlled exclusion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Repeat T0603 without its commentary</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19</a:t>
            </a:r>
          </a:p>
        </p:txBody>
      </p:sp>
      <p:sp>
        <p:nvSpPr>
          <p:cNvPr id="6" name="TextBox 5"/>
          <p:cNvSpPr txBox="1"/>
          <p:nvPr/>
        </p:nvSpPr>
        <p:spPr>
          <a:xfrm>
            <a:off x="523874" y="1905000"/>
            <a:ext cx="10953750" cy="66675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T1694 belongs to “Other material before Dharmarakṣa” in this catalogue.</a:t>
            </a:r>
          </a:p>
        </p:txBody>
      </p:sp>
      <p:sp>
        <p:nvSpPr>
          <p:cNvPr id="7" name="Rectangle 6"/>
          <p:cNvSpPr/>
          <p:nvPr/>
        </p:nvSpPr>
        <p:spPr>
          <a:xfrm>
            <a:off x="523874" y="2857500"/>
            <a:ext cx="5476875" cy="2352675"/>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3425" y="3028950"/>
            <a:ext cx="5048250" cy="381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With T1694</a:t>
            </a:r>
          </a:p>
        </p:txBody>
      </p:sp>
      <p:sp>
        <p:nvSpPr>
          <p:cNvPr id="9" name="TextBox 8"/>
          <p:cNvSpPr txBox="1"/>
          <p:nvPr/>
        </p:nvSpPr>
        <p:spPr>
          <a:xfrm>
            <a:off x="733425" y="3629025"/>
            <a:ext cx="5048250" cy="82867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Other material before</a:t>
            </a:r>
          </a:p>
          <a:p>
            <a:pPr>
              <a:lnSpc>
                <a:spcPct val="118000"/>
              </a:lnSpc>
              <a:spcBef>
                <a:spcPts val="0"/>
              </a:spcBef>
              <a:spcAft>
                <a:spcPts val="0"/>
              </a:spcAft>
              <a:defRPr sz="2600" b="0">
                <a:solidFill>
                  <a:srgbClr val="24384A"/>
                </a:solidFill>
                <a:latin typeface="Lato"/>
              </a:defRPr>
            </a:pPr>
            <a:r>
              <a:rPr>
                <a:ea typeface="Microsoft JhengHei"/>
              </a:rPr>
              <a:t>Dharmarakṣa 竺法護</a:t>
            </a:r>
          </a:p>
        </p:txBody>
      </p:sp>
      <p:sp>
        <p:nvSpPr>
          <p:cNvPr id="10" name="TextBox 9"/>
          <p:cNvSpPr txBox="1"/>
          <p:nvPr/>
        </p:nvSpPr>
        <p:spPr>
          <a:xfrm>
            <a:off x="733425" y="4676775"/>
            <a:ext cx="5048250" cy="4286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Lead over next group: 1.696</a:t>
            </a:r>
          </a:p>
        </p:txBody>
      </p:sp>
      <p:sp>
        <p:nvSpPr>
          <p:cNvPr id="11" name="Rectangle 10"/>
          <p:cNvSpPr/>
          <p:nvPr/>
        </p:nvSpPr>
        <p:spPr>
          <a:xfrm>
            <a:off x="6477000" y="2857500"/>
            <a:ext cx="5476875" cy="2352675"/>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86550" y="3028950"/>
            <a:ext cx="5048250" cy="381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Without T1694</a:t>
            </a:r>
          </a:p>
        </p:txBody>
      </p:sp>
      <p:sp>
        <p:nvSpPr>
          <p:cNvPr id="13" name="TextBox 12"/>
          <p:cNvSpPr txBox="1"/>
          <p:nvPr/>
        </p:nvSpPr>
        <p:spPr>
          <a:xfrm>
            <a:off x="6686550" y="3629025"/>
            <a:ext cx="5048250" cy="82867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An Shigao 安世高</a:t>
            </a:r>
          </a:p>
        </p:txBody>
      </p:sp>
      <p:sp>
        <p:nvSpPr>
          <p:cNvPr id="14" name="TextBox 13"/>
          <p:cNvSpPr txBox="1"/>
          <p:nvPr/>
        </p:nvSpPr>
        <p:spPr>
          <a:xfrm>
            <a:off x="6686550" y="4676775"/>
            <a:ext cx="5048250" cy="4286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Lead over next group: 0.096</a:t>
            </a:r>
          </a:p>
        </p:txBody>
      </p:sp>
      <p:sp>
        <p:nvSpPr>
          <p:cNvPr id="15" name="TextBox 14"/>
          <p:cNvSpPr txBox="1"/>
          <p:nvPr/>
        </p:nvSpPr>
        <p:spPr>
          <a:xfrm>
            <a:off x="523874" y="5495925"/>
            <a:ext cx="10906125" cy="74295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Removing the later commentary brings the prediction into agreement with the accepted attribution.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Interpretation · Findings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Read the proposal and its alternatives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20</a:t>
            </a:r>
          </a:p>
        </p:txBody>
      </p:sp>
      <p:sp>
        <p:nvSpPr>
          <p:cNvPr id="6" name="Rectangle 5"/>
          <p:cNvSpPr/>
          <p:nvPr/>
        </p:nvSpPr>
        <p:spPr>
          <a:xfrm>
            <a:off x="523874" y="2000250"/>
            <a:ext cx="7000875" cy="3905249"/>
          </a:xfrm>
          <a:prstGeom prst="rect">
            <a:avLst/>
          </a:prstGeom>
          <a:solidFill>
            <a:srgbClr val="FFFFFF"/>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23874" y="2000250"/>
            <a:ext cx="7000875" cy="457200"/>
          </a:xfrm>
          <a:prstGeom prst="rect">
            <a:avLst/>
          </a:prstGeom>
          <a:solidFill>
            <a:srgbClr val="EDF4F7"/>
          </a:solidFill>
          <a:ln w="12700">
            <a:solidFill>
              <a:srgbClr val="D2DA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6750" y="2114550"/>
            <a:ext cx="762000" cy="238125"/>
          </a:xfrm>
          <a:prstGeom prst="rect">
            <a:avLst/>
          </a:prstGeom>
          <a:noFill/>
        </p:spPr>
        <p:txBody>
          <a:bodyPr wrap="square" lIns="0" rIns="0" tIns="0" bIns="0">
            <a:spAutoFit/>
          </a:bodyPr>
          <a:lstStyle/>
          <a:p>
            <a:pPr>
              <a:lnSpc>
                <a:spcPct val="118000"/>
              </a:lnSpc>
              <a:spcBef>
                <a:spcPts val="0"/>
              </a:spcBef>
              <a:spcAft>
                <a:spcPts val="0"/>
              </a:spcAft>
              <a:defRPr sz="1500" b="1">
                <a:solidFill>
                  <a:srgbClr val="24384A"/>
                </a:solidFill>
                <a:latin typeface="Lato"/>
              </a:defRPr>
            </a:pPr>
            <a:r>
              <a:rPr>
                <a:ea typeface="Microsoft JhengHei"/>
              </a:rPr>
              <a:t>Cohort</a:t>
            </a:r>
          </a:p>
        </p:txBody>
      </p:sp>
      <p:sp>
        <p:nvSpPr>
          <p:cNvPr id="9" name="TextBox 8"/>
          <p:cNvSpPr txBox="1"/>
          <p:nvPr/>
        </p:nvSpPr>
        <p:spPr>
          <a:xfrm>
            <a:off x="1619250" y="2124075"/>
            <a:ext cx="5762625" cy="247649"/>
          </a:xfrm>
          <a:prstGeom prst="rect">
            <a:avLst/>
          </a:prstGeom>
          <a:noFill/>
        </p:spPr>
        <p:txBody>
          <a:bodyPr wrap="square" lIns="0" rIns="0" tIns="0" bIns="0">
            <a:spAutoFit/>
          </a:bodyPr>
          <a:lstStyle/>
          <a:p>
            <a:pPr>
              <a:lnSpc>
                <a:spcPct val="118000"/>
              </a:lnSpc>
              <a:spcBef>
                <a:spcPts val="0"/>
              </a:spcBef>
              <a:spcAft>
                <a:spcPts val="0"/>
              </a:spcAft>
              <a:defRPr sz="1400" b="0">
                <a:solidFill>
                  <a:srgbClr val="526778"/>
                </a:solidFill>
                <a:latin typeface="Lato"/>
              </a:defRPr>
            </a:pPr>
            <a:r>
              <a:rPr>
                <a:ea typeface="Microsoft JhengHei"/>
              </a:rPr>
              <a:t>Graph    Findings    Corpus    Evidence    Inquiry</a:t>
            </a:r>
          </a:p>
        </p:txBody>
      </p:sp>
      <p:sp>
        <p:nvSpPr>
          <p:cNvPr id="10" name="TextBox 9"/>
          <p:cNvSpPr txBox="1"/>
          <p:nvPr/>
        </p:nvSpPr>
        <p:spPr>
          <a:xfrm>
            <a:off x="733425" y="2638425"/>
            <a:ext cx="6581775" cy="333375"/>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Findings</a:t>
            </a:r>
          </a:p>
        </p:txBody>
      </p:sp>
      <p:sp>
        <p:nvSpPr>
          <p:cNvPr id="11" name="TextBox 10"/>
          <p:cNvSpPr txBox="1"/>
          <p:nvPr/>
        </p:nvSpPr>
        <p:spPr>
          <a:xfrm>
            <a:off x="714375" y="6057900"/>
            <a:ext cx="6619875" cy="19050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Interface diagram</a:t>
            </a:r>
          </a:p>
        </p:txBody>
      </p:sp>
      <p:sp>
        <p:nvSpPr>
          <p:cNvPr id="12" name="TextBox 11"/>
          <p:cNvSpPr txBox="1"/>
          <p:nvPr/>
        </p:nvSpPr>
        <p:spPr>
          <a:xfrm>
            <a:off x="733425" y="3095625"/>
            <a:ext cx="5715000" cy="381000"/>
          </a:xfrm>
          <a:prstGeom prst="rect">
            <a:avLst/>
          </a:prstGeom>
          <a:noFill/>
        </p:spPr>
        <p:txBody>
          <a:bodyPr wrap="square" lIns="0" rIns="0" tIns="0" bIns="0">
            <a:spAutoFit/>
          </a:bodyPr>
          <a:lstStyle/>
          <a:p>
            <a:pPr>
              <a:lnSpc>
                <a:spcPct val="118000"/>
              </a:lnSpc>
              <a:spcBef>
                <a:spcPts val="0"/>
              </a:spcBef>
              <a:spcAft>
                <a:spcPts val="0"/>
              </a:spcAft>
              <a:defRPr sz="2400" b="1">
                <a:solidFill>
                  <a:srgbClr val="24384A"/>
                </a:solidFill>
                <a:latin typeface="Lato"/>
              </a:defRPr>
            </a:pPr>
            <a:r>
              <a:rPr>
                <a:ea typeface="Microsoft JhengHei"/>
              </a:rPr>
              <a:t>Claim or conjecture</a:t>
            </a:r>
          </a:p>
        </p:txBody>
      </p:sp>
      <p:sp>
        <p:nvSpPr>
          <p:cNvPr id="13" name="TextBox 12"/>
          <p:cNvSpPr txBox="1"/>
          <p:nvPr/>
        </p:nvSpPr>
        <p:spPr>
          <a:xfrm>
            <a:off x="733425" y="3562350"/>
            <a:ext cx="5715000" cy="333375"/>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Status: read the recorded state</a:t>
            </a:r>
          </a:p>
        </p:txBody>
      </p:sp>
      <p:sp>
        <p:nvSpPr>
          <p:cNvPr id="14" name="TextBox 13"/>
          <p:cNvSpPr txBox="1"/>
          <p:nvPr/>
        </p:nvSpPr>
        <p:spPr>
          <a:xfrm>
            <a:off x="733425" y="4124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How the proposal was reached</a:t>
            </a:r>
          </a:p>
        </p:txBody>
      </p:sp>
      <p:sp>
        <p:nvSpPr>
          <p:cNvPr id="15" name="TextBox 14"/>
          <p:cNvSpPr txBox="1"/>
          <p:nvPr/>
        </p:nvSpPr>
        <p:spPr>
          <a:xfrm>
            <a:off x="733425" y="4505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Material examined</a:t>
            </a:r>
          </a:p>
        </p:txBody>
      </p:sp>
      <p:sp>
        <p:nvSpPr>
          <p:cNvPr id="16" name="TextBox 15"/>
          <p:cNvSpPr txBox="1"/>
          <p:nvPr/>
        </p:nvSpPr>
        <p:spPr>
          <a:xfrm>
            <a:off x="733425" y="4886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Other possible explanations</a:t>
            </a:r>
          </a:p>
        </p:txBody>
      </p:sp>
      <p:sp>
        <p:nvSpPr>
          <p:cNvPr id="17" name="TextBox 16"/>
          <p:cNvSpPr txBox="1"/>
          <p:nvPr/>
        </p:nvSpPr>
        <p:spPr>
          <a:xfrm>
            <a:off x="733425" y="5267325"/>
            <a:ext cx="6096000" cy="342900"/>
          </a:xfrm>
          <a:prstGeom prst="rect">
            <a:avLst/>
          </a:prstGeom>
          <a:noFill/>
        </p:spPr>
        <p:txBody>
          <a:bodyPr wrap="square" lIns="0" rIns="0" tIns="0" bIns="0">
            <a:spAutoFit/>
          </a:bodyPr>
          <a:lstStyle/>
          <a:p>
            <a:pPr>
              <a:lnSpc>
                <a:spcPct val="118000"/>
              </a:lnSpc>
              <a:spcBef>
                <a:spcPts val="0"/>
              </a:spcBef>
              <a:spcAft>
                <a:spcPts val="0"/>
              </a:spcAft>
              <a:defRPr sz="1900" b="0">
                <a:solidFill>
                  <a:srgbClr val="126B85"/>
                </a:solidFill>
                <a:latin typeface="Lato"/>
              </a:defRPr>
            </a:pPr>
            <a:r>
              <a:rPr>
                <a:ea typeface="Microsoft JhengHei"/>
              </a:rPr>
              <a:t>Cited passages</a:t>
            </a:r>
          </a:p>
        </p:txBody>
      </p:sp>
      <p:sp>
        <p:nvSpPr>
          <p:cNvPr id="18" name="TextBox 17"/>
          <p:cNvSpPr txBox="1"/>
          <p:nvPr/>
        </p:nvSpPr>
        <p:spPr>
          <a:xfrm>
            <a:off x="7962900" y="2343150"/>
            <a:ext cx="3467100" cy="29813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Expand one proposal</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Compare its explanation with the sources</a:t>
            </a:r>
          </a:p>
          <a:p>
            <a:pPr>
              <a:lnSpc>
                <a:spcPct val="118000"/>
              </a:lnSpc>
              <a:spcBef>
                <a:spcPts val="0"/>
              </a:spcBef>
              <a:spcAft>
                <a:spcPts val="0"/>
              </a:spcAft>
              <a:defRPr sz="2300" b="0">
                <a:solidFill>
                  <a:srgbClr val="24384A"/>
                </a:solidFill>
                <a:latin typeface="Lato"/>
              </a:defRPr>
            </a:pPr>
          </a:p>
          <a:p>
            <a:pPr>
              <a:lnSpc>
                <a:spcPct val="118000"/>
              </a:lnSpc>
              <a:spcBef>
                <a:spcPts val="0"/>
              </a:spcBef>
              <a:spcAft>
                <a:spcPts val="0"/>
              </a:spcAft>
              <a:defRPr sz="2300" b="0">
                <a:solidFill>
                  <a:srgbClr val="24384A"/>
                </a:solidFill>
                <a:latin typeface="Lato"/>
              </a:defRPr>
            </a:pPr>
            <a:r>
              <a:rPr>
                <a:ea typeface="Microsoft JhengHei"/>
              </a:rPr>
              <a:t>Follow a citation into Graph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Provenance · Graph</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Follow a proposal back to its sources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21</a:t>
            </a:r>
          </a:p>
        </p:txBody>
      </p:sp>
      <p:sp>
        <p:nvSpPr>
          <p:cNvPr id="6" name="Oval 5"/>
          <p:cNvSpPr/>
          <p:nvPr/>
        </p:nvSpPr>
        <p:spPr>
          <a:xfrm>
            <a:off x="762000" y="2905125"/>
            <a:ext cx="1285875" cy="904875"/>
          </a:xfrm>
          <a:prstGeom prst="ellipse">
            <a:avLst/>
          </a:prstGeom>
          <a:solidFill>
            <a:srgbClr val="EDF4F7"/>
          </a:solidFill>
          <a:ln w="12700">
            <a:solidFill>
              <a:srgbClr val="52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4095750"/>
            <a:ext cx="1905000" cy="428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Source</a:t>
            </a:r>
          </a:p>
        </p:txBody>
      </p:sp>
      <p:sp>
        <p:nvSpPr>
          <p:cNvPr id="8" name="Rectangle 7"/>
          <p:cNvSpPr/>
          <p:nvPr/>
        </p:nvSpPr>
        <p:spPr>
          <a:xfrm>
            <a:off x="3343275" y="2905125"/>
            <a:ext cx="1285875" cy="904875"/>
          </a:xfrm>
          <a:prstGeom prst="rect">
            <a:avLst/>
          </a:prstGeom>
          <a:solidFill>
            <a:srgbClr val="EDF4F7"/>
          </a:solidFill>
          <a:ln w="12700">
            <a:solidFill>
              <a:srgbClr val="52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8025" y="4095750"/>
            <a:ext cx="1905000" cy="428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Passage</a:t>
            </a:r>
          </a:p>
        </p:txBody>
      </p:sp>
      <p:sp>
        <p:nvSpPr>
          <p:cNvPr id="10" name="Diamond 9"/>
          <p:cNvSpPr/>
          <p:nvPr/>
        </p:nvSpPr>
        <p:spPr>
          <a:xfrm>
            <a:off x="6315075" y="2762250"/>
            <a:ext cx="1381125" cy="1181100"/>
          </a:xfrm>
          <a:prstGeom prst="diamond">
            <a:avLst/>
          </a:prstGeom>
          <a:solidFill>
            <a:srgbClr val="EDF4F7"/>
          </a:solidFill>
          <a:ln w="12700">
            <a:solidFill>
              <a:srgbClr val="126B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57900" y="4095750"/>
            <a:ext cx="2428875" cy="809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Claim or</a:t>
            </a:r>
          </a:p>
          <a:p>
            <a:pPr>
              <a:lnSpc>
                <a:spcPct val="118000"/>
              </a:lnSpc>
              <a:spcBef>
                <a:spcPts val="0"/>
              </a:spcBef>
              <a:spcAft>
                <a:spcPts val="0"/>
              </a:spcAft>
              <a:defRPr sz="2200" b="0">
                <a:solidFill>
                  <a:srgbClr val="24384A"/>
                </a:solidFill>
                <a:latin typeface="Lato"/>
              </a:defRPr>
            </a:pPr>
            <a:r>
              <a:rPr>
                <a:ea typeface="Microsoft JhengHei"/>
              </a:rPr>
              <a:t>conjecture</a:t>
            </a:r>
          </a:p>
        </p:txBody>
      </p:sp>
      <p:sp>
        <p:nvSpPr>
          <p:cNvPr id="12" name="5-Point Star 11"/>
          <p:cNvSpPr/>
          <p:nvPr/>
        </p:nvSpPr>
        <p:spPr>
          <a:xfrm>
            <a:off x="9525000" y="2705100"/>
            <a:ext cx="1362075" cy="1238250"/>
          </a:xfrm>
          <a:prstGeom prst="star5">
            <a:avLst/>
          </a:prstGeom>
          <a:solidFill>
            <a:srgbClr val="F4EEF5"/>
          </a:solidFill>
          <a:ln w="12700">
            <a:solidFill>
              <a:srgbClr val="9C24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05925" y="4095750"/>
            <a:ext cx="2476500" cy="80962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Research</a:t>
            </a:r>
          </a:p>
          <a:p>
            <a:pPr>
              <a:lnSpc>
                <a:spcPct val="118000"/>
              </a:lnSpc>
              <a:spcBef>
                <a:spcPts val="0"/>
              </a:spcBef>
              <a:spcAft>
                <a:spcPts val="0"/>
              </a:spcAft>
              <a:defRPr sz="2200" b="0">
                <a:solidFill>
                  <a:srgbClr val="24384A"/>
                </a:solidFill>
                <a:latin typeface="Lato"/>
              </a:defRPr>
            </a:pPr>
            <a:r>
              <a:rPr>
                <a:ea typeface="Microsoft JhengHei"/>
              </a:rPr>
              <a:t>question</a:t>
            </a:r>
          </a:p>
        </p:txBody>
      </p:sp>
      <p:cxnSp>
        <p:nvCxnSpPr>
          <p:cNvPr id="14" name="Connector 13"/>
          <p:cNvCxnSpPr/>
          <p:nvPr/>
        </p:nvCxnSpPr>
        <p:spPr>
          <a:xfrm flipH="1">
            <a:off x="2124075" y="3333750"/>
            <a:ext cx="11906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33600" y="2857500"/>
            <a:ext cx="1162050"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526778"/>
                </a:solidFill>
                <a:latin typeface="Lato"/>
              </a:defRPr>
            </a:pPr>
            <a:r>
              <a:rPr>
                <a:ea typeface="Microsoft JhengHei"/>
              </a:rPr>
              <a:t>part_of</a:t>
            </a:r>
          </a:p>
        </p:txBody>
      </p:sp>
      <p:cxnSp>
        <p:nvCxnSpPr>
          <p:cNvPr id="16" name="Connector 15"/>
          <p:cNvCxnSpPr/>
          <p:nvPr/>
        </p:nvCxnSpPr>
        <p:spPr>
          <a:xfrm>
            <a:off x="4667250" y="3333750"/>
            <a:ext cx="1571625" cy="0"/>
          </a:xfrm>
          <a:prstGeom prst="line">
            <a:avLst/>
          </a:prstGeom>
          <a:ln w="19050">
            <a:solidFill>
              <a:srgbClr val="126B85"/>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95875" y="2857500"/>
            <a:ext cx="1238250"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126B85"/>
                </a:solidFill>
                <a:latin typeface="Lato"/>
              </a:defRPr>
            </a:pPr>
            <a:r>
              <a:rPr>
                <a:ea typeface="Microsoft JhengHei"/>
              </a:rPr>
              <a:t>attests</a:t>
            </a:r>
          </a:p>
        </p:txBody>
      </p:sp>
      <p:cxnSp>
        <p:nvCxnSpPr>
          <p:cNvPr id="18" name="Connector 17"/>
          <p:cNvCxnSpPr/>
          <p:nvPr/>
        </p:nvCxnSpPr>
        <p:spPr>
          <a:xfrm>
            <a:off x="7781924" y="3333750"/>
            <a:ext cx="1638300" cy="0"/>
          </a:xfrm>
          <a:prstGeom prst="line">
            <a:avLst/>
          </a:prstGeom>
          <a:ln w="19050">
            <a:solidFill>
              <a:srgbClr val="9C2469"/>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86725" y="2857500"/>
            <a:ext cx="1476375" cy="314325"/>
          </a:xfrm>
          <a:prstGeom prst="rect">
            <a:avLst/>
          </a:prstGeom>
          <a:noFill/>
        </p:spPr>
        <p:txBody>
          <a:bodyPr wrap="square" lIns="0" rIns="0" tIns="0" bIns="0">
            <a:spAutoFit/>
          </a:bodyPr>
          <a:lstStyle/>
          <a:p>
            <a:pPr>
              <a:lnSpc>
                <a:spcPct val="118000"/>
              </a:lnSpc>
              <a:spcBef>
                <a:spcPts val="0"/>
              </a:spcBef>
              <a:spcAft>
                <a:spcPts val="0"/>
              </a:spcAft>
              <a:defRPr sz="1600" b="0">
                <a:solidFill>
                  <a:srgbClr val="9C2469"/>
                </a:solidFill>
                <a:latin typeface="Lato"/>
              </a:defRPr>
            </a:pPr>
            <a:r>
              <a:rPr>
                <a:ea typeface="Microsoft JhengHei"/>
              </a:rPr>
              <a:t>addresses</a:t>
            </a:r>
          </a:p>
        </p:txBody>
      </p:sp>
      <p:sp>
        <p:nvSpPr>
          <p:cNvPr id="20" name="TextBox 19"/>
          <p:cNvSpPr txBox="1"/>
          <p:nvPr/>
        </p:nvSpPr>
        <p:spPr>
          <a:xfrm>
            <a:off x="523874" y="5476875"/>
            <a:ext cx="10810875" cy="61912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Select a record to inspect its worker, model, citations and checks.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Human expertise · Graph</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Separate citation checks from researcher decisions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22</a:t>
            </a:r>
          </a:p>
        </p:txBody>
      </p:sp>
      <p:sp>
        <p:nvSpPr>
          <p:cNvPr id="6" name="TextBox 5"/>
          <p:cNvSpPr txBox="1"/>
          <p:nvPr/>
        </p:nvSpPr>
        <p:spPr>
          <a:xfrm>
            <a:off x="523874" y="2152650"/>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Span verification</a:t>
            </a:r>
          </a:p>
        </p:txBody>
      </p:sp>
      <p:sp>
        <p:nvSpPr>
          <p:cNvPr id="7" name="TextBox 6"/>
          <p:cNvSpPr txBox="1"/>
          <p:nvPr/>
        </p:nvSpPr>
        <p:spPr>
          <a:xfrm>
            <a:off x="4000500" y="2152650"/>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Was the quotation found in the source?</a:t>
            </a:r>
          </a:p>
        </p:txBody>
      </p:sp>
      <p:sp>
        <p:nvSpPr>
          <p:cNvPr id="8" name="TextBox 7"/>
          <p:cNvSpPr txBox="1"/>
          <p:nvPr/>
        </p:nvSpPr>
        <p:spPr>
          <a:xfrm>
            <a:off x="523874" y="3190875"/>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Review</a:t>
            </a:r>
          </a:p>
        </p:txBody>
      </p:sp>
      <p:sp>
        <p:nvSpPr>
          <p:cNvPr id="9" name="TextBox 8"/>
          <p:cNvSpPr txBox="1"/>
          <p:nvPr/>
        </p:nvSpPr>
        <p:spPr>
          <a:xfrm>
            <a:off x="4000500" y="3190875"/>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What did a separate agent check and report?</a:t>
            </a:r>
          </a:p>
        </p:txBody>
      </p:sp>
      <p:sp>
        <p:nvSpPr>
          <p:cNvPr id="10" name="TextBox 9"/>
          <p:cNvSpPr txBox="1"/>
          <p:nvPr/>
        </p:nvSpPr>
        <p:spPr>
          <a:xfrm>
            <a:off x="523874" y="4229100"/>
            <a:ext cx="3143250" cy="92392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Researcher decision</a:t>
            </a:r>
          </a:p>
        </p:txBody>
      </p:sp>
      <p:sp>
        <p:nvSpPr>
          <p:cNvPr id="11" name="TextBox 10"/>
          <p:cNvSpPr txBox="1"/>
          <p:nvPr/>
        </p:nvSpPr>
        <p:spPr>
          <a:xfrm>
            <a:off x="4000500" y="4229100"/>
            <a:ext cx="7667624" cy="9239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Should this particular record be accepted or rejected?</a:t>
            </a:r>
          </a:p>
        </p:txBody>
      </p:sp>
      <p:sp>
        <p:nvSpPr>
          <p:cNvPr id="12" name="TextBox 11"/>
          <p:cNvSpPr txBox="1"/>
          <p:nvPr/>
        </p:nvSpPr>
        <p:spPr>
          <a:xfrm>
            <a:off x="523874" y="5581650"/>
            <a:ext cx="10858500" cy="571500"/>
          </a:xfrm>
          <a:prstGeom prst="rect">
            <a:avLst/>
          </a:prstGeom>
          <a:noFill/>
        </p:spPr>
        <p:txBody>
          <a:bodyPr wrap="square" lIns="0" rIns="0" tIns="0" bIns="0">
            <a:spAutoFit/>
          </a:bodyPr>
          <a:lstStyle/>
          <a:p>
            <a:pPr>
              <a:lnSpc>
                <a:spcPct val="118000"/>
              </a:lnSpc>
              <a:spcBef>
                <a:spcPts val="0"/>
              </a:spcBef>
              <a:spcAft>
                <a:spcPts val="0"/>
              </a:spcAft>
              <a:defRPr sz="2400" b="0">
                <a:solidFill>
                  <a:srgbClr val="526778"/>
                </a:solidFill>
                <a:latin typeface="Lato"/>
              </a:defRPr>
            </a:pPr>
            <a:r>
              <a:rPr>
                <a:ea typeface="Microsoft JhengHei"/>
              </a:rPr>
              <a:t>Accepting a passage does not accept every claim connected to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Further investigation · Graph and Evidence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Ask for an explanation of the current view</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23</a:t>
            </a:r>
          </a:p>
        </p:txBody>
      </p:sp>
      <p:sp>
        <p:nvSpPr>
          <p:cNvPr id="6" name="TextBox 5"/>
          <p:cNvSpPr txBox="1"/>
          <p:nvPr/>
        </p:nvSpPr>
        <p:spPr>
          <a:xfrm>
            <a:off x="523874" y="2238375"/>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Analyze this view</a:t>
            </a:r>
          </a:p>
        </p:txBody>
      </p:sp>
      <p:sp>
        <p:nvSpPr>
          <p:cNvPr id="7" name="TextBox 6"/>
          <p:cNvSpPr txBox="1"/>
          <p:nvPr/>
        </p:nvSpPr>
        <p:spPr>
          <a:xfrm>
            <a:off x="4000500" y="2238375"/>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Open the side panel; choose a model</a:t>
            </a:r>
          </a:p>
        </p:txBody>
      </p:sp>
      <p:sp>
        <p:nvSpPr>
          <p:cNvPr id="8" name="TextBox 7"/>
          <p:cNvSpPr txBox="1"/>
          <p:nvPr/>
        </p:nvSpPr>
        <p:spPr>
          <a:xfrm>
            <a:off x="523874" y="3219450"/>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Start analysis</a:t>
            </a:r>
          </a:p>
        </p:txBody>
      </p:sp>
      <p:sp>
        <p:nvSpPr>
          <p:cNvPr id="9" name="TextBox 8"/>
          <p:cNvSpPr txBox="1"/>
          <p:nvPr/>
        </p:nvSpPr>
        <p:spPr>
          <a:xfrm>
            <a:off x="4000500" y="3219450"/>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Inspect records, retrieve passages and repeat comparisons</a:t>
            </a:r>
          </a:p>
        </p:txBody>
      </p:sp>
      <p:sp>
        <p:nvSpPr>
          <p:cNvPr id="10" name="TextBox 9"/>
          <p:cNvSpPr txBox="1"/>
          <p:nvPr/>
        </p:nvSpPr>
        <p:spPr>
          <a:xfrm>
            <a:off x="523874" y="4200525"/>
            <a:ext cx="3143250" cy="8667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Saved analyses</a:t>
            </a:r>
          </a:p>
        </p:txBody>
      </p:sp>
      <p:sp>
        <p:nvSpPr>
          <p:cNvPr id="11" name="TextBox 10"/>
          <p:cNvSpPr txBox="1"/>
          <p:nvPr/>
        </p:nvSpPr>
        <p:spPr>
          <a:xfrm>
            <a:off x="4000500" y="4200525"/>
            <a:ext cx="7667624" cy="8667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Reopen the explanation and its actions</a:t>
            </a:r>
          </a:p>
        </p:txBody>
      </p:sp>
      <p:sp>
        <p:nvSpPr>
          <p:cNvPr id="12" name="TextBox 11"/>
          <p:cNvSpPr txBox="1"/>
          <p:nvPr/>
        </p:nvSpPr>
        <p:spPr>
          <a:xfrm>
            <a:off x="523874" y="5514975"/>
            <a:ext cx="10763250" cy="733425"/>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The analyst cannot modify graph records. Its explanation refers to the selected snapshot.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Diachronic digital humanities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Historical information and measured results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24</a:t>
            </a:r>
          </a:p>
        </p:txBody>
      </p:sp>
      <p:sp>
        <p:nvSpPr>
          <p:cNvPr id="6" name="TextBox 5"/>
          <p:cNvSpPr txBox="1"/>
          <p:nvPr/>
        </p:nvSpPr>
        <p:spPr>
          <a:xfrm>
            <a:off x="523874" y="2276475"/>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From scholarship</a:t>
            </a:r>
          </a:p>
        </p:txBody>
      </p:sp>
      <p:sp>
        <p:nvSpPr>
          <p:cNvPr id="7" name="TextBox 6"/>
          <p:cNvSpPr txBox="1"/>
          <p:nvPr/>
        </p:nvSpPr>
        <p:spPr>
          <a:xfrm>
            <a:off x="4190999" y="2276475"/>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Attributions, approximate dates and the commentary relationship</a:t>
            </a:r>
          </a:p>
        </p:txBody>
      </p:sp>
      <p:sp>
        <p:nvSpPr>
          <p:cNvPr id="8" name="TextBox 7"/>
          <p:cNvSpPr txBox="1"/>
          <p:nvPr/>
        </p:nvSpPr>
        <p:spPr>
          <a:xfrm>
            <a:off x="523874" y="3390900"/>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From Cohort</a:t>
            </a:r>
          </a:p>
        </p:txBody>
      </p:sp>
      <p:sp>
        <p:nvSpPr>
          <p:cNvPr id="9" name="TextBox 8"/>
          <p:cNvSpPr txBox="1"/>
          <p:nvPr/>
        </p:nvSpPr>
        <p:spPr>
          <a:xfrm>
            <a:off x="4190999" y="3390900"/>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Located passages, shared wording and the effect of excluding a source</a:t>
            </a:r>
          </a:p>
        </p:txBody>
      </p:sp>
      <p:sp>
        <p:nvSpPr>
          <p:cNvPr id="10" name="TextBox 9"/>
          <p:cNvSpPr txBox="1"/>
          <p:nvPr/>
        </p:nvSpPr>
        <p:spPr>
          <a:xfrm>
            <a:off x="523874" y="4505325"/>
            <a:ext cx="3143250" cy="923925"/>
          </a:xfrm>
          <a:prstGeom prst="rect">
            <a:avLst/>
          </a:prstGeom>
          <a:noFill/>
        </p:spPr>
        <p:txBody>
          <a:bodyPr wrap="square" lIns="0" rIns="0" tIns="0" bIns="0">
            <a:spAutoFit/>
          </a:bodyPr>
          <a:lstStyle/>
          <a:p>
            <a:pPr>
              <a:lnSpc>
                <a:spcPct val="118000"/>
              </a:lnSpc>
              <a:spcBef>
                <a:spcPts val="0"/>
              </a:spcBef>
              <a:spcAft>
                <a:spcPts val="0"/>
              </a:spcAft>
              <a:defRPr sz="2400" b="1">
                <a:solidFill>
                  <a:srgbClr val="126B85"/>
                </a:solidFill>
                <a:latin typeface="Lato"/>
              </a:defRPr>
            </a:pPr>
            <a:r>
              <a:rPr>
                <a:ea typeface="Microsoft JhengHei"/>
              </a:rPr>
              <a:t>Further research</a:t>
            </a:r>
          </a:p>
        </p:txBody>
      </p:sp>
      <p:sp>
        <p:nvSpPr>
          <p:cNvPr id="11" name="TextBox 10"/>
          <p:cNvSpPr txBox="1"/>
          <p:nvPr/>
        </p:nvSpPr>
        <p:spPr>
          <a:xfrm>
            <a:off x="4190999" y="4505325"/>
            <a:ext cx="7143750" cy="9239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Whether the wording supports an ascription, revision or reuse hypothesis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Discussion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Research tasks to develop with scholars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25</a:t>
            </a:r>
          </a:p>
        </p:txBody>
      </p:sp>
      <p:sp>
        <p:nvSpPr>
          <p:cNvPr id="6" name="TextBox 5"/>
          <p:cNvSpPr txBox="1"/>
          <p:nvPr/>
        </p:nvSpPr>
        <p:spPr>
          <a:xfrm>
            <a:off x="523874" y="23717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Find useful parallels</a:t>
            </a:r>
          </a:p>
        </p:txBody>
      </p:sp>
      <p:sp>
        <p:nvSpPr>
          <p:cNvPr id="7" name="TextBox 6"/>
          <p:cNvSpPr txBox="1"/>
          <p:nvPr/>
        </p:nvSpPr>
        <p:spPr>
          <a:xfrm>
            <a:off x="4000500" y="23717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Which retrieved passages deserve close reading?</a:t>
            </a:r>
          </a:p>
        </p:txBody>
      </p:sp>
      <p:sp>
        <p:nvSpPr>
          <p:cNvPr id="8" name="TextBox 7"/>
          <p:cNvSpPr txBox="1"/>
          <p:nvPr/>
        </p:nvSpPr>
        <p:spPr>
          <a:xfrm>
            <a:off x="523874" y="34385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Test a comparison</a:t>
            </a:r>
          </a:p>
        </p:txBody>
      </p:sp>
      <p:sp>
        <p:nvSpPr>
          <p:cNvPr id="9" name="TextBox 8"/>
          <p:cNvSpPr txBox="1"/>
          <p:nvPr/>
        </p:nvSpPr>
        <p:spPr>
          <a:xfrm>
            <a:off x="4000500" y="34385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Does it persist across genre, length and source exclusions?</a:t>
            </a:r>
          </a:p>
        </p:txBody>
      </p:sp>
      <p:sp>
        <p:nvSpPr>
          <p:cNvPr id="10" name="TextBox 9"/>
          <p:cNvSpPr txBox="1"/>
          <p:nvPr/>
        </p:nvSpPr>
        <p:spPr>
          <a:xfrm>
            <a:off x="523874" y="4505325"/>
            <a:ext cx="3143250" cy="9525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Assess an ascription</a:t>
            </a:r>
          </a:p>
        </p:txBody>
      </p:sp>
      <p:sp>
        <p:nvSpPr>
          <p:cNvPr id="11" name="TextBox 10"/>
          <p:cNvSpPr txBox="1"/>
          <p:nvPr/>
        </p:nvSpPr>
        <p:spPr>
          <a:xfrm>
            <a:off x="4000500" y="4505325"/>
            <a:ext cx="7667624"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Which observations could distinguish competing explanations?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Evidence settings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Choosing a vocabulary</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26</a:t>
            </a:r>
          </a:p>
        </p:txBody>
      </p:sp>
      <p:sp>
        <p:nvSpPr>
          <p:cNvPr id="6" name="TextBox 5"/>
          <p:cNvSpPr txBox="1"/>
          <p:nvPr/>
        </p:nvSpPr>
        <p:spPr>
          <a:xfrm>
            <a:off x="523874" y="2371725"/>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Curated strings</a:t>
            </a:r>
          </a:p>
        </p:txBody>
      </p:sp>
      <p:sp>
        <p:nvSpPr>
          <p:cNvPr id="7" name="TextBox 6"/>
          <p:cNvSpPr txBox="1"/>
          <p:nvPr/>
        </p:nvSpPr>
        <p:spPr>
          <a:xfrm>
            <a:off x="4000500" y="2371725"/>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Built for work on a Dharmarakṣa dictionary; uneven coverage</a:t>
            </a:r>
          </a:p>
        </p:txBody>
      </p:sp>
      <p:sp>
        <p:nvSpPr>
          <p:cNvPr id="8" name="TextBox 7"/>
          <p:cNvSpPr txBox="1"/>
          <p:nvPr/>
        </p:nvSpPr>
        <p:spPr>
          <a:xfrm>
            <a:off x="523874" y="3429000"/>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Frequent corpus strings</a:t>
            </a:r>
          </a:p>
        </p:txBody>
      </p:sp>
      <p:sp>
        <p:nvSpPr>
          <p:cNvPr id="9" name="TextBox 8"/>
          <p:cNvSpPr txBox="1"/>
          <p:nvPr/>
        </p:nvSpPr>
        <p:spPr>
          <a:xfrm>
            <a:off x="4000500" y="3429000"/>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Selected without translator labels; can favour genre formulas</a:t>
            </a:r>
          </a:p>
        </p:txBody>
      </p:sp>
      <p:sp>
        <p:nvSpPr>
          <p:cNvPr id="10" name="TextBox 9"/>
          <p:cNvSpPr txBox="1"/>
          <p:nvPr/>
        </p:nvSpPr>
        <p:spPr>
          <a:xfrm>
            <a:off x="523874" y="4486275"/>
            <a:ext cx="3143250" cy="942975"/>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Combined lists</a:t>
            </a:r>
          </a:p>
        </p:txBody>
      </p:sp>
      <p:sp>
        <p:nvSpPr>
          <p:cNvPr id="11" name="TextBox 10"/>
          <p:cNvSpPr txBox="1"/>
          <p:nvPr/>
        </p:nvSpPr>
        <p:spPr>
          <a:xfrm>
            <a:off x="4000500" y="4486275"/>
            <a:ext cx="7667624" cy="9429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Union of both lists; their biases remain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current dataset</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comparison groups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27</a:t>
            </a:r>
          </a:p>
        </p:txBody>
      </p:sp>
      <p:sp>
        <p:nvSpPr>
          <p:cNvPr id="6" name="TextBox 5"/>
          <p:cNvSpPr txBox="1"/>
          <p:nvPr/>
        </p:nvSpPr>
        <p:spPr>
          <a:xfrm>
            <a:off x="523874" y="2028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An Shigao 安世高</a:t>
            </a:r>
          </a:p>
        </p:txBody>
      </p:sp>
      <p:sp>
        <p:nvSpPr>
          <p:cNvPr id="7" name="TextBox 6"/>
          <p:cNvSpPr txBox="1"/>
          <p:nvPr/>
        </p:nvSpPr>
        <p:spPr>
          <a:xfrm>
            <a:off x="523874" y="25622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Baoyun 寶雲</a:t>
            </a:r>
          </a:p>
        </p:txBody>
      </p:sp>
      <p:sp>
        <p:nvSpPr>
          <p:cNvPr id="8" name="TextBox 7"/>
          <p:cNvSpPr txBox="1"/>
          <p:nvPr/>
        </p:nvSpPr>
        <p:spPr>
          <a:xfrm>
            <a:off x="523874" y="30956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Buddhabhadra 佛陀跋陀羅</a:t>
            </a:r>
          </a:p>
        </p:txBody>
      </p:sp>
      <p:sp>
        <p:nvSpPr>
          <p:cNvPr id="9" name="TextBox 8"/>
          <p:cNvSpPr txBox="1"/>
          <p:nvPr/>
        </p:nvSpPr>
        <p:spPr>
          <a:xfrm>
            <a:off x="523874" y="36290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Dharmakṣema 曇無讖</a:t>
            </a:r>
          </a:p>
        </p:txBody>
      </p:sp>
      <p:sp>
        <p:nvSpPr>
          <p:cNvPr id="10" name="TextBox 9"/>
          <p:cNvSpPr txBox="1"/>
          <p:nvPr/>
        </p:nvSpPr>
        <p:spPr>
          <a:xfrm>
            <a:off x="523874" y="4162424"/>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a:t>
            </a:r>
          </a:p>
        </p:txBody>
      </p:sp>
      <p:sp>
        <p:nvSpPr>
          <p:cNvPr id="11" name="TextBox 10"/>
          <p:cNvSpPr txBox="1"/>
          <p:nvPr/>
        </p:nvSpPr>
        <p:spPr>
          <a:xfrm>
            <a:off x="523874" y="4695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Guṇabhadra 求那跋陀羅</a:t>
            </a:r>
          </a:p>
        </p:txBody>
      </p:sp>
      <p:sp>
        <p:nvSpPr>
          <p:cNvPr id="12" name="TextBox 11"/>
          <p:cNvSpPr txBox="1"/>
          <p:nvPr/>
        </p:nvSpPr>
        <p:spPr>
          <a:xfrm>
            <a:off x="6477000" y="20288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鳩摩羅什</a:t>
            </a:r>
          </a:p>
        </p:txBody>
      </p:sp>
      <p:sp>
        <p:nvSpPr>
          <p:cNvPr id="13" name="TextBox 12"/>
          <p:cNvSpPr txBox="1"/>
          <p:nvPr/>
        </p:nvSpPr>
        <p:spPr>
          <a:xfrm>
            <a:off x="6477000" y="25622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Lokakṣema 支婁迦讖</a:t>
            </a:r>
          </a:p>
        </p:txBody>
      </p:sp>
      <p:sp>
        <p:nvSpPr>
          <p:cNvPr id="14" name="TextBox 13"/>
          <p:cNvSpPr txBox="1"/>
          <p:nvPr/>
        </p:nvSpPr>
        <p:spPr>
          <a:xfrm>
            <a:off x="6477000" y="30956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Gautama Saṅghadeva 僧伽提婆</a:t>
            </a:r>
          </a:p>
        </p:txBody>
      </p:sp>
      <p:sp>
        <p:nvSpPr>
          <p:cNvPr id="15" name="TextBox 14"/>
          <p:cNvSpPr txBox="1"/>
          <p:nvPr/>
        </p:nvSpPr>
        <p:spPr>
          <a:xfrm>
            <a:off x="6477000" y="3629025"/>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Zhu Fonian 竺佛念</a:t>
            </a:r>
          </a:p>
        </p:txBody>
      </p:sp>
      <p:sp>
        <p:nvSpPr>
          <p:cNvPr id="16" name="TextBox 15"/>
          <p:cNvSpPr txBox="1"/>
          <p:nvPr/>
        </p:nvSpPr>
        <p:spPr>
          <a:xfrm>
            <a:off x="6477000" y="4162424"/>
            <a:ext cx="5572125" cy="4857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Zhi Qian 支謙</a:t>
            </a:r>
          </a:p>
        </p:txBody>
      </p:sp>
      <p:sp>
        <p:nvSpPr>
          <p:cNvPr id="17" name="TextBox 16"/>
          <p:cNvSpPr txBox="1"/>
          <p:nvPr/>
        </p:nvSpPr>
        <p:spPr>
          <a:xfrm>
            <a:off x="523874" y="5429250"/>
            <a:ext cx="11144250" cy="304800"/>
          </a:xfrm>
          <a:prstGeom prst="rect">
            <a:avLst/>
          </a:prstGeom>
          <a:noFill/>
        </p:spPr>
        <p:txBody>
          <a:bodyPr wrap="square" lIns="0" rIns="0" tIns="0" bIns="0">
            <a:spAutoFit/>
          </a:bodyPr>
          <a:lstStyle/>
          <a:p>
            <a:pPr>
              <a:lnSpc>
                <a:spcPct val="118000"/>
              </a:lnSpc>
              <a:spcBef>
                <a:spcPts val="0"/>
              </a:spcBef>
              <a:spcAft>
                <a:spcPts val="0"/>
              </a:spcAft>
              <a:defRPr sz="1700" b="1">
                <a:solidFill>
                  <a:srgbClr val="126B85"/>
                </a:solidFill>
                <a:latin typeface="Lato"/>
              </a:defRPr>
            </a:pPr>
            <a:r>
              <a:rPr>
                <a:ea typeface="Microsoft JhengHei"/>
              </a:rPr>
              <a:t>Mixed categories</a:t>
            </a:r>
          </a:p>
        </p:txBody>
      </p:sp>
      <p:sp>
        <p:nvSpPr>
          <p:cNvPr id="18" name="TextBox 17"/>
          <p:cNvSpPr txBox="1"/>
          <p:nvPr/>
        </p:nvSpPr>
        <p:spPr>
          <a:xfrm>
            <a:off x="523874" y="5810250"/>
            <a:ext cx="10953750" cy="619125"/>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Other material before Dharmarakṣa 竺法護</a:t>
            </a:r>
          </a:p>
          <a:p>
            <a:pPr>
              <a:lnSpc>
                <a:spcPct val="118000"/>
              </a:lnSpc>
              <a:spcBef>
                <a:spcPts val="0"/>
              </a:spcBef>
              <a:spcAft>
                <a:spcPts val="0"/>
              </a:spcAft>
              <a:defRPr sz="1800" b="0">
                <a:solidFill>
                  <a:srgbClr val="24384A"/>
                </a:solidFill>
                <a:latin typeface="Lato"/>
              </a:defRPr>
            </a:pPr>
            <a:r>
              <a:rPr>
                <a:ea typeface="Microsoft JhengHei"/>
              </a:rPr>
              <a:t>Material after Lokakṣema 支婁迦讖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reading the numbers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Two score displays, two scales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28</a:t>
            </a:r>
          </a:p>
        </p:txBody>
      </p:sp>
      <p:sp>
        <p:nvSpPr>
          <p:cNvPr id="6" name="TextBox 5"/>
          <p:cNvSpPr txBox="1"/>
          <p:nvPr/>
        </p:nvSpPr>
        <p:spPr>
          <a:xfrm>
            <a:off x="523874" y="2295525"/>
            <a:ext cx="4476750" cy="476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Full ranking</a:t>
            </a:r>
          </a:p>
        </p:txBody>
      </p:sp>
      <p:sp>
        <p:nvSpPr>
          <p:cNvPr id="7" name="TextBox 6"/>
          <p:cNvSpPr txBox="1"/>
          <p:nvPr/>
        </p:nvSpPr>
        <p:spPr>
          <a:xfrm>
            <a:off x="523874" y="3095625"/>
            <a:ext cx="5048250" cy="16287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Group score − highest score</a:t>
            </a:r>
          </a:p>
          <a:p>
            <a:pPr>
              <a:lnSpc>
                <a:spcPct val="118000"/>
              </a:lnSpc>
              <a:spcBef>
                <a:spcPts val="0"/>
              </a:spcBef>
              <a:spcAft>
                <a:spcPts val="0"/>
              </a:spcAft>
              <a:defRPr sz="2500" b="0">
                <a:solidFill>
                  <a:srgbClr val="24384A"/>
                </a:solidFill>
                <a:latin typeface="Lato"/>
              </a:defRPr>
            </a:pPr>
          </a:p>
          <a:p>
            <a:pPr>
              <a:lnSpc>
                <a:spcPct val="118000"/>
              </a:lnSpc>
              <a:spcBef>
                <a:spcPts val="0"/>
              </a:spcBef>
              <a:spcAft>
                <a:spcPts val="0"/>
              </a:spcAft>
              <a:defRPr sz="2500" b="0">
                <a:solidFill>
                  <a:srgbClr val="24384A"/>
                </a:solidFill>
                <a:latin typeface="Lato"/>
              </a:defRPr>
            </a:pPr>
            <a:r>
              <a:rPr>
                <a:ea typeface="Microsoft JhengHei"/>
              </a:rPr>
              <a:t>Leader = 0; others are negative</a:t>
            </a:r>
          </a:p>
        </p:txBody>
      </p:sp>
      <p:sp>
        <p:nvSpPr>
          <p:cNvPr id="8" name="TextBox 7"/>
          <p:cNvSpPr txBox="1"/>
          <p:nvPr/>
        </p:nvSpPr>
        <p:spPr>
          <a:xfrm>
            <a:off x="6705600" y="2295525"/>
            <a:ext cx="4857750" cy="476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Headline margin</a:t>
            </a:r>
          </a:p>
        </p:txBody>
      </p:sp>
      <p:sp>
        <p:nvSpPr>
          <p:cNvPr id="9" name="TextBox 8"/>
          <p:cNvSpPr txBox="1"/>
          <p:nvPr/>
        </p:nvSpPr>
        <p:spPr>
          <a:xfrm>
            <a:off x="6705600" y="3095625"/>
            <a:ext cx="4857750" cy="16287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Highest score − next score</a:t>
            </a:r>
          </a:p>
          <a:p>
            <a:pPr>
              <a:lnSpc>
                <a:spcPct val="118000"/>
              </a:lnSpc>
              <a:spcBef>
                <a:spcPts val="0"/>
              </a:spcBef>
              <a:spcAft>
                <a:spcPts val="0"/>
              </a:spcAft>
              <a:defRPr sz="2500" b="0">
                <a:solidFill>
                  <a:srgbClr val="24384A"/>
                </a:solidFill>
                <a:latin typeface="Lato"/>
              </a:defRPr>
            </a:pPr>
            <a:r>
              <a:rPr>
                <a:ea typeface="Microsoft JhengHei"/>
              </a:rPr>
              <a:t>────────────────────</a:t>
            </a:r>
          </a:p>
          <a:p>
            <a:pPr>
              <a:lnSpc>
                <a:spcPct val="118000"/>
              </a:lnSpc>
              <a:spcBef>
                <a:spcPts val="0"/>
              </a:spcBef>
              <a:spcAft>
                <a:spcPts val="0"/>
              </a:spcAft>
              <a:defRPr sz="2500" b="0">
                <a:solidFill>
                  <a:srgbClr val="24384A"/>
                </a:solidFill>
                <a:latin typeface="Lato"/>
              </a:defRPr>
            </a:pPr>
            <a:r>
              <a:rPr>
                <a:ea typeface="Microsoft JhengHei"/>
              </a:rPr>
              <a:t>Distinct matched strings</a:t>
            </a:r>
          </a:p>
        </p:txBody>
      </p:sp>
      <p:sp>
        <p:nvSpPr>
          <p:cNvPr id="10" name="TextBox 9"/>
          <p:cNvSpPr txBox="1"/>
          <p:nvPr/>
        </p:nvSpPr>
        <p:spPr>
          <a:xfrm>
            <a:off x="523874" y="5610225"/>
            <a:ext cx="11049000" cy="552450"/>
          </a:xfrm>
          <a:prstGeom prst="rect">
            <a:avLst/>
          </a:prstGeom>
          <a:noFill/>
        </p:spPr>
        <p:txBody>
          <a:bodyPr wrap="square" lIns="0" rIns="0" tIns="0" bIns="0">
            <a:spAutoFit/>
          </a:bodyPr>
          <a:lstStyle/>
          <a:p>
            <a:pPr>
              <a:lnSpc>
                <a:spcPct val="118000"/>
              </a:lnSpc>
              <a:spcBef>
                <a:spcPts val="0"/>
              </a:spcBef>
              <a:spcAft>
                <a:spcPts val="0"/>
              </a:spcAft>
              <a:defRPr sz="2500" b="0">
                <a:solidFill>
                  <a:srgbClr val="526778"/>
                </a:solidFill>
                <a:latin typeface="Lato"/>
              </a:defRPr>
            </a:pPr>
            <a:r>
              <a:rPr>
                <a:ea typeface="Microsoft JhengHei"/>
              </a:rPr>
              <a:t>Neither display gives a probability that a translator is correct.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T0453</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Another retrieval and alignment example</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29</a:t>
            </a:r>
          </a:p>
        </p:txBody>
      </p:sp>
      <p:sp>
        <p:nvSpPr>
          <p:cNvPr id="6" name="TextBox 5"/>
          <p:cNvSpPr txBox="1"/>
          <p:nvPr/>
        </p:nvSpPr>
        <p:spPr>
          <a:xfrm>
            <a:off x="523874" y="2305050"/>
            <a:ext cx="10763250" cy="1114425"/>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T0453 · Maitreya’s descent</a:t>
            </a:r>
          </a:p>
          <a:p>
            <a:pPr>
              <a:lnSpc>
                <a:spcPct val="118000"/>
              </a:lnSpc>
              <a:spcBef>
                <a:spcPts val="0"/>
              </a:spcBef>
              <a:spcAft>
                <a:spcPts val="0"/>
              </a:spcAft>
              <a:defRPr sz="2900" b="1">
                <a:solidFill>
                  <a:srgbClr val="126B85"/>
                </a:solidFill>
                <a:latin typeface="Lato"/>
              </a:defRPr>
            </a:pPr>
            <a:r>
              <a:rPr>
                <a:ea typeface="Microsoft JhengHei"/>
              </a:rPr>
              <a:t>彌勒下生經</a:t>
            </a:r>
          </a:p>
        </p:txBody>
      </p:sp>
      <p:sp>
        <p:nvSpPr>
          <p:cNvPr id="7" name="TextBox 6"/>
          <p:cNvSpPr txBox="1"/>
          <p:nvPr/>
        </p:nvSpPr>
        <p:spPr>
          <a:xfrm>
            <a:off x="523874" y="3886200"/>
            <a:ext cx="10763250" cy="11144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Known parallel in the Ekottarikāgama</a:t>
            </a:r>
          </a:p>
          <a:p>
            <a:pPr>
              <a:lnSpc>
                <a:spcPct val="118000"/>
              </a:lnSpc>
              <a:spcBef>
                <a:spcPts val="0"/>
              </a:spcBef>
              <a:spcAft>
                <a:spcPts val="0"/>
              </a:spcAft>
              <a:defRPr sz="2800" b="0">
                <a:solidFill>
                  <a:srgbClr val="24384A"/>
                </a:solidFill>
                <a:latin typeface="Lato"/>
              </a:defRPr>
            </a:pPr>
            <a:r>
              <a:rPr>
                <a:ea typeface="Microsoft JhengHei"/>
              </a:rPr>
              <a:t>增壹阿含經 · T0125, section 48.3</a:t>
            </a:r>
          </a:p>
        </p:txBody>
      </p:sp>
      <p:sp>
        <p:nvSpPr>
          <p:cNvPr id="8" name="TextBox 7"/>
          <p:cNvSpPr txBox="1"/>
          <p:nvPr/>
        </p:nvSpPr>
        <p:spPr>
          <a:xfrm>
            <a:off x="523874" y="5610225"/>
            <a:ext cx="10953750" cy="571500"/>
          </a:xfrm>
          <a:prstGeom prst="rect">
            <a:avLst/>
          </a:prstGeom>
          <a:noFill/>
        </p:spPr>
        <p:txBody>
          <a:bodyPr wrap="square" lIns="0" rIns="0" tIns="0" bIns="0">
            <a:spAutoFit/>
          </a:bodyPr>
          <a:lstStyle/>
          <a:p>
            <a:pPr>
              <a:lnSpc>
                <a:spcPct val="118000"/>
              </a:lnSpc>
              <a:spcBef>
                <a:spcPts val="0"/>
              </a:spcBef>
              <a:spcAft>
                <a:spcPts val="0"/>
              </a:spcAft>
              <a:defRPr sz="2300" b="0">
                <a:solidFill>
                  <a:srgbClr val="526778"/>
                </a:solidFill>
                <a:latin typeface="Lato"/>
              </a:defRPr>
            </a:pPr>
            <a:r>
              <a:rPr>
                <a:ea typeface="Microsoft JhengHei"/>
              </a:rPr>
              <a:t>Use the located parallel to inspect what retrieval and alignment return.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development review</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Q3: disputed Paramārtha ascriptions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30</a:t>
            </a:r>
          </a:p>
        </p:txBody>
      </p:sp>
      <p:sp>
        <p:nvSpPr>
          <p:cNvPr id="6" name="TextBox 5"/>
          <p:cNvSpPr txBox="1"/>
          <p:nvPr/>
        </p:nvSpPr>
        <p:spPr>
          <a:xfrm>
            <a:off x="523874" y="2114550"/>
            <a:ext cx="10953750" cy="1238250"/>
          </a:xfrm>
          <a:prstGeom prst="rect">
            <a:avLst/>
          </a:prstGeom>
          <a:noFill/>
        </p:spPr>
        <p:txBody>
          <a:bodyPr wrap="square" lIns="0" rIns="0" tIns="0" bIns="0">
            <a:spAutoFit/>
          </a:bodyPr>
          <a:lstStyle/>
          <a:p>
            <a:pPr>
              <a:lnSpc>
                <a:spcPct val="118000"/>
              </a:lnSpc>
              <a:spcBef>
                <a:spcPts val="0"/>
              </a:spcBef>
              <a:spcAft>
                <a:spcPts val="0"/>
              </a:spcAft>
              <a:defRPr sz="2900" b="1">
                <a:solidFill>
                  <a:srgbClr val="126B85"/>
                </a:solidFill>
                <a:latin typeface="Lato"/>
              </a:defRPr>
            </a:pPr>
            <a:r>
              <a:rPr>
                <a:ea typeface="Microsoft JhengHei"/>
              </a:rPr>
              <a:t>Do disputed texts resemble Paramārtha’s accepted translations or other textual traditions?</a:t>
            </a:r>
          </a:p>
        </p:txBody>
      </p:sp>
      <p:sp>
        <p:nvSpPr>
          <p:cNvPr id="7" name="TextBox 6"/>
          <p:cNvSpPr txBox="1"/>
          <p:nvPr/>
        </p:nvSpPr>
        <p:spPr>
          <a:xfrm>
            <a:off x="523874" y="3914775"/>
            <a:ext cx="10858500" cy="1323975"/>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Compare candidate features against benchmark and control works.</a:t>
            </a:r>
          </a:p>
          <a:p>
            <a:pPr>
              <a:lnSpc>
                <a:spcPct val="118000"/>
              </a:lnSpc>
              <a:spcBef>
                <a:spcPts val="0"/>
              </a:spcBef>
              <a:spcAft>
                <a:spcPts val="0"/>
              </a:spcAft>
              <a:defRPr sz="2500" b="0">
                <a:solidFill>
                  <a:srgbClr val="24384A"/>
                </a:solidFill>
                <a:latin typeface="Lato"/>
              </a:defRPr>
            </a:pPr>
            <a:r>
              <a:rPr>
                <a:ea typeface="Microsoft JhengHei"/>
              </a:rPr>
              <a:t>Inspect whether reuse, genre or revision explains the resemblance.</a:t>
            </a:r>
          </a:p>
        </p:txBody>
      </p:sp>
      <p:sp>
        <p:nvSpPr>
          <p:cNvPr id="8" name="TextBox 7"/>
          <p:cNvSpPr txBox="1"/>
          <p:nvPr/>
        </p:nvSpPr>
        <p:spPr>
          <a:xfrm>
            <a:off x="523874" y="5743575"/>
            <a:ext cx="10858500" cy="571500"/>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Separate development branches; results and historical explanations still need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historical orientation</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names used in the T0603 comparison</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31</a:t>
            </a:r>
          </a:p>
        </p:txBody>
      </p:sp>
      <p:sp>
        <p:nvSpPr>
          <p:cNvPr id="6" name="TextBox 5"/>
          <p:cNvSpPr txBox="1"/>
          <p:nvPr/>
        </p:nvSpPr>
        <p:spPr>
          <a:xfrm>
            <a:off x="523874" y="2266950"/>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An Shigao 安世高</a:t>
            </a:r>
          </a:p>
        </p:txBody>
      </p:sp>
      <p:sp>
        <p:nvSpPr>
          <p:cNvPr id="7" name="TextBox 6"/>
          <p:cNvSpPr txBox="1"/>
          <p:nvPr/>
        </p:nvSpPr>
        <p:spPr>
          <a:xfrm>
            <a:off x="4333875" y="2266950"/>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Second century CE; T0603 is traditionally associated with him</a:t>
            </a:r>
          </a:p>
        </p:txBody>
      </p:sp>
      <p:sp>
        <p:nvSpPr>
          <p:cNvPr id="8" name="TextBox 7"/>
          <p:cNvSpPr txBox="1"/>
          <p:nvPr/>
        </p:nvSpPr>
        <p:spPr>
          <a:xfrm>
            <a:off x="523874" y="3438525"/>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Dharmarakṣa 竺法護</a:t>
            </a:r>
          </a:p>
        </p:txBody>
      </p:sp>
      <p:sp>
        <p:nvSpPr>
          <p:cNvPr id="9" name="TextBox 8"/>
          <p:cNvSpPr txBox="1"/>
          <p:nvPr/>
        </p:nvSpPr>
        <p:spPr>
          <a:xfrm>
            <a:off x="4333875" y="3438525"/>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Late third / early fourth centuries CE; a later reference point</a:t>
            </a:r>
          </a:p>
        </p:txBody>
      </p:sp>
      <p:sp>
        <p:nvSpPr>
          <p:cNvPr id="10" name="TextBox 9"/>
          <p:cNvSpPr txBox="1"/>
          <p:nvPr/>
        </p:nvSpPr>
        <p:spPr>
          <a:xfrm>
            <a:off x="523874" y="4610100"/>
            <a:ext cx="3476625" cy="10287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T1694 · 陰持入經註</a:t>
            </a:r>
          </a:p>
        </p:txBody>
      </p:sp>
      <p:sp>
        <p:nvSpPr>
          <p:cNvPr id="11" name="TextBox 10"/>
          <p:cNvSpPr txBox="1"/>
          <p:nvPr/>
        </p:nvSpPr>
        <p:spPr>
          <a:xfrm>
            <a:off x="4333875" y="4610100"/>
            <a:ext cx="7096125" cy="10287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Commentary on T0603; assigned to the mixed pre-Dharmarakṣa group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Reference · research activities</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The research activities and their controls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32</a:t>
            </a:r>
          </a:p>
        </p:txBody>
      </p:sp>
      <p:sp>
        <p:nvSpPr>
          <p:cNvPr id="6" name="TextBox 5"/>
          <p:cNvSpPr txBox="1"/>
          <p:nvPr/>
        </p:nvSpPr>
        <p:spPr>
          <a:xfrm>
            <a:off x="523874" y="1981199"/>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Corpus retrieval</a:t>
            </a:r>
          </a:p>
        </p:txBody>
      </p:sp>
      <p:sp>
        <p:nvSpPr>
          <p:cNvPr id="7" name="TextBox 6"/>
          <p:cNvSpPr txBox="1"/>
          <p:nvPr/>
        </p:nvSpPr>
        <p:spPr>
          <a:xfrm>
            <a:off x="4000500" y="1981199"/>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Corpus search and agent retrieval tools</a:t>
            </a:r>
          </a:p>
        </p:txBody>
      </p:sp>
      <p:sp>
        <p:nvSpPr>
          <p:cNvPr id="8" name="TextBox 7"/>
          <p:cNvSpPr txBox="1"/>
          <p:nvPr/>
        </p:nvSpPr>
        <p:spPr>
          <a:xfrm>
            <a:off x="523874" y="27813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Semantic analysis</a:t>
            </a:r>
          </a:p>
        </p:txBody>
      </p:sp>
      <p:sp>
        <p:nvSpPr>
          <p:cNvPr id="9" name="TextBox 8"/>
          <p:cNvSpPr txBox="1"/>
          <p:nvPr/>
        </p:nvSpPr>
        <p:spPr>
          <a:xfrm>
            <a:off x="4000500" y="27813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Semantic neighbours and wording comparisons</a:t>
            </a:r>
          </a:p>
        </p:txBody>
      </p:sp>
      <p:sp>
        <p:nvSpPr>
          <p:cNvPr id="10" name="TextBox 9"/>
          <p:cNvSpPr txBox="1"/>
          <p:nvPr/>
        </p:nvSpPr>
        <p:spPr>
          <a:xfrm>
            <a:off x="523874" y="35814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Alignment</a:t>
            </a:r>
          </a:p>
        </p:txBody>
      </p:sp>
      <p:sp>
        <p:nvSpPr>
          <p:cNvPr id="11" name="TextBox 10"/>
          <p:cNvSpPr txBox="1"/>
          <p:nvPr/>
        </p:nvSpPr>
        <p:spPr>
          <a:xfrm>
            <a:off x="4000500" y="35814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Shared passages with source positions</a:t>
            </a:r>
          </a:p>
        </p:txBody>
      </p:sp>
      <p:sp>
        <p:nvSpPr>
          <p:cNvPr id="12" name="TextBox 11"/>
          <p:cNvSpPr txBox="1"/>
          <p:nvPr/>
        </p:nvSpPr>
        <p:spPr>
          <a:xfrm>
            <a:off x="523874" y="43815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Interpretation</a:t>
            </a:r>
          </a:p>
        </p:txBody>
      </p:sp>
      <p:sp>
        <p:nvSpPr>
          <p:cNvPr id="13" name="TextBox 12"/>
          <p:cNvSpPr txBox="1"/>
          <p:nvPr/>
        </p:nvSpPr>
        <p:spPr>
          <a:xfrm>
            <a:off x="4000500" y="43815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in Findings; read-only AI analysis</a:t>
            </a:r>
          </a:p>
        </p:txBody>
      </p:sp>
      <p:sp>
        <p:nvSpPr>
          <p:cNvPr id="14" name="TextBox 13"/>
          <p:cNvSpPr txBox="1"/>
          <p:nvPr/>
        </p:nvSpPr>
        <p:spPr>
          <a:xfrm>
            <a:off x="523874" y="5181600"/>
            <a:ext cx="3143250" cy="685800"/>
          </a:xfrm>
          <a:prstGeom prst="rect">
            <a:avLst/>
          </a:prstGeom>
          <a:noFill/>
        </p:spPr>
        <p:txBody>
          <a:bodyPr wrap="square" lIns="0" rIns="0" tIns="0" bIns="0">
            <a:spAutoFit/>
          </a:bodyPr>
          <a:lstStyle/>
          <a:p>
            <a:pPr>
              <a:lnSpc>
                <a:spcPct val="118000"/>
              </a:lnSpc>
              <a:spcBef>
                <a:spcPts val="0"/>
              </a:spcBef>
              <a:spcAft>
                <a:spcPts val="0"/>
              </a:spcAft>
              <a:defRPr sz="2300" b="1">
                <a:solidFill>
                  <a:srgbClr val="126B85"/>
                </a:solidFill>
                <a:latin typeface="Lato"/>
              </a:defRPr>
            </a:pPr>
            <a:r>
              <a:rPr>
                <a:ea typeface="Microsoft JhengHei"/>
              </a:rPr>
              <a:t>Provenance and decisions</a:t>
            </a:r>
          </a:p>
        </p:txBody>
      </p:sp>
      <p:sp>
        <p:nvSpPr>
          <p:cNvPr id="15" name="TextBox 14"/>
          <p:cNvSpPr txBox="1"/>
          <p:nvPr/>
        </p:nvSpPr>
        <p:spPr>
          <a:xfrm>
            <a:off x="4000500" y="5181600"/>
            <a:ext cx="7667624" cy="6858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Graph records, checks and researcher actions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each tab works</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Corpus</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Exact search, stored-vector retrieval and shared wording.</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Vocabulary comparison</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String counts scored against catalogue-labelled groups.</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Inquiry</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 worker calls tools; a separate reviewer checks proposals.</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Findings</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Read saved proposals, citations and checks.</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Graph</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links and record researcher decisions.</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Which model does what?</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Embedder</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mitra-qwen35-embedder (identified by the index filename).</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Passage retrieval</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Cosine similarity between stored passage vectors.</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Worker</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Chooses tools and writes proposals. See Inquiry for its model.</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Reviewer</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 different model family records checks on proposals.</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No embedding call</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Exact search, vocabulary rankings and graph display.</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r>
              <a:rPr>
                <a:ea typeface="Microsoft JhengHei"/>
              </a:rPr>
              <a:t>Technical reference</a:t>
            </a: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Reading the Graph arrows</a:t>
            </a:r>
          </a:p>
        </p:txBody>
      </p:sp>
      <p:sp>
        <p:nvSpPr>
          <p:cNvPr id="4" name="TextBox 3"/>
          <p:cNvSpPr txBox="1"/>
          <p:nvPr/>
        </p:nvSpPr>
        <p:spPr>
          <a:xfrm>
            <a:off x="523874" y="1981199"/>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Witness → Passage</a:t>
            </a:r>
          </a:p>
        </p:txBody>
      </p:sp>
      <p:sp>
        <p:nvSpPr>
          <p:cNvPr id="5" name="TextBox 4"/>
          <p:cNvSpPr txBox="1"/>
          <p:nvPr/>
        </p:nvSpPr>
        <p:spPr>
          <a:xfrm>
            <a:off x="4000500" y="1981199"/>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contains: the passage belongs to this source.</a:t>
            </a:r>
          </a:p>
        </p:txBody>
      </p:sp>
      <p:sp>
        <p:nvSpPr>
          <p:cNvPr id="6" name="TextBox 5"/>
          <p:cNvSpPr txBox="1"/>
          <p:nvPr/>
        </p:nvSpPr>
        <p:spPr>
          <a:xfrm>
            <a:off x="523874" y="27813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Passage → Proposal</a:t>
            </a:r>
          </a:p>
        </p:txBody>
      </p:sp>
      <p:sp>
        <p:nvSpPr>
          <p:cNvPr id="7" name="TextBox 6"/>
          <p:cNvSpPr txBox="1"/>
          <p:nvPr/>
        </p:nvSpPr>
        <p:spPr>
          <a:xfrm>
            <a:off x="4000500" y="27813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attests: the passage is offered as support.</a:t>
            </a:r>
          </a:p>
        </p:txBody>
      </p:sp>
      <p:sp>
        <p:nvSpPr>
          <p:cNvPr id="8" name="TextBox 7"/>
          <p:cNvSpPr txBox="1"/>
          <p:nvPr/>
        </p:nvSpPr>
        <p:spPr>
          <a:xfrm>
            <a:off x="523874" y="35814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Query → Proposal</a:t>
            </a:r>
          </a:p>
        </p:txBody>
      </p:sp>
      <p:sp>
        <p:nvSpPr>
          <p:cNvPr id="9" name="TextBox 8"/>
          <p:cNvSpPr txBox="1"/>
          <p:nvPr/>
        </p:nvSpPr>
        <p:spPr>
          <a:xfrm>
            <a:off x="4000500" y="35814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searched for: a search used to prepare the proposal.</a:t>
            </a:r>
          </a:p>
        </p:txBody>
      </p:sp>
      <p:sp>
        <p:nvSpPr>
          <p:cNvPr id="10" name="TextBox 9"/>
          <p:cNvSpPr txBox="1"/>
          <p:nvPr/>
        </p:nvSpPr>
        <p:spPr>
          <a:xfrm>
            <a:off x="523874" y="43815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Query → Conjecture</a:t>
            </a:r>
          </a:p>
        </p:txBody>
      </p:sp>
      <p:sp>
        <p:nvSpPr>
          <p:cNvPr id="11" name="TextBox 10"/>
          <p:cNvSpPr txBox="1"/>
          <p:nvPr/>
        </p:nvSpPr>
        <p:spPr>
          <a:xfrm>
            <a:off x="4000500" y="43815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tests: a planned check; inspect whether it was run.</a:t>
            </a:r>
          </a:p>
        </p:txBody>
      </p:sp>
      <p:sp>
        <p:nvSpPr>
          <p:cNvPr id="12" name="TextBox 11"/>
          <p:cNvSpPr txBox="1"/>
          <p:nvPr/>
        </p:nvSpPr>
        <p:spPr>
          <a:xfrm>
            <a:off x="523874" y="5181600"/>
            <a:ext cx="3238500" cy="723900"/>
          </a:xfrm>
          <a:prstGeom prst="rect">
            <a:avLst/>
          </a:prstGeom>
          <a:noFill/>
        </p:spPr>
        <p:txBody>
          <a:bodyPr wrap="square" lIns="0" rIns="0" tIns="0" bIns="0">
            <a:spAutoFit/>
          </a:bodyPr>
          <a:lstStyle/>
          <a:p>
            <a:pPr>
              <a:lnSpc>
                <a:spcPct val="118000"/>
              </a:lnSpc>
              <a:spcBef>
                <a:spcPts val="0"/>
              </a:spcBef>
              <a:spcAft>
                <a:spcPts val="0"/>
              </a:spcAft>
              <a:defRPr sz="2200" b="1">
                <a:solidFill>
                  <a:srgbClr val="126B85"/>
                </a:solidFill>
                <a:latin typeface="Lato"/>
              </a:defRPr>
            </a:pPr>
            <a:r>
              <a:rPr>
                <a:ea typeface="Microsoft JhengHei"/>
              </a:rPr>
              <a:t>Proposal → Question</a:t>
            </a:r>
          </a:p>
        </p:txBody>
      </p:sp>
      <p:sp>
        <p:nvSpPr>
          <p:cNvPr id="13" name="TextBox 12"/>
          <p:cNvSpPr txBox="1"/>
          <p:nvPr/>
        </p:nvSpPr>
        <p:spPr>
          <a:xfrm>
            <a:off x="4000500" y="5181600"/>
            <a:ext cx="7667624" cy="72390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addresses: the question this proposal concerns.</a:t>
            </a:r>
          </a:p>
        </p:txBody>
      </p:sp>
      <p:sp>
        <p:nvSpPr>
          <p:cNvPr id="14" name="TextBox 1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15" name="TextBox 14"/>
          <p:cNvSpPr txBox="1"/>
          <p:nvPr/>
        </p:nvSpPr>
        <p:spPr>
          <a:xfrm>
            <a:off x="11239500" y="6438900"/>
            <a:ext cx="457200" cy="238125"/>
          </a:xfrm>
          <a:prstGeom prst="rect">
            <a:avLst/>
          </a:prstGeom>
          <a:noFill/>
        </p:spPr>
        <p:txBody>
          <a:bodyPr wrap="square" lIns="0" rIns="0" tIns="0" bIns="0">
            <a:spAutoFit/>
          </a:bodyPr>
          <a:lstStyle/>
          <a:p>
            <a:pPr>
              <a:lnSpc>
                <a:spcPct val="118000"/>
              </a:lnSpc>
              <a:spcBef>
                <a:spcPts val="0"/>
              </a:spcBef>
              <a:spcAft>
                <a:spcPts val="0"/>
              </a:spcAft>
              <a:defRPr sz="1200" b="0">
                <a:solidFill>
                  <a:srgbClr val="526778"/>
                </a:solidFill>
                <a:latin typeface="Lato"/>
              </a:defRPr>
            </a:pPr>
            <a:r>
              <a:rPr>
                <a:ea typeface="Microsoft JhengHei"/>
              </a:rPr>
              <a:t>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