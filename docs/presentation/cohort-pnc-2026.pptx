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Cohort helps researchers find passages, compare them and keep a record of the investigation.</a:t>
            </a:r>
          </a:p>
          <a:p/>
          <a:p>
            <a:r>
              <a:t>NEXT: Thank Michael Radich and introduce the data.</a:t>
            </a:r>
          </a:p>
          <a:p/>
          <a:p>
            <a:r>
              <a:t>BACKGROUND</a:t>
            </a:r>
          </a:p>
          <a:p>
            <a:r>
              <a:t>Opening. Authors: Shu-Kai Hsieh, Da-Chen Lian, Chunki Lim and Lang-Ching Yeh. All are affiliated with the Graduate Institute of Linguistics, National Taiwan University. Shu-Kai Hsieh and Da-Chen Lian also list the Humanistic-AI lab, College of Liberal Arts, National Taiwan University. Affiliations follow the supplied abstract; name spellings follow the presenter’s correction. This is a presentation of working research tools, with a bounded example, not a claim to solve translator ascription.</a:t>
            </a:r>
          </a:p>
          <a:p/>
          <a:p>
            <a:r>
              <a:t>The title is **Agent-Based Infrastructures for Diachronic Digital Humanities**. Present the software through the activities named in the abstract: retrieve corpus material, analyse it, align passages, develop interpretations, preserve provenance, and let researchers make decisions.</a:t>
            </a:r>
          </a:p>
          <a:p/>
          <a:p>
            <a:r>
              <a:t>A plain opening you can use:</a:t>
            </a:r>
          </a:p>
          <a:p/>
          <a:p>
            <a:r>
              <a:t>&gt; Cohort lets a researcher ask agents to find and compare passages, then inspect their proposals and sources. I’ll show the tools, the records they produce, and the decisions the researcher can make. Our examples use early Chinese Buddhist texts and a question about translator ascriptions.</a:t>
            </a:r>
          </a:p>
          <a:p/>
          <a:p>
            <a:r>
              <a:t>An **ascription** assigns a text to a translator. The broader research question is whether computational evidence can help assess those assignments. This presentation does not identify an unknown translator. It shows the operations available for investigating that question.</a:t>
            </a:r>
          </a:p>
          <a:p/>
          <a:p>
            <a:r>
              <a:t>Michael Radich supplied the corpus, working catalogue labels and curated string list used in the comparison. Acknowledge that contribution when introducing the material. The talk concerns Cohort’s infrastructure; it does not report a completed solution to his research programme.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Thank you to Michael Radich for sharing the material that made these examples possible.</a:t>
            </a:r>
          </a:p>
          <a:p/>
          <a:p>
            <a:r>
              <a:t>NEXT: Introduce the functions.</a:t>
            </a:r>
          </a:p>
          <a:p/>
          <a:p>
            <a:r>
              <a:t>BACKGROUND</a:t>
            </a:r>
          </a:p>
          <a:p>
            <a:r>
              <a:t>Explain the restriction before presenting a ranking. CBETA is much larger than this dataset. The counts below come from the current selection ledger, before target withholding.</a:t>
            </a:r>
          </a:p>
          <a:p/>
          <a:p>
            <a:r>
              <a:t>CBETA is the wider electronic collection. The running instance’s Corpus reader is configured for Radich’s local text collection, derived from CBETA. It is not a search across everything available on CBETA Online. The **CBETA ↗** link opens an external edition separately.</a:t>
            </a:r>
          </a:p>
          <a:p/>
          <a:p>
            <a:r>
              <a:t>Vocabulary comparison uses a still narrower selection from the supplied catalogue to build comparison profiles. A **profile** is a table of string counts for one group. The groups are inherited catalogue labels, not clusters discovered by an AI.</a:t>
            </a:r>
          </a:p>
          <a:p/>
          <a:p>
            <a:r>
              <a:t>The current selection ledger reports **368 corpus units in 13 comparison groups** before withholding the target’s work or additional texts. Eleven group labels name translators. Two collect material by historical category. A unit may be a short work or a chapter of a larger work, so 368 units does not mean 368 independent books.</a:t>
            </a:r>
          </a:p>
          <a:p/>
          <a:p>
            <a:r>
              <a:t>To qualify initially, a labelled unit must have at least 2,000 Chinese characters, and a group must have at least five qualifying units. Texts marked as having an uncertain translator are excluded from these reference profiles. Their wording supplies the frequent-string vocabulary instead. Missing text files and rejected units are counted in the selection ledger.</a:t>
            </a:r>
          </a:p>
          <a:p/>
          <a:p>
            <a:r>
              <a:t>These are implementation choices for this experiment. They do not establish that the remaining groups are equally representative or that their inherited ascriptions are infallible. After withholding, some groups can have little material left; the interface flags these as thin. Groups with no usable profile are listed as not judged.</a:t>
            </a:r>
          </a:p>
          <a:p/>
          <a:p>
            <a:r>
              <a:t>Say:</a:t>
            </a:r>
          </a:p>
          <a:p/>
          <a:p>
            <a:r>
              <a:t>&gt; The ranking compares this text against the groups available in this dataset. A translator absent from those groups cannot appear in the answer.</a:t>
            </a:r>
          </a:p>
          <a:p/>
          <a:p>
            <a:r>
              <a:t>The catalogue has more labels than the ranked list. “Thirteen groups” describes the usable comparison profiles, not the number of translators in Buddhist history or the size of CBETA.</a:t>
            </a:r>
          </a:p>
          <a:p/>
          <a:p>
            <a:r>
              <a:t>Radich supplied the research corpus derived from CBETA, its working catalogue labels, and the short-string list assembled for Dharmarakṣa vocabulary research. Cohort computes profiles, rankings, alignments and embedding retrieval results. Do not attribute those computed results to him.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are the functions I’ll show: search, comparison and an agent investigation.</a:t>
            </a:r>
          </a:p>
          <a:p/>
          <a:p>
            <a:r>
              <a:t>NEXT: Introduce the two example research questions.</a:t>
            </a:r>
          </a:p>
          <a:p/>
          <a:p>
            <a:r>
              <a:t>BACKGROUND</a:t>
            </a:r>
          </a:p>
          <a:p>
            <a:r>
              <a:t>Follow the abstract’s retrieval, semantic analysis, alignment, interpretation and provenance activities. Do not tour every control now; the application will supply the examples. The worker language model chooses tools; the frozen embedding vectors support related-passage retrieval. Neither alignment nor vocabulary scoring uses embeddings.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We’re approaching this as tool builders. These are two questions we think are worth exploring with specialists.</a:t>
            </a:r>
          </a:p>
          <a:p/>
          <a:p>
            <a:r>
              <a:t>NEXT: Switch to the application on the Cohort slide.</a:t>
            </a:r>
          </a:p>
          <a:p/>
          <a:p>
            <a:r>
              <a:t>BACKGROUND</a:t>
            </a:r>
          </a:p>
          <a:p>
            <a:r>
              <a:t>Introduce the Lotus Sūtra by name, not just its catalogue IDs. T0263 is Dharmarakṣa’s 正法華經; T0262 is Kumārajīva’s 妙法蓮華經. Our indexed units omit particular separately catalogued sections: these are not complete editions. The T0603 case is a known commentary relationship, not a new attribution. Acknowledge Michael Radich’s corpus, labels and string list. T0263 catalogue: https://dazangthings.nz/cbc/text/398/ .</a:t>
            </a:r>
          </a:p>
          <a:p/>
          <a:p>
            <a:r>
              <a:t>The Lotus Sūtra is a Buddhist scripture preserved in different Chinese translations. T0603 is the Yin chi ru jing 陰持入經, a text about body, mind and senses. T1694 is its commentary. Say the names and relationship before using the IDs. These are our practical example questions; do not attribute this exact wording to Radich. We are not resolving an unknown translator ascription.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I’ll start with finding a related passage, then compare vocabulary, then open a saved investigation.</a:t>
            </a:r>
          </a:p>
          <a:p/>
          <a:p>
            <a:r>
              <a:t>NEXT: Return to Results after the application walkthrough.</a:t>
            </a:r>
          </a:p>
          <a:p/>
          <a:p>
            <a:r>
              <a:t>BACKGROUND</a:t>
            </a:r>
          </a:p>
          <a:p>
            <a:r>
              <a:t>Switch to the light interface here. Spend approximately 4 minutes retrieving the Lotus Sūtra example, 5 on vocabulary and the T0603 exclusion, 4 on a saved inquiry and one finding, and 3 on provenance and researcher controls. These are planned times. Do not wait for a new language-model run. Return to the slides for the last six minutes. Read the walkthrough for exact inputs and interpretation. The reference diagrams are fallback material, not a second walkthrough.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methods give us different things: candidate passages, vocabulary rankings and a way to test exclusions.</a:t>
            </a:r>
          </a:p>
          <a:p/>
          <a:p>
            <a:r>
              <a:t>NEXT: Explain the limitations.</a:t>
            </a:r>
          </a:p>
          <a:p/>
          <a:p>
            <a:r>
              <a:t>BACKGROUND</a:t>
            </a:r>
          </a:p>
          <a:p>
            <a:r>
              <a:t>The first count concerns T0263-rest and T0262-exDevadatta, not every passage in complete editions. Nearest means first under vector similarity among indexed other works. This is an illustrative case selected after inspecting outputs, not a retrieval accuracy benchmark. Vocabulary excludes the target’s entire Taishō work, but other dependence and genre effects remain. Reverse control: T0262-exDevadatta ranks with Dharmakṣema under both vocabularies, not its catalogue label Kumārajīva. Mention that failure verbally: agreement for one example does not validate attribution. Measurements: scripts/check_method_examples.py; docs/presentation/method-examples.json.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tools help us inspect the material. They do not settle the historical interpretation.</a:t>
            </a:r>
          </a:p>
          <a:p/>
          <a:p>
            <a:r>
              <a:t>NEXT: End the presentation.</a:t>
            </a:r>
          </a:p>
          <a:p/>
          <a:p>
            <a:r>
              <a:t>BACKGROUND</a:t>
            </a:r>
          </a:p>
          <a:p>
            <a:r>
              <a:t>Close on the concrete division of labour. No scheduled audience Q&amp;A. We have shown retrieval, comparison and a record of investigation. We have not validated translator attribution, inferred dates or proved a transmission genealogy. Training overlap is unknown: the embedding model card describes Buddhist Chinese training but does not identify CBETA texts. The index lacks a recorded model revision and source hashes at generation time; its UI discloses that. The present source spans can be read and checked. Stop after the final point.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selected passage is on the left; related results scroll on the right. This is the stored-embedding mode, not exact-phrase search. Source text is hidden in the screenshot. Use this slide as backup rather than repeating the live walkthrough.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compares a text against pooled groups using string counts, not embeddings. Use the live view for exclusions. Source passages are hidden in the screenshot. Use this slide as backup rather than repeating the live walkthrough.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distinction between a research question and research instructions. The screenshot shows an unsent draft; no new model run was started. Run history was hidden for this capture. Use this slide as backup rather than repeating the live walkthrough.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saved proposals, not established conclusions. The conjecture review found weaknesses; do not imply attested means correct. No proposal was accepted for the screenshot. Use this slide as backup rather than repeating the live walkthrough.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Follow records and their relationships. Source-passage labels and query phrases are hidden in this screenshot; graph records and topology are otherwise unchanged. Use this slide as backup rather than repeating the live walkthrough.</a:t>
            </a:r>
          </a:p>
          <a:p/>
          <a:p>
            <a:r>
              <a:t>### Why a query can point straight to a proposal</a:t>
            </a:r>
          </a:p>
          <a:p/>
          <a:p>
            <a:r>
              <a:t>There is no required Query → Witness → Passage → Hypothesis chain. The graph records different relationships:</a:t>
            </a:r>
          </a:p>
          <a:p/>
          <a:p>
            <a:r>
              <a:t>- Witness → Passage, labelled **contains**: where the passage comes from. Internally, this is stored in the reverse direction as `part_of`.</a:t>
            </a:r>
          </a:p>
          <a:p>
            <a:r>
              <a:t>- Passage → Claim or conjecture, labelled **attests**: the passage is cited as support.</a:t>
            </a:r>
          </a:p>
          <a:p>
            <a:r>
              <a:t>- Query → Claim or conjecture, labelled **searched for**: a search ran while preparing that proposal.</a:t>
            </a:r>
          </a:p>
          <a:p>
            <a:r>
              <a:t>- Query → Conjecture, labelled **tests**: the author recorded a query and an expected result for a later test. This link alone does not mean the test ran or passed.</a:t>
            </a:r>
          </a:p>
          <a:p>
            <a:r>
              <a:t>- Claim or conjecture → Research question, labelled **addresses**: which question the proposal concerns.</a:t>
            </a:r>
          </a:p>
          <a:p/>
          <a:p>
            <a:r>
              <a:t>For a claim, the proposal tool runs a grounding search and saves its phrase and hit count. It refuses the claim if there are no hits. It does not automatically save each hit as a witness or passage, or link the query to those hits. Citation gathering is a separate operation. A hit therefore shows that wording was found; it does not establish that the proposed interpretation follows from it.</a:t>
            </a:r>
          </a:p>
          <a:p/>
          <a:p>
            <a:r>
              <a:t>For a conjecture, the tool records an earlier search under “prior art” and a separate proposed test. Here “prior art” means a corpus search made before proposing the conjecture, not a search of published scholarship.</a:t>
            </a:r>
          </a:p>
          <a:p/>
          <a:p>
            <a:r>
              <a:t>The UI uses “hypothesis” as a heading for claims and conjectures. A conjecture is not a container assembled from claim nodes. Read its own citations, explanation and proposed test.</a:t>
            </a:r>
          </a:p>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historical question here, before the interface. Radich’s Q1 concerns translator ascriptions for uncertain texts. This is a narrower methodological question adapted from it: which shared wording helps assess a translator, and which comes from later textual reuse? T0603 is attributed to An Shigao in modern scholarship; its later commentary, T1694, supplies a known relationship against which to examine the calculation. We are not answering an unknown ascription. The later commentary can pull an earlier text toward the group containing the commentary because the ranking counts wording without inferring its chronology. Dates and the commentary relationship come from scholarship; the tools measure similarity and overlap. Keep the original question about uncertain ascriptions as the motivation, rather than claiming this example answers Q1.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Corpus. Use the suggested opening formula. Inspect one result and explain corpus order. Investigate this passage prepares a question; it does not launch an agent.</a:t>
            </a:r>
          </a:p>
          <a:p/>
          <a:p>
            <a:r>
              <a:t>Diagram: Corpus controls](diagrams/corpus.svg)</a:t>
            </a:r>
          </a:p>
          <a:p/>
          <a:p>
            <a:r>
              <a:t>1. Select **Corpus**.</a:t>
            </a:r>
          </a:p>
          <a:p>
            <a:r>
              <a:t>2. Click **Opening formula · 如是我聞**, or type an exact phrase. This familiar opening is often translated as “Thus have I heard.” It is useful for explaining why an ordinary shared expression does not identify a translator.</a:t>
            </a:r>
          </a:p>
          <a:p>
            <a:r>
              <a:t>3. Read the result count and ordering. If the list is cut off, narrow the search. The first entries are in corpus order, not ranked by relevance.</a:t>
            </a:r>
          </a:p>
          <a:p>
            <a:r>
              <a:t>4. Open one result to read its context. **Show/hide TEI markup** changes the reading display. Do not calculate citation offsets from the markup-stripped view.</a:t>
            </a:r>
          </a:p>
          <a:p>
            <a:r>
              <a:t>5. Click **Investigate this passage** if you want to move into Inquiry. It prepares a research question and instructions using that result; it does not start an agent or attach a new citation.</a:t>
            </a:r>
          </a:p>
          <a:p/>
          <a:p>
            <a:r>
              <a:t>You can also click **Phrase from T0603 · 多熱如是名遍** for the worked example. Explain that this phrase was taken from an earlier comparison. You are checking known wording, not asking the search box to discover a research topic.</a:t>
            </a:r>
          </a:p>
          <a:p/>
          <a:p>
            <a:r>
              <a:t>A witness is a retrieved source record. Multiple witnesses or passages may contain related or repeated material; their count is not automatically a count of independent confirmations.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shows a proposed question you can type or paste, not a claim that the existing suggestion button has been changed. Full question: Which texts share wording with T0603, and does that similarity reflect a translator’s usage or later reuse? Instructions: retrieve candidate passages; align shared wording; compare the T0603 ranking with and without T1694 while keeping vocabulary fixed; distinguish catalogue or scholarly chronology from computed overlap; state what cannot be concluded about translator identity or borrowing direction.</a:t>
            </a:r>
          </a:p>
          <a:p/>
          <a:p>
            <a:r>
              <a:t>Show the fields and a completed run. Do not start a paid run simply to fill presentation time. Point out the distinct Record question and Inquire actions.</a:t>
            </a:r>
          </a:p>
          <a:p/>
          <a:p>
            <a:r>
              <a:t>Diagram: Inquiry fields](diagrams/inquiry.svg)</a:t>
            </a:r>
          </a:p>
          <a:p/>
          <a:p>
            <a:r>
              <a:t>The two fields have different jobs:</a:t>
            </a:r>
          </a:p>
          <a:p/>
          <a:p>
            <a:r>
              <a:t>- **Research question:** what you want to find out. For example, “Which passages elsewhere in the corpus are closely related to the Yin chi ru jing (陰持入經, T0603), and what might explain those relationships?”</a:t>
            </a:r>
          </a:p>
          <a:p>
            <a:r>
              <a:t>- **Research instructions:** how you want the investigation approached and what evidence you want back. Ask for candidate passages, source references, comparisons, alternatives and limitations. These instructions guide the worker; they do not guarantee compliance or a successful answer.</a:t>
            </a:r>
          </a:p>
          <a:p/>
          <a:p>
            <a:r>
              <a:t>Suggested inputs fill the draft. **Record question** saves a question and selects it. **Inquire** starts the agents. The question becomes a star in Graph; further nodes depend on what the worker actually records.</a:t>
            </a:r>
          </a:p>
          <a:p/>
          <a:p>
            <a:r>
              <a:t>Expand **Agent roles and settings** only if discussing model configuration. A worker searches, compares and proposes. A reviewer is a separate agent, required to use a different model family, that records checks on proposals. Read the configured model names from the interface; do not assume a name from an older run describes a new run.</a:t>
            </a:r>
          </a:p>
          <a:p/>
          <a:p>
            <a:r>
              <a:t>The local session has no monetary stopping threshold or output-token cap. A worker still has a 32-turn limit and can finish earlier. A turn is an iteration of its model/tool loop, not a guarantee of a new text or finding. Switching tabs does not stop the server-side run. The stop control requests a stop after the current turn.</a:t>
            </a:r>
          </a:p>
          <a:p/>
          <a:p>
            <a:r>
              <a:t>Use **Run results** to reopen a completed run. Expand an action to show its inputs and result. New worker actions have a recorded explanation of why the worker chose that action or string. This is the model’s stated rationale, not proof that the choice was good or a transcript of its hidden reasoning. Older runs can lack these explanations.</a:t>
            </a:r>
          </a:p>
          <a:p/>
          <a:p>
            <a:r>
              <a:t>A new question need not produce a large graph. A worker can search many texts but attach only a few passages to its proposals. In Graph, **Show exploration** adds recorded search activity. Those dashed activity records are separate from evidence supporting a proposal.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saved semantic_neighbors action if available. Read its target and returned candidate IDs. Do not call this translator identification. The diagram is the tool workflow, not a new measured run.</a:t>
            </a:r>
          </a:p>
          <a:p/>
          <a:p>
            <a:r>
              <a:t>These are tools available to agents; they are not separate top-level tabs.</a:t>
            </a:r>
          </a:p>
          <a:p/>
          <a:p>
            <a:r>
              <a:t>**Semantic neighbours** searches an embedding index. An embedding is a numerical representation used to retrieve passages with similar content. It supplies candidates to inspect. It does not establish who translated a passage. A nearest neighbour is the closest among the candidates searched; that alone does not make it a useful match.</a:t>
            </a:r>
          </a:p>
          <a:p/>
          <a:p>
            <a:r>
              <a:t>**Align passages** compares two selected texts for exact shared Chinese-character sequences and returns matching runs with source positions. Normalisation removes material such as punctuation from that comparison. Shared wording can suggest reuse, a common source or a recurring formula. Its direction and historical explanation require further evidence.</a:t>
            </a:r>
          </a:p>
          <a:p/>
          <a:p>
            <a:r>
              <a:t>T0603 is the *Yin chi ru jing* 陰持入經, traditionally associated with **An Shigao 安世高**. T1694 is the *Yin chi ru jing zhu* 陰持入經註, a commentary on it. The character 註 in the title means commentary, and the relationship is identified in scholarship. Cohort did not discover the genre from a similarity score. See the scholarly references at the end of this guide.</a:t>
            </a:r>
          </a:p>
          <a:p/>
          <a:p>
            <a:r>
              <a:t>In a saved run, show the action that retrieved candidates and the action that compared T0603 with T1694. Explain the tool inputs before the result. If the worker searched a short string taken from an earlier alignment, say that it reused a retrieved string. Do not describe a previously observed match as an independent prediction.</a:t>
            </a:r>
          </a:p>
          <a:p/>
          <a:p>
            <a:r>
              <a:t>The tools for comparing edition apparatus require the appropriate XML source configuration. The current plain-text setup supports the exact-overlap example; do not present it as a full textual-variant collation or a reconstruction of a text’s genealogy.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Historical orientation: An Shigao worked in the second century CE. Scholarship identifies T1694 as a later commentary, probably from the third century; do not treat the date as inferred by Cohort. Its title repeats 陰持入經 and adds 註, commentary. This is why shared wording may reflect transmission over time rather than the same translator.</a:t>
            </a:r>
          </a:p>
          <a:p/>
          <a:p>
            <a:r>
              <a:t>Explain the titles. T0603 is the Yin chi ru jing, associated with An Shigao. T1694 is its commentary; this relationship is known from scholarship. The tool locates shared runs, not the historical direction of borrowing.</a:t>
            </a:r>
          </a:p>
          <a:p/>
          <a:p>
            <a:r>
              <a:t>These are tools available to agents; they are not separate top-level tabs.</a:t>
            </a:r>
          </a:p>
          <a:p/>
          <a:p>
            <a:r>
              <a:t>**Semantic neighbours** searches an embedding index. An embedding is a numerical representation used to retrieve passages with similar content. It supplies candidates to inspect. It does not establish who translated a passage. A nearest neighbour is the closest among the candidates searched; that alone does not make it a useful match.</a:t>
            </a:r>
          </a:p>
          <a:p/>
          <a:p>
            <a:r>
              <a:t>**Align passages** compares two selected texts for exact shared Chinese-character sequences and returns matching runs with source positions. Normalisation removes material such as punctuation from that comparison. Shared wording can suggest reuse, a common source or a recurring formula. Its direction and historical explanation require further evidence.</a:t>
            </a:r>
          </a:p>
          <a:p/>
          <a:p>
            <a:r>
              <a:t>T0603 is the *Yin chi ru jing* 陰持入經, traditionally associated with **An Shigao 安世高**. T1694 is the *Yin chi ru jing zhu* 陰持入經註, a commentary on it. The character 註 in the title means commentary, and the relationship is identified in scholarship. Cohort did not discover the genre from a similarity score. See the scholarly references at the end of this guide.</a:t>
            </a:r>
          </a:p>
          <a:p/>
          <a:p>
            <a:r>
              <a:t>In a saved run, show the action that retrieved candidates and the action that compared T0603 with T1694. Explain the tool inputs before the result. If the worker searched a short string taken from an earlier alignment, say that it reused a retrieved string. Do not describe a previously observed match as an independent prediction.</a:t>
            </a:r>
          </a:p>
          <a:p/>
          <a:p>
            <a:r>
              <a:t>The tools for comparing edition apparatus require the appropriate XML source configuration. The current plain-text setup supports the exact-overlap example; do not present it as a full textual-variant collation or a reconstruction of a text’s genealogy.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Vocabulary comparison and use the T0603 example. Explain the vocabulary as short character strings, then show the full ranking. The example resets to curated strings and no additional exclusions.</a:t>
            </a:r>
          </a:p>
          <a:p/>
          <a:p>
            <a:r>
              <a:t>Diagram: Vocabulary comparison controls](diagrams/evidence.svg)</a:t>
            </a:r>
          </a:p>
          <a:p/>
          <a:p>
            <a:r>
              <a:t>1. Select **Vocabulary comparison** and click the **T0603** example. The example resets the vocabulary to the curated strings and clears additional exclusions.</a:t>
            </a:r>
          </a:p>
          <a:p>
            <a:r>
              <a:t>2. Open **Vocabulary and method**. Explain that “vocabulary” means the list of two-, three- and four-character strings being counted. These are not necessarily words.</a:t>
            </a:r>
          </a:p>
          <a:p>
            <a:r>
              <a:t>3. Read the highest-ranked group and the next group, then the visible full ranking below them. Full names and Chinese names are included.</a:t>
            </a:r>
          </a:p>
          <a:p>
            <a:r>
              <a:t>4. Leave the vocabulary unchanged while testing an exclusion.</a:t>
            </a:r>
          </a:p>
          <a:p/>
          <a:p>
            <a:r>
              <a:t>The three options are:</a:t>
            </a:r>
          </a:p>
          <a:p/>
          <a:p>
            <a:r>
              <a:t>| Option | How strings were selected | Limitation |</a:t>
            </a:r>
          </a:p>
          <a:p>
            <a:r>
              <a:t>|---|---|---|</a:t>
            </a:r>
          </a:p>
          <a:p>
            <a:r>
              <a:t>| Radich’s curated strings | A list assembled for work on a Dharmarakṣa 竺法護 dictionary | Coverage differs across translators; it is not a neutral sample of everyone’s wording |</a:t>
            </a:r>
          </a:p>
          <a:p>
            <a:r>
              <a:t>| Frequent corpus strings | Frequent short strings from texts whose translator is uncertain, without consulting translator labels | Subject matter and stock expressions can drive resemblance |</a:t>
            </a:r>
          </a:p>
          <a:p>
            <a:r>
              <a:t>| Combined lists | The union of the two lists | Combining them does not remove either selection problem |</a:t>
            </a:r>
          </a:p>
          <a:p/>
          <a:p>
            <a:r>
              <a:t>Use the **curated list** for the checked T0603 before-and-after comparison. It is already the default. Frequent strings provide a different view worth investigating, not an automatically better answer. The numbers below belong only to the curated-list calculation.</a:t>
            </a:r>
          </a:p>
          <a:p/>
          <a:p>
            <a:r>
              <a:t>A profile records how frequently each selected string occurs in one comparison group. Cohort scores the target’s matching strings against each profile. Repeated occurrences contribute repeatedly. Related strings can overlap, so they are not independent pieces of evidence.</a:t>
            </a:r>
          </a:p>
          <a:p/>
          <a:p>
            <a:r>
              <a:t>The full ranking’s **Score relative to leader** is a total score difference: the leader is 0 and the other values are negative. The headline **Score difference** is the lead over the runner-up divided by the number of distinct matched strings. The two displays use different scales. Neither is a probability, and neither has a validated cutoff for assigning a translator.</a:t>
            </a:r>
          </a:p>
          <a:p/>
          <a:p>
            <a:r>
              <a:t>**Highlighting groups** sets which two groups determine the passage colours. It does not change the overall ranking. The highlighted pair can differ from the top two, so read its labels. Leave this setting alone during the exclusion comparison unless explaining that specific control.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calculation illustrates a historical-dependence problem: the later commentary contains wording from the earlier text, but belongs to another reference group. Excluding it makes An Shigao the top-ranked group, matching the accepted attribution, by a small uncalibrated margin. It is one known-answer check, not evidence of reliable attribution on unknown texts.</a:t>
            </a:r>
          </a:p>
          <a:p/>
          <a:p>
            <a:r>
              <a:t>T1694 is assigned to the mixed pre-Dharmarakṣa group. Its shared wording contributes to that group’s profile. Removing it changes the reference profile, not T0603. An Shigao worked in the second century CE; Dharmarakṣa later, in the late third and early fourth centuries. “Before Dharmarakṣa” is a catalogue category, not his own work.</a:t>
            </a:r>
          </a:p>
          <a:p/>
          <a:p>
            <a:r>
              <a:t>Live action: enter T1694 and click Repeat comparison. Keep curated vocabulary fixed. The leading group changes, so both names must be read. This demonstrates sensitivity to included material, not successful attribution.</a:t>
            </a:r>
          </a:p>
          <a:p/>
          <a:p>
            <a:r>
              <a:t>Under **Does the result depend on another text?**, enter **T1694** in **Exclude additional texts** and click **Repeat comparison**. The target remains T0603; only the reference material changes. **Restore these texts** removes the additional exclusion.</a:t>
            </a:r>
          </a:p>
          <a:p/>
          <a:p>
            <a:r>
              <a:t>The reproduced results on 9 September 2026 are:</a:t>
            </a:r>
          </a:p>
          <a:p/>
          <a:p>
            <a:r>
              <a:t>| Setup | Highest-ranked group | Next group | Per-string margin |</a:t>
            </a:r>
          </a:p>
          <a:p>
            <a:r>
              <a:t>|---|---|---|---:|</a:t>
            </a:r>
          </a:p>
          <a:p>
            <a:r>
              <a:t>| Curated strings, no additional exclusion | Other material before Dharmarakṣa 竺法護 | An Shigao 安世高 | 1.696 |</a:t>
            </a:r>
          </a:p>
          <a:p>
            <a:r>
              <a:t>| Same strings, T1694 excluded | An Shigao 安世高 | Other material before Dharmarakṣa 竺法護 | 0.096 |</a:t>
            </a:r>
          </a:p>
          <a:p/>
          <a:p>
            <a:r>
              <a:t>T1694 contributes to the mixed group in the first row. “Other material before Dharmarakṣa” is a catalogue category for early material, not one competing translator. Excluding the commentary changes the leader and greatly reduces the lead.</a:t>
            </a:r>
          </a:p>
          <a:p/>
          <a:p>
            <a:r>
              <a:t>Say:</a:t>
            </a:r>
          </a:p>
          <a:p/>
          <a:p>
            <a:r>
              <a:t>&gt; Including this commentary has a large effect on the ranking. Once we remove it, the initial leading group no longer comes first. We need to inspect the shared passages and the composition of the comparison groups before using this as evidence about a translator.</a:t>
            </a:r>
          </a:p>
          <a:p/>
          <a:p>
            <a:r>
              <a:t>Do not translate 0.096 into a probability or call it a statistically established tie. An Shigao’s new first place does not establish his authorship. The comparison does not determine which text borrowed from which.</a:t>
            </a:r>
          </a:p>
          <a:p/>
          <a:p>
            <a:r>
              <a:t>The before-and-after table is calculated by the application. If it fails to load, the slide contains the recorded aggregate result and its settings. Do not substitute a value from another vocabulary. Additional exclusions currently take exact corpus unit IDs; a collection identifier is not a promise that all its chapters will be removed. The target’s own work is withheld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one saved proposal and read its actual status. Claims and conjectures are both hypotheses. The field labels make the agent’s argument inspectable; they do not guarantee that it is a good argument.</a:t>
            </a:r>
          </a:p>
          <a:p/>
          <a:p>
            <a:r>
              <a:t>Diagram: Findings fields](diagrams/findings.svg)</a:t>
            </a:r>
          </a:p>
          <a:p/>
          <a:p>
            <a:r>
              <a:t>Open **Findings** and expand one relevant proposal. Entries are newest first, not sorted by confidence. Read its type and status before the text.</a:t>
            </a:r>
          </a:p>
          <a:p/>
          <a:p>
            <a:r>
              <a:t>**Hypothesis** is an umbrella term. A hypothesis can be a **claim** or a **conjecture**; it is not a container assembled from claims. A claim states something its cited passages are supposed to support. A conjecture offers an explanation that goes beyond the observations and must include a test. Neither label certifies truth.</a:t>
            </a:r>
          </a:p>
          <a:p/>
          <a:p>
            <a:r>
              <a:t>The system checks required fields and relationships. It cannot reliably decide whether a statement is historically sound merely by checking its structure. Its grounding rule checks whether a supplied string exists; a very short or irrelevant string can pass that existence check. Do not call grounding a relevance guarantee.</a:t>
            </a:r>
          </a:p>
          <a:p/>
          <a:p>
            <a:r>
              <a:t>| Field | What to read it as |</a:t>
            </a:r>
          </a:p>
          <a:p>
            <a:r>
              <a:t>|---|---|</a:t>
            </a:r>
          </a:p>
          <a:p>
            <a:r>
              <a:t>| How the proposal was reached (`derivation`) | The observations and steps the worker says led to it |</a:t>
            </a:r>
          </a:p>
          <a:p>
            <a:r>
              <a:t>| Material examined (`corpus_boundary`) | What the worker reports examining or excluding |</a:t>
            </a:r>
          </a:p>
          <a:p>
            <a:r>
              <a:t>| What could bias the comparison (`selection_risks`) | Ways that choosing these texts or strings could distort the result |</a:t>
            </a:r>
          </a:p>
          <a:p>
            <a:r>
              <a:t>| Other possible explanations (`alternative_explanations`) | Competing accounts, such as reuse, a shared source or a recurring expression |</a:t>
            </a:r>
          </a:p>
          <a:p>
            <a:r>
              <a:t>| Test | A recorded query and expected result intended to challenge the conjecture |</a:t>
            </a:r>
          </a:p>
          <a:p/>
          <a:p>
            <a:r>
              <a:t>Inspect whether a test could distinguish the alternatives. A search returning a phrase already seen is weak evidence for a new historical explanation. The presence of a test field does not establish that a useful test was run prospectively.</a:t>
            </a:r>
          </a:p>
          <a:p/>
          <a:p>
            <a:r>
              <a:t>Click a cited passage to open it in Graph. The AI interpretation in the side panel is separate from these recorded hypotheses.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arrows here follow schema direction: passage part_of source; passage attests proposal; proposal addresses question. Shapes are simplified but match node types. Use one selected record rather than narrating the entire graph.</a:t>
            </a:r>
          </a:p>
          <a:p/>
          <a:p>
            <a:r>
              <a:t>Diagram: Graph relationships](diagrams/graph.svg)</a:t>
            </a:r>
          </a:p>
          <a:p/>
          <a:p>
            <a:r>
              <a:t>Use the question checkboxes to show the investigation you are discussing. Hiding a question changes the view; it does not delete its records. Several proposals can address one question. An older session can also contain earlier questions.</a:t>
            </a:r>
          </a:p>
          <a:p/>
          <a:p>
            <a:r>
              <a:t>Select a single node. Its inspector shows the record’s type, status, worker, model, sources and relationships. New records can show the worker’s action reason. The historical model name describes the recorded call, not a later profile setting.</a:t>
            </a:r>
          </a:p>
          <a:p/>
          <a:p>
            <a:r>
              <a:t>| Shape or link | Meaning |</a:t>
            </a:r>
          </a:p>
          <a:p>
            <a:r>
              <a:t>|---|---|</a:t>
            </a:r>
          </a:p>
          <a:p>
            <a:r>
              <a:t>| Star | A research question |</a:t>
            </a:r>
          </a:p>
          <a:p>
            <a:r>
              <a:t>| Diamond | A claim or conjecture |</a:t>
            </a:r>
          </a:p>
          <a:p>
            <a:r>
              <a:t>| Rectangle | A located passage |</a:t>
            </a:r>
          </a:p>
          <a:p>
            <a:r>
              <a:t>| Ellipse | A source record, called a witness in the schema |</a:t>
            </a:r>
          </a:p>
          <a:p>
            <a:r>
              <a:t>| Dot | A search query |</a:t>
            </a:r>
          </a:p>
          <a:p>
            <a:r>
              <a:t>| `part_of` | A passage belongs to a source record |</a:t>
            </a:r>
          </a:p>
          <a:p>
            <a:r>
              <a:t>| `attests` | A passage is offered as support for a proposal |</a:t>
            </a:r>
          </a:p>
          <a:p>
            <a:r>
              <a:t>| `addresses` | A proposal addresses a question |</a:t>
            </a:r>
          </a:p>
          <a:p>
            <a:r>
              <a:t>| `searched_for` | A recorded search used in proposing a claim or conjecture |</a:t>
            </a:r>
          </a:p>
          <a:p>
            <a:r>
              <a:t>| `tests` | A query is offered as a test of a conjecture |</a:t>
            </a:r>
          </a:p>
          <a:p/>
          <a:p>
            <a:r>
              <a:t>A search pointing to a claim records retrieval activity; it does not itself prove the claim. The **Show exploration** overlay adds works inspected in recorded tool activity, including some that were never attached as evidence. It is not a map of every source available in the corpus or every thought the model had.</a:t>
            </a:r>
          </a:p>
          <a:p/>
          <a:p>
            <a:r>
              <a:t>**Verified with an exact span** means a recorded check found the quoted passage at its source location. Repeated verification attempts remain in the history but are not presented as multiple independent witnesses.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click Accept just to create an ending. Show available controls and explain their actual eligibility rules. The reviewer cannot be treated as a reliable semantic validator; explain the current limitation if asked.</a:t>
            </a:r>
          </a:p>
          <a:p/>
          <a:p>
            <a:r>
              <a:t>| Status | Meaning |</a:t>
            </a:r>
          </a:p>
          <a:p>
            <a:r>
              <a:t>|---|---|</a:t>
            </a:r>
          </a:p>
          <a:p>
            <a:r>
              <a:t>| Proposed | Submitted for consideration |</a:t>
            </a:r>
          </a:p>
          <a:p>
            <a:r>
              <a:t>| Attested | The required promotion checks for that record type passed |</a:t>
            </a:r>
          </a:p>
          <a:p>
            <a:r>
              <a:t>| Accepted | The researcher approved this record under Cohort’s citation rules |</a:t>
            </a:r>
          </a:p>
          <a:p>
            <a:r>
              <a:t>| Rejected | The researcher rejected this record with a reason |</a:t>
            </a:r>
          </a:p>
          <a:p/>
          <a:p>
            <a:r>
              <a:t>A **contradiction** relationship is distinct from a researcher’s rejection. Colour alone is insufficient: some imported experiment records also have calculated assessment colours. Read the selected record’s status.</a:t>
            </a:r>
          </a:p>
          <a:p/>
          <a:p>
            <a:r>
              <a:t>An eligible attested record can be accepted. Accepting a passage changes that passage’s status; it does not accept every connected claim. Rejecting a record preserves it and the reason rather than deleting a source text. Reopening a rejected record also requires a reason.</a:t>
            </a:r>
          </a:p>
          <a:p/>
          <a:p>
            <a:r>
              <a:t>The reviewer is fallible. In the current implementation, its tool re-fetches cited passages and checks their spans, but the reviewer does not have a complete evidence-reading workflow before choosing its semantic verdict. A reviewer’s statement that it checked an interpretation or reproduced a calculation is not enough to establish that it did so. The researcher should inspect the passages and numerical output directly. This limitation remains open; do not say it has been repaired by changing model names.</a:t>
            </a:r>
          </a:p>
          <a:p/>
          <a:p>
            <a:r>
              <a:t>The Vocabulary comparison tab does not currently offer a grounded `quotes` or `parallel_of` edge proposal for later acceptance. Accepting a graph record also does not change Vocabulary comparison profiles. The exclusion above is a separate researcher-controlled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Analyze this view without starting a run. Show a saved analysis if one is available. The analyst can use read-only tools, but does not promote its answer into a graph proposal.</a:t>
            </a:r>
          </a:p>
          <a:p/>
          <a:p>
            <a:r>
              <a:t>Click **Analyze this view**. A side panel opens without moving the main tab. Choose or retain the model, then click **Start analysis**. Merely opening the panel does not call a model.</a:t>
            </a:r>
          </a:p>
          <a:p/>
          <a:p>
            <a:r>
              <a:t>The analyst can inspect records, search passages, read bounded source material and repeat available evidence comparisons. Its final answer is formatted text with expandable actions and reasons. It cannot propose, accept, reject or modify graph records. Its explanation is an AI interpretation, not a verification.</a:t>
            </a:r>
          </a:p>
          <a:p/>
          <a:p>
            <a:r>
              <a:t>Select an entry under **Saved analyses** to reopen it. The answer describes the view supplied when that analysis began; later changes to the graph or exclusion settings do not rewrite it. Close the panel to inspect the underlying view. Closing or switching tabs does not stop an active run. Only one inquiry or analysis runs at a time in this instance.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Return to diachronic research through the distinction between supplied history and computed observations. The question asks how wording travels between texts produced at different times. Cohort locates and compares that wording; the current implementation does not date texts or reconstruct language change. Applying it to uncertain texts would require independent chronological and textual evidence.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time for questions. Ask which operation would help the audience with material they already work on. The Q3 branch is described in a reference slide; do not imply it is merged or that its real-corpus findings were reproduced in this review.</a:t>
            </a:r>
          </a:p>
          <a:p/>
          <a:p>
            <a:r>
              <a:t>Diachronic research studies change through time. Translator ascriptions, the reuse of earlier texts and commentary relationships are historical questions. This dataset also supplies an ordering of its catalogue groups.</a:t>
            </a:r>
          </a:p>
          <a:p/>
          <a:p>
            <a:r>
              <a:t>Cohort currently supports retrieval, comparison and documentation for those questions. It does not infer dates, estimate a trajectory of language change, or reconstruct a transmission tree. Present dating and transmission modelling as further work. Do not describe a similarity ranking as a chronology.</a:t>
            </a:r>
          </a:p>
          <a:p/>
          <a:p>
            <a:r>
              <a:t>A useful discussion question is: which controls would make this comparison useful in your research? Possible answers include separating genre, revising the reference groups, excluding repeated sources and comparing editions. Each requires data preparation and scholarly choices in addition to agent tooling.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choices change what the method counts. Curated is the setting for the checked exclusion example, not a claim that it is universally best.</a:t>
            </a:r>
          </a:p>
          <a:p/>
          <a:p>
            <a:r>
              <a:t>Diagram: Vocabulary comparison controls](diagrams/evidence.svg)</a:t>
            </a:r>
          </a:p>
          <a:p/>
          <a:p>
            <a:r>
              <a:t>1. Select **Vocabulary comparison** and click the **T0603** example. The example resets the vocabulary to the curated strings and clears additional exclusions.</a:t>
            </a:r>
          </a:p>
          <a:p>
            <a:r>
              <a:t>2. Open **Vocabulary and method**. Explain that “vocabulary” means the list of two-, three- and four-character strings being counted. These are not necessarily words.</a:t>
            </a:r>
          </a:p>
          <a:p>
            <a:r>
              <a:t>3. Read the highest-ranked group and the next group, then the visible full ranking below them. Full names and Chinese names are included.</a:t>
            </a:r>
          </a:p>
          <a:p>
            <a:r>
              <a:t>4. Leave the vocabulary unchanged while testing an exclusion.</a:t>
            </a:r>
          </a:p>
          <a:p/>
          <a:p>
            <a:r>
              <a:t>The three options are:</a:t>
            </a:r>
          </a:p>
          <a:p/>
          <a:p>
            <a:r>
              <a:t>| Option | How strings were selected | Limitation |</a:t>
            </a:r>
          </a:p>
          <a:p>
            <a:r>
              <a:t>|---|---|---|</a:t>
            </a:r>
          </a:p>
          <a:p>
            <a:r>
              <a:t>| Radich’s curated strings | A list assembled for work on a Dharmarakṣa 竺法護 dictionary | Coverage differs across translators; it is not a neutral sample of everyone’s wording |</a:t>
            </a:r>
          </a:p>
          <a:p>
            <a:r>
              <a:t>| Frequent corpus strings | Frequent short strings from texts whose translator is uncertain, without consulting translator labels | Subject matter and stock expressions can drive resemblance |</a:t>
            </a:r>
          </a:p>
          <a:p>
            <a:r>
              <a:t>| Combined lists | The union of the two lists | Combining them does not remove either selection problem |</a:t>
            </a:r>
          </a:p>
          <a:p/>
          <a:p>
            <a:r>
              <a:t>Use the **curated list** for the checked T0603 before-and-after comparison. It is already the default. Frequent strings provide a different view worth investigating, not an automatically better answer. The numbers below belong only to the curated-list calculation.</a:t>
            </a:r>
          </a:p>
          <a:p/>
          <a:p>
            <a:r>
              <a:t>A profile records how frequently each selected string occurs in one comparison group. Cohort scores the target’s matching strings against each profile. Repeated occurrences contribute repeatedly. Related strings can overlap, so they are not independent pieces of evidence.</a:t>
            </a:r>
          </a:p>
          <a:p/>
          <a:p>
            <a:r>
              <a:t>The full ranking’s **Score relative to leader** is a total score difference: the leader is 0 and the other values are negative. The headline **Score difference** is the lead over the runner-up divided by the number of distinct matched strings. The two displays use different scales. Neither is a probability, and neither has a validated cutoff for assigning a translator.</a:t>
            </a:r>
          </a:p>
          <a:p/>
          <a:p>
            <a:r>
              <a:t>**Highlighting groups** sets which two groups determine the passage colours. It does not change the overall ranking. The highlighted pair can differ from the top two, so read its labels. Leave this setting alone during the exclusion comparison unless explaining that specific control.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list gives catalogue membership labels, not a ranking. The two mixed categories are not individual translators. Counts are before target withholding.</a:t>
            </a:r>
          </a:p>
          <a:p/>
          <a:p>
            <a:r>
              <a:t>CBETA is the wider electronic collection. The running instance’s Corpus reader is configured for Radich’s local text collection, derived from CBETA. It is not a search across everything available on CBETA Online. The **CBETA ↗** link opens an external edition separately.</a:t>
            </a:r>
          </a:p>
          <a:p/>
          <a:p>
            <a:r>
              <a:t>Vocabulary comparison uses a still narrower selection from the supplied catalogue to build comparison profiles. A **profile** is a table of string counts for one group. The groups are inherited catalogue labels, not clusters discovered by an AI.</a:t>
            </a:r>
          </a:p>
          <a:p/>
          <a:p>
            <a:r>
              <a:t>The current selection ledger reports **368 corpus units in 13 comparison groups** before withholding the target’s work or additional texts. Eleven group labels name translators. Two collect material by historical category. A unit may be a short work or a chapter of a larger work, so 368 units does not mean 368 independent books.</a:t>
            </a:r>
          </a:p>
          <a:p/>
          <a:p>
            <a:r>
              <a:t>To qualify initially, a labelled unit must have at least 2,000 Chinese characters, and a group must have at least five qualifying units. Texts marked as having an uncertain translator are excluded from these reference profiles. Their wording supplies the frequent-string vocabulary instead. Missing text files and rejected units are counted in the selection ledger.</a:t>
            </a:r>
          </a:p>
          <a:p/>
          <a:p>
            <a:r>
              <a:t>These are implementation choices for this experiment. They do not establish that the remaining groups are equally representative or that their inherited ascriptions are infallible. After withholding, some groups can have little material left; the interface flags these as thin. Groups with no usable profile are listed as not judged.</a:t>
            </a:r>
          </a:p>
          <a:p/>
          <a:p>
            <a:r>
              <a:t>Say:</a:t>
            </a:r>
          </a:p>
          <a:p/>
          <a:p>
            <a:r>
              <a:t>&gt; The ranking compares this text against the groups available in this dataset. A translator absent from those groups cannot appear in the answer.</a:t>
            </a:r>
          </a:p>
          <a:p/>
          <a:p>
            <a:r>
              <a:t>The catalogue has more labels than the ranked list. “Thirteen groups” describes the usable comparison profiles, not the number of translators in Buddhist history or the size of CBETA.</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compute the headline margin by dividing the already rounded gap displayed in a table. The backend computes it from unrounded scores before display rounding.</a:t>
            </a:r>
          </a:p>
          <a:p/>
          <a:p>
            <a:r>
              <a:t>Diagram: Vocabulary comparison controls](diagrams/evidence.svg)</a:t>
            </a:r>
          </a:p>
          <a:p/>
          <a:p>
            <a:r>
              <a:t>1. Select **Vocabulary comparison** and click the **T0603** example. The example resets the vocabulary to the curated strings and clears additional exclusions.</a:t>
            </a:r>
          </a:p>
          <a:p>
            <a:r>
              <a:t>2. Open **Vocabulary and method**. Explain that “vocabulary” means the list of two-, three- and four-character strings being counted. These are not necessarily words.</a:t>
            </a:r>
          </a:p>
          <a:p>
            <a:r>
              <a:t>3. Read the highest-ranked group and the next group, then the visible full ranking below them. Full names and Chinese names are included.</a:t>
            </a:r>
          </a:p>
          <a:p>
            <a:r>
              <a:t>4. Leave the vocabulary unchanged while testing an exclusion.</a:t>
            </a:r>
          </a:p>
          <a:p/>
          <a:p>
            <a:r>
              <a:t>The three options are:</a:t>
            </a:r>
          </a:p>
          <a:p/>
          <a:p>
            <a:r>
              <a:t>| Option | How strings were selected | Limitation |</a:t>
            </a:r>
          </a:p>
          <a:p>
            <a:r>
              <a:t>|---|---|---|</a:t>
            </a:r>
          </a:p>
          <a:p>
            <a:r>
              <a:t>| Radich’s curated strings | A list assembled for work on a Dharmarakṣa 竺法護 dictionary | Coverage differs across translators; it is not a neutral sample of everyone’s wording |</a:t>
            </a:r>
          </a:p>
          <a:p>
            <a:r>
              <a:t>| Frequent corpus strings | Frequent short strings from texts whose translator is uncertain, without consulting translator labels | Subject matter and stock expressions can drive resemblance |</a:t>
            </a:r>
          </a:p>
          <a:p>
            <a:r>
              <a:t>| Combined lists | The union of the two lists | Combining them does not remove either selection problem |</a:t>
            </a:r>
          </a:p>
          <a:p/>
          <a:p>
            <a:r>
              <a:t>Use the **curated list** for the checked T0603 before-and-after comparison. It is already the default. Frequent strings provide a different view worth investigating, not an automatically better answer. The numbers below belong only to the curated-list calculation.</a:t>
            </a:r>
          </a:p>
          <a:p/>
          <a:p>
            <a:r>
              <a:t>A profile records how frequently each selected string occurs in one comparison group. Cohort scores the target’s matching strings against each profile. Repeated occurrences contribute repeatedly. Related strings can overlap, so they are not independent pieces of evidence.</a:t>
            </a:r>
          </a:p>
          <a:p/>
          <a:p>
            <a:r>
              <a:t>The full ranking’s **Score relative to leader** is a total score difference: the leader is 0 and the other values are negative. The headline **Score difference** is the lead over the runner-up divided by the number of distinct matched strings. The two displays use different scales. Neither is a probability, and neither has a validated cutoff for assigning a translator.</a:t>
            </a:r>
          </a:p>
          <a:p/>
          <a:p>
            <a:r>
              <a:t>**Highlighting groups** sets which two groups determine the passage colours. It does not change the overall ranking. The highlighted pair can differ from the top two, so read its labels. Leave this setting alone during the exclusion comparison unless explaining that specific control.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known textual relationship. Use it as a retrieval control, not a discovery. The earlier task did not supply the counterpart ID, but pretrained knowledge cannot be ruled out.</a:t>
            </a:r>
          </a:p>
          <a:p/>
          <a:p>
            <a:r>
              <a:t>T0453 is a Maitreya text, **Maitreya’s descent 彌勒下生經**. It has a known textual relation to material in the **Ekottarikāgama 增壹阿含經, T0125**, section 48.3. The earlier retrieval exercise reached that counterpart without supplying its identifier in the task. This is a control for finding a relevant parallel, not a new discovery or an attribution of an unknown text.</a:t>
            </a:r>
          </a:p>
          <a:p/>
          <a:p>
            <a:r>
              <a:t>Use it to explain retrieval and alignment if asked for another example. Do not promise that a fresh model run will take the same route. Withholding an identifier from a prompt also does not exclude pretrained knowledge. The main slides omit the old overlap percentages because their different denominators require a separate explanation and are unnecessary for introducing the tools.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plain-language adaptation of Radich’s Q3, not a quotation. It asks whether disputed works can be associated with Paramārtha or another reference point. Reuse, genre and revision are explanations to investigate, not branch findings. The present branch calculates feature occurrence and neighbourhoods but does not establish a dated transmission history.</a:t>
            </a:r>
          </a:p>
          <a:p/>
          <a:p>
            <a:r>
              <a:t>The inspected branches are feat/rq3 at 39bcc98 and feat/rq3-force at 2f8b97c. They are not in the current presentation app. The focused synthetic suite passed 104 tests; lint and type checks fail. The researcher review documents chapter dependence and limits of the claimed genre control. Real-corpus Q3 numbers were not reproduced in this review. Do not present the scripted seed as an autonomous agent run.</a:t>
            </a:r>
          </a:p>
          <a:p/>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Shigao worked in the second century CE. Dharmarakṣa worked in the late third and early fourth centuries. The pre-Dharmarakṣa group is an inherited catalogue category; T1694 belongs to it in the supplied data. This label does not settle the debated date or authorship of the commentary. Explain the chronological ordering without attempting to date every group.</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Orient the audience using the abstract. These rows map research activities to available tools. They are not a pipeline in which every arrow writes a new record.</a:t>
            </a:r>
          </a:p>
          <a:p/>
          <a:p>
            <a:r>
              <a:t>Diagram: Map of the tabs and their connections](diagrams/tabs.svg)</a:t>
            </a:r>
          </a:p>
          <a:p/>
          <a:p>
            <a:r>
              <a:t>**Corpus** reads the local source material. **Vocabulary comparison** computes comparisons. Neither operation, by itself, inserts passages or proposals into the graph.</a:t>
            </a:r>
          </a:p>
          <a:p/>
          <a:p>
            <a:r>
              <a:t>**Inquiry** records a research question and starts agents. Workers can then record passages, searches, claims and conjectures. **Findings** displays those proposals as readable entries. **Graph** displays their relationships and opens the researcher’s decision controls.</a:t>
            </a:r>
          </a:p>
          <a:p/>
          <a:p>
            <a:r>
              <a:t>The **Analyze this view** button in Graph and Vocabulary comparison opens a separate analyst. It can investigate using read-only tools and save an explanation. Its answer does not become a claim or an accepted finding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Technical reference: what runs in each tab</a:t>
            </a:r>
          </a:p>
          <a:p/>
          <a:p>
            <a:r>
              <a:t>| Tab | What runs | What it saves |</a:t>
            </a:r>
          </a:p>
          <a:p>
            <a:r>
              <a:t>|---|---|---|</a:t>
            </a:r>
          </a:p>
          <a:p>
            <a:r>
              <a:t>| Corpus | Exact phrase search reads the local corpus. Related passages compares stored embedding vectors. Shared-wording checks locate matching character sequences. | Browsing alone adds nothing to the evidence graph. Investigate this passage fills an Inquiry draft. |</a:t>
            </a:r>
          </a:p>
          <a:p>
            <a:r>
              <a:t>| Vocabulary comparison | Counts strings in the target and scores it against catalogue-labelled group profiles. The target’s whole work is withheld; you can exclude other works. | Calculations alone add no graph nodes. The ranking changes with the vocabulary and reference material. |</a:t>
            </a:r>
          </a:p>
          <a:p>
            <a:r>
              <a:t>| Inquiry | A language-model worker chooses tools and proposes claims or conjectures. A separate reviewer uses a different model family to check proposals. | The question, recorded proposals, citations, checks and run activity. Reopen completed runs under Run results. |</a:t>
            </a:r>
          </a:p>
          <a:p>
            <a:r>
              <a:t>| Findings | Reads the saved claims and conjectures, their cited passages and recorded checks. | It displays the existing investigation; opening the tab does not run another worker. |</a:t>
            </a:r>
          </a:p>
          <a:p>
            <a:r>
              <a:t>| Graph | Draws saved records and their relationships. Show exploration adds recorded tool activity. | Accepting or rejecting an eligible record saves a researcher decision. Hiding nodes only changes the view. |</a:t>
            </a:r>
          </a:p>
          <a:p/>
          <a:p>
            <a:r>
              <a:t>Graph and Vocabulary comparison also have an AI analyst. It can use read-only tools and continue a conversation about the selected view. Its explanation does not automatically become a graph proposal.</a:t>
            </a:r>
          </a:p>
          <a:p/>
          <a:p>
            <a:r>
              <a:t>### The embedder and the worker are different models</a:t>
            </a:r>
          </a:p>
          <a:p/>
          <a:p>
            <a:r>
              <a:t>The configured embedding file is `mitra-qwen35-embedder.npz`. It holds vectors computed before the session. Corpus → Related passages compares the selected passage’s vector with other stored vectors using cosine similarity. Higher scores mean closer vectors; read the returned passages to decide whether the relationship is useful.</a:t>
            </a:r>
          </a:p>
          <a:p/>
          <a:p>
            <a:r>
              <a:t>Inquiry workers and the view analyst can search these embeddings with `semantic_neighbors`. They use them only if they call that tool. Exact phrase search, string-frequency rankings, citation checks and graph drawing do not use the embedder.</a:t>
            </a:r>
          </a:p>
          <a:p/>
          <a:p>
            <a:r>
              <a:t>The filename identifies the embedder as `mitra-qwen35-embedder`. The legacy index does not record its exact model revision. Its coverage and training limitations are described under Semantic analysis and alignment below. The worker and reviewer model names are shown separately in Inquiry and in saved run records.</a:t>
            </a:r>
          </a:p>
          <a:p/>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Technical reference: what runs in each tab</a:t>
            </a:r>
          </a:p>
          <a:p/>
          <a:p>
            <a:r>
              <a:t>| Tab | What runs | What it saves |</a:t>
            </a:r>
          </a:p>
          <a:p>
            <a:r>
              <a:t>|---|---|---|</a:t>
            </a:r>
          </a:p>
          <a:p>
            <a:r>
              <a:t>| Corpus | Exact phrase search reads the local corpus. Related passages compares stored embedding vectors. Shared-wording checks locate matching character sequences. | Browsing alone adds nothing to the evidence graph. Investigate this passage fills an Inquiry draft. |</a:t>
            </a:r>
          </a:p>
          <a:p>
            <a:r>
              <a:t>| Vocabulary comparison | Counts strings in the target and scores it against catalogue-labelled group profiles. The target’s whole work is withheld; you can exclude other works. | Calculations alone add no graph nodes. The ranking changes with the vocabulary and reference material. |</a:t>
            </a:r>
          </a:p>
          <a:p>
            <a:r>
              <a:t>| Inquiry | A language-model worker chooses tools and proposes claims or conjectures. A separate reviewer uses a different model family to check proposals. | The question, recorded proposals, citations, checks and run activity. Reopen completed runs under Run results. |</a:t>
            </a:r>
          </a:p>
          <a:p>
            <a:r>
              <a:t>| Findings | Reads the saved claims and conjectures, their cited passages and recorded checks. | It displays the existing investigation; opening the tab does not run another worker. |</a:t>
            </a:r>
          </a:p>
          <a:p>
            <a:r>
              <a:t>| Graph | Draws saved records and their relationships. Show exploration adds recorded tool activity. | Accepting or rejecting an eligible record saves a researcher decision. Hiding nodes only changes the view. |</a:t>
            </a:r>
          </a:p>
          <a:p/>
          <a:p>
            <a:r>
              <a:t>Graph and Vocabulary comparison also have an AI analyst. It can use read-only tools and continue a conversation about the selected view. Its explanation does not automatically become a graph proposal.</a:t>
            </a:r>
          </a:p>
          <a:p/>
          <a:p>
            <a:r>
              <a:t>### The embedder and the worker are different models</a:t>
            </a:r>
          </a:p>
          <a:p/>
          <a:p>
            <a:r>
              <a:t>The configured embedding file is `mitra-qwen35-embedder.npz`. It holds vectors computed before the session. Corpus → Related passages compares the selected passage’s vector with other stored vectors using cosine similarity. Higher scores mean closer vectors; read the returned passages to decide whether the relationship is useful.</a:t>
            </a:r>
          </a:p>
          <a:p/>
          <a:p>
            <a:r>
              <a:t>Inquiry workers and the view analyst can search these embeddings with `semantic_neighbors`. They use them only if they call that tool. Exact phrase search, string-frequency rankings, citation checks and graph drawing do not use the embedder.</a:t>
            </a:r>
          </a:p>
          <a:p/>
          <a:p>
            <a:r>
              <a:t>The filename identifies the embedder as `mitra-qwen35-embedder`. The legacy index does not record its exact model revision. Its coverage and training limitations are described under Semantic analysis and alignment below. The worker and reviewer model names are shown separately in Inquiry and in saved run records.</a:t>
            </a:r>
          </a:p>
          <a:p/>
          <a:p/>
          <a:p>
            <a:r>
              <a:t>The index has no recorded model revision. Do not claim that the example texts were absent from training.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Why a query can point straight to a proposal</a:t>
            </a:r>
          </a:p>
          <a:p/>
          <a:p>
            <a:r>
              <a:t>There is no required Query → Witness → Passage → Hypothesis chain. The graph records different relationships:</a:t>
            </a:r>
          </a:p>
          <a:p/>
          <a:p>
            <a:r>
              <a:t>- Witness → Passage, labelled **contains**: where the passage comes from. Internally, this is stored in the reverse direction as `part_of`.</a:t>
            </a:r>
          </a:p>
          <a:p>
            <a:r>
              <a:t>- Passage → Claim or conjecture, labelled **attests**: the passage is cited as support.</a:t>
            </a:r>
          </a:p>
          <a:p>
            <a:r>
              <a:t>- Query → Claim or conjecture, labelled **searched for**: a search ran while preparing that proposal.</a:t>
            </a:r>
          </a:p>
          <a:p>
            <a:r>
              <a:t>- Query → Conjecture, labelled **tests**: the author recorded a query and an expected result for a later test. This link alone does not mean the test ran or passed.</a:t>
            </a:r>
          </a:p>
          <a:p>
            <a:r>
              <a:t>- Claim or conjecture → Research question, labelled **addresses**: which question the proposal concerns.</a:t>
            </a:r>
          </a:p>
          <a:p/>
          <a:p>
            <a:r>
              <a:t>For a claim, the proposal tool runs a grounding search and saves its phrase and hit count. It refuses the claim if there are no hits. It does not automatically save each hit as a witness or passage, or link the query to those hits. Citation gathering is a separate operation. A hit therefore shows that wording was found; it does not establish that the proposed interpretation follows from it.</a:t>
            </a:r>
          </a:p>
          <a:p/>
          <a:p>
            <a:r>
              <a:t>For a conjecture, the tool records an earlier search under “prior art” and a separate proposed test. Here “prior art” means a corpus search made before proposing the conjecture, not a search of published scholarship.</a:t>
            </a:r>
          </a:p>
          <a:p/>
          <a:p>
            <a:r>
              <a:t>The UI uses “hypothesis” as a heading for claims and conjectures. A conjecture is not a container assembled from claim nodes. Read its own citations, explanation and proposed test.</a:t>
            </a:r>
          </a:p>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Agent-Based Infrastructures for</a:t>
            </a:r>
          </a:p>
          <a:p>
            <a:pPr>
              <a:lnSpc>
                <a:spcPct val="118000"/>
              </a:lnSpc>
              <a:spcBef>
                <a:spcPts val="0"/>
              </a:spcBef>
              <a:spcAft>
                <a:spcPts val="0"/>
              </a:spcAft>
              <a:defRPr sz="3200" b="1">
                <a:solidFill>
                  <a:srgbClr val="24384A"/>
                </a:solidFill>
                <a:latin typeface="Lato"/>
              </a:defRPr>
            </a:pPr>
            <a:r>
              <a:rPr>
                <a:ea typeface="Microsoft JhengHei"/>
              </a:rPr>
              <a:t>Diachronic Digital Humanities</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11239500" y="6438900"/>
            <a:ext cx="457200" cy="238125"/>
          </a:xfrm>
          <a:prstGeom prst="rect">
            <a:avLst/>
          </a:prstGeom>
          <a:noFill/>
        </p:spPr>
        <p:txBody>
          <a:bodyPr wrap="square" lIns="0" rIns="0" tIns="0" bIns="0">
            <a:spAutoFit/>
          </a:bodyPr>
          <a:lstStyle/>
          <a:p>
            <a:pPr>
              <a:lnSpc>
                <a:spcPct val="118000"/>
              </a:lnSpc>
              <a:spcBef>
                <a:spcPts val="0"/>
              </a:spcBef>
              <a:spcAft>
                <a:spcPts val="0"/>
              </a:spcAft>
              <a:defRPr sz="1200" b="0">
                <a:solidFill>
                  <a:srgbClr val="526778"/>
                </a:solidFill>
                <a:latin typeface="Lato"/>
              </a:defRPr>
            </a:pPr>
            <a:r>
              <a:rPr>
                <a:ea typeface="Microsoft JhengHei"/>
              </a:rPr>
              <a:t>1</a:t>
            </a:r>
          </a:p>
        </p:txBody>
      </p:sp>
      <p:sp>
        <p:nvSpPr>
          <p:cNvPr id="6" name="TextBox 5"/>
          <p:cNvSpPr txBox="1"/>
          <p:nvPr/>
        </p:nvSpPr>
        <p:spPr>
          <a:xfrm>
            <a:off x="523874" y="2571750"/>
            <a:ext cx="10477500" cy="904875"/>
          </a:xfrm>
          <a:prstGeom prst="rect">
            <a:avLst/>
          </a:prstGeom>
          <a:noFill/>
        </p:spPr>
        <p:txBody>
          <a:bodyPr wrap="square" lIns="0" rIns="0" tIns="0" bIns="0">
            <a:spAutoFit/>
          </a:bodyPr>
          <a:lstStyle/>
          <a:p>
            <a:pPr>
              <a:lnSpc>
                <a:spcPct val="118000"/>
              </a:lnSpc>
              <a:spcBef>
                <a:spcPts val="0"/>
              </a:spcBef>
              <a:spcAft>
                <a:spcPts val="0"/>
              </a:spcAft>
              <a:defRPr sz="5800" b="1">
                <a:solidFill>
                  <a:srgbClr val="126B85"/>
                </a:solidFill>
                <a:latin typeface="Lato"/>
              </a:defRPr>
            </a:pPr>
            <a:r>
              <a:rPr>
                <a:ea typeface="Microsoft JhengHei"/>
              </a:rPr>
              <a:t>Cohort</a:t>
            </a:r>
          </a:p>
        </p:txBody>
      </p:sp>
      <p:sp>
        <p:nvSpPr>
          <p:cNvPr id="7" name="TextBox 6"/>
          <p:cNvSpPr txBox="1"/>
          <p:nvPr/>
        </p:nvSpPr>
        <p:spPr>
          <a:xfrm>
            <a:off x="552450" y="3952875"/>
            <a:ext cx="10096500" cy="1000125"/>
          </a:xfrm>
          <a:prstGeom prst="rect">
            <a:avLst/>
          </a:prstGeom>
          <a:noFill/>
        </p:spPr>
        <p:txBody>
          <a:bodyPr wrap="square" lIns="0" rIns="0" tIns="0" bIns="0">
            <a:spAutoFit/>
          </a:bodyPr>
          <a:lstStyle/>
          <a:p>
            <a:pPr>
              <a:lnSpc>
                <a:spcPct val="118000"/>
              </a:lnSpc>
              <a:spcBef>
                <a:spcPts val="0"/>
              </a:spcBef>
              <a:spcAft>
                <a:spcPts val="0"/>
              </a:spcAft>
              <a:defRPr sz="2800" b="0">
                <a:solidFill>
                  <a:srgbClr val="24384A"/>
                </a:solidFill>
                <a:latin typeface="Lato"/>
              </a:defRPr>
            </a:pPr>
            <a:r>
              <a:rPr>
                <a:ea typeface="Microsoft JhengHei"/>
              </a:rPr>
              <a:t>Agents for retrieving, comparing and documenting textual evidence</a:t>
            </a:r>
          </a:p>
        </p:txBody>
      </p:sp>
      <p:sp>
        <p:nvSpPr>
          <p:cNvPr id="8" name="TextBox 7"/>
          <p:cNvSpPr txBox="1"/>
          <p:nvPr/>
        </p:nvSpPr>
        <p:spPr>
          <a:xfrm>
            <a:off x="552450" y="5124450"/>
            <a:ext cx="11049000" cy="333375"/>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Shu-Kai Hsieh¹² · Da-Chen Lian¹² · Chunki Lim¹ · Lang-Ching Yeh¹</a:t>
            </a:r>
          </a:p>
        </p:txBody>
      </p:sp>
      <p:sp>
        <p:nvSpPr>
          <p:cNvPr id="9" name="TextBox 8"/>
          <p:cNvSpPr txBox="1"/>
          <p:nvPr/>
        </p:nvSpPr>
        <p:spPr>
          <a:xfrm>
            <a:off x="552450" y="5600700"/>
            <a:ext cx="11049000" cy="333375"/>
          </a:xfrm>
          <a:prstGeom prst="rect">
            <a:avLst/>
          </a:prstGeom>
          <a:noFill/>
        </p:spPr>
        <p:txBody>
          <a:bodyPr wrap="square" lIns="0" rIns="0" tIns="0" bIns="0">
            <a:spAutoFit/>
          </a:bodyPr>
          <a:lstStyle/>
          <a:p>
            <a:pPr>
              <a:lnSpc>
                <a:spcPct val="118000"/>
              </a:lnSpc>
              <a:spcBef>
                <a:spcPts val="0"/>
              </a:spcBef>
              <a:spcAft>
                <a:spcPts val="0"/>
              </a:spcAft>
              <a:defRPr sz="1700" b="0">
                <a:solidFill>
                  <a:srgbClr val="24384A"/>
                </a:solidFill>
                <a:latin typeface="Lato"/>
              </a:defRPr>
            </a:pPr>
            <a:r>
              <a:rPr>
                <a:ea typeface="Microsoft JhengHei"/>
              </a:rPr>
              <a:t>¹ Graduate Institute of Linguistics, National Taiwan University, Taipei, Taiwan</a:t>
            </a:r>
          </a:p>
        </p:txBody>
      </p:sp>
      <p:sp>
        <p:nvSpPr>
          <p:cNvPr id="10" name="TextBox 9"/>
          <p:cNvSpPr txBox="1"/>
          <p:nvPr/>
        </p:nvSpPr>
        <p:spPr>
          <a:xfrm>
            <a:off x="552450" y="5876925"/>
            <a:ext cx="11049000" cy="333375"/>
          </a:xfrm>
          <a:prstGeom prst="rect">
            <a:avLst/>
          </a:prstGeom>
          <a:noFill/>
        </p:spPr>
        <p:txBody>
          <a:bodyPr wrap="square" lIns="0" rIns="0" tIns="0" bIns="0">
            <a:spAutoFit/>
          </a:bodyPr>
          <a:lstStyle/>
          <a:p>
            <a:pPr>
              <a:lnSpc>
                <a:spcPct val="118000"/>
              </a:lnSpc>
              <a:spcBef>
                <a:spcPts val="0"/>
              </a:spcBef>
              <a:spcAft>
                <a:spcPts val="0"/>
              </a:spcAft>
              <a:defRPr sz="1700" b="0">
                <a:solidFill>
                  <a:srgbClr val="24384A"/>
                </a:solidFill>
                <a:latin typeface="Lato"/>
              </a:defRPr>
            </a:pPr>
            <a:r>
              <a:rPr>
                <a:ea typeface="Microsoft JhengHei"/>
              </a:rPr>
              <a:t>² Humanistic-AI lab, College of Liberal Arts, National Taiwan University, Taipei, Taiwan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Research material</a:t>
            </a: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Data and thanks</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11239500" y="6438900"/>
            <a:ext cx="457200" cy="238125"/>
          </a:xfrm>
          <a:prstGeom prst="rect">
            <a:avLst/>
          </a:prstGeom>
          <a:noFill/>
        </p:spPr>
        <p:txBody>
          <a:bodyPr wrap="square" lIns="0" rIns="0" tIns="0" bIns="0">
            <a:spAutoFit/>
          </a:bodyPr>
          <a:lstStyle/>
          <a:p>
            <a:pPr>
              <a:lnSpc>
                <a:spcPct val="118000"/>
              </a:lnSpc>
              <a:spcBef>
                <a:spcPts val="0"/>
              </a:spcBef>
              <a:spcAft>
                <a:spcPts val="0"/>
              </a:spcAft>
              <a:defRPr sz="1200" b="0">
                <a:solidFill>
                  <a:srgbClr val="526778"/>
                </a:solidFill>
                <a:latin typeface="Lato"/>
              </a:defRPr>
            </a:pPr>
            <a:r>
              <a:rPr>
                <a:ea typeface="Microsoft JhengHei"/>
              </a:rPr>
              <a:t>2</a:t>
            </a:r>
          </a:p>
        </p:txBody>
      </p:sp>
      <p:sp>
        <p:nvSpPr>
          <p:cNvPr id="6" name="TextBox 5"/>
          <p:cNvSpPr txBox="1"/>
          <p:nvPr/>
        </p:nvSpPr>
        <p:spPr>
          <a:xfrm>
            <a:off x="552450" y="2238375"/>
            <a:ext cx="10668000" cy="90487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Thank you, Michael Radich</a:t>
            </a:r>
          </a:p>
        </p:txBody>
      </p:sp>
      <p:sp>
        <p:nvSpPr>
          <p:cNvPr id="7" name="TextBox 6"/>
          <p:cNvSpPr txBox="1"/>
          <p:nvPr/>
        </p:nvSpPr>
        <p:spPr>
          <a:xfrm>
            <a:off x="552450" y="3000375"/>
            <a:ext cx="10668000" cy="904875"/>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For sharing a CBETA-derived research corpus, working catalogue and curated vocabulary list.</a:t>
            </a:r>
          </a:p>
        </p:txBody>
      </p:sp>
      <p:sp>
        <p:nvSpPr>
          <p:cNvPr id="8" name="TextBox 7"/>
          <p:cNvSpPr txBox="1"/>
          <p:nvPr/>
        </p:nvSpPr>
        <p:spPr>
          <a:xfrm>
            <a:off x="552450" y="4238625"/>
            <a:ext cx="10668000" cy="904875"/>
          </a:xfrm>
          <a:prstGeom prst="rect">
            <a:avLst/>
          </a:prstGeom>
          <a:noFill/>
        </p:spPr>
        <p:txBody>
          <a:bodyPr wrap="square" lIns="0" rIns="0" tIns="0" bIns="0">
            <a:spAutoFit/>
          </a:bodyPr>
          <a:lstStyle/>
          <a:p>
            <a:pPr>
              <a:lnSpc>
                <a:spcPct val="118000"/>
              </a:lnSpc>
              <a:spcBef>
                <a:spcPts val="0"/>
              </a:spcBef>
              <a:spcAft>
                <a:spcPts val="0"/>
              </a:spcAft>
              <a:defRPr sz="2400" b="0">
                <a:solidFill>
                  <a:srgbClr val="24384A"/>
                </a:solidFill>
                <a:latin typeface="Lato"/>
              </a:defRPr>
            </a:pPr>
            <a:r>
              <a:rPr>
                <a:ea typeface="Microsoft JhengHei"/>
              </a:rPr>
              <a:t>368 texts/chapters in 13 vocabulary comparison groups.</a:t>
            </a:r>
          </a:p>
        </p:txBody>
      </p:sp>
      <p:sp>
        <p:nvSpPr>
          <p:cNvPr id="9" name="TextBox 8"/>
          <p:cNvSpPr txBox="1"/>
          <p:nvPr/>
        </p:nvSpPr>
        <p:spPr>
          <a:xfrm>
            <a:off x="552450" y="5095875"/>
            <a:ext cx="10668000" cy="904875"/>
          </a:xfrm>
          <a:prstGeom prst="rect">
            <a:avLst/>
          </a:prstGeom>
          <a:noFill/>
        </p:spPr>
        <p:txBody>
          <a:bodyPr wrap="square" lIns="0" rIns="0" tIns="0" bIns="0">
            <a:spAutoFit/>
          </a:bodyPr>
          <a:lstStyle/>
          <a:p>
            <a:pPr>
              <a:lnSpc>
                <a:spcPct val="118000"/>
              </a:lnSpc>
              <a:spcBef>
                <a:spcPts val="0"/>
              </a:spcBef>
              <a:spcAft>
                <a:spcPts val="0"/>
              </a:spcAft>
              <a:defRPr sz="2400" b="0">
                <a:solidFill>
                  <a:srgbClr val="24384A"/>
                </a:solidFill>
                <a:latin typeface="Lato"/>
              </a:defRPr>
            </a:pPr>
            <a:r>
              <a:rPr>
                <a:ea typeface="Microsoft JhengHei"/>
              </a:rPr>
              <a:t>The source texts derive from CBETA. This is a selected corpus, not the whole canon.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Cohort</a:t>
            </a:r>
          </a:p>
        </p:txBody>
      </p:sp>
      <p:sp>
        <p:nvSpPr>
          <p:cNvPr id="3" name="TextBox 2"/>
          <p:cNvSpPr txBox="1"/>
          <p:nvPr/>
        </p:nvSpPr>
        <p:spPr>
          <a:xfrm>
            <a:off x="495299" y="800100"/>
            <a:ext cx="11201400" cy="1143000"/>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Functions</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552450" y="2143125"/>
            <a:ext cx="10668000" cy="114300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Corpus search</a:t>
            </a:r>
          </a:p>
        </p:txBody>
      </p:sp>
      <p:sp>
        <p:nvSpPr>
          <p:cNvPr id="6" name="TextBox 5"/>
          <p:cNvSpPr txBox="1"/>
          <p:nvPr/>
        </p:nvSpPr>
        <p:spPr>
          <a:xfrm>
            <a:off x="552450" y="3429000"/>
            <a:ext cx="10668000" cy="114300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Passage and vocabulary comparisons</a:t>
            </a:r>
          </a:p>
        </p:txBody>
      </p:sp>
      <p:sp>
        <p:nvSpPr>
          <p:cNvPr id="7" name="TextBox 6"/>
          <p:cNvSpPr txBox="1"/>
          <p:nvPr/>
        </p:nvSpPr>
        <p:spPr>
          <a:xfrm>
            <a:off x="552450" y="4714875"/>
            <a:ext cx="10668000" cy="114300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Agent investigations, source records and researcher decisions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Cohort</a:t>
            </a:r>
          </a:p>
        </p:txBody>
      </p:sp>
      <p:sp>
        <p:nvSpPr>
          <p:cNvPr id="3" name="TextBox 2"/>
          <p:cNvSpPr txBox="1"/>
          <p:nvPr/>
        </p:nvSpPr>
        <p:spPr>
          <a:xfrm>
            <a:off x="495299" y="800100"/>
            <a:ext cx="11201400" cy="1143000"/>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Example research questions</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552450" y="2143125"/>
            <a:ext cx="10668000" cy="114300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Lotus Sūtra: where do the two translations discuss the same material in different words?</a:t>
            </a:r>
          </a:p>
        </p:txBody>
      </p:sp>
      <p:sp>
        <p:nvSpPr>
          <p:cNvPr id="6" name="TextBox 5"/>
          <p:cNvSpPr txBox="1"/>
          <p:nvPr/>
        </p:nvSpPr>
        <p:spPr>
          <a:xfrm>
            <a:off x="552450" y="3429000"/>
            <a:ext cx="10668000" cy="114300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T0603 and its commentary: how much does repeated wording affect the vocabulary result?</a:t>
            </a:r>
          </a:p>
        </p:txBody>
      </p:sp>
      <p:sp>
        <p:nvSpPr>
          <p:cNvPr id="7" name="TextBox 6"/>
          <p:cNvSpPr txBox="1"/>
          <p:nvPr/>
        </p:nvSpPr>
        <p:spPr>
          <a:xfrm>
            <a:off x="552450" y="4714875"/>
            <a:ext cx="10668000" cy="114300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These examples test the tools on known textual relationships.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Cohort</a:t>
            </a:r>
          </a:p>
        </p:txBody>
      </p:sp>
      <p:sp>
        <p:nvSpPr>
          <p:cNvPr id="3" name="TextBox 2"/>
          <p:cNvSpPr txBox="1"/>
          <p:nvPr/>
        </p:nvSpPr>
        <p:spPr>
          <a:xfrm>
            <a:off x="495299" y="800100"/>
            <a:ext cx="11201400" cy="1143000"/>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Cohort</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552450" y="2143125"/>
            <a:ext cx="10668000" cy="114300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Corpus → related passages → inspect shared wording</a:t>
            </a:r>
          </a:p>
        </p:txBody>
      </p:sp>
      <p:sp>
        <p:nvSpPr>
          <p:cNvPr id="6" name="TextBox 5"/>
          <p:cNvSpPr txBox="1"/>
          <p:nvPr/>
        </p:nvSpPr>
        <p:spPr>
          <a:xfrm>
            <a:off x="552450" y="3429000"/>
            <a:ext cx="10668000" cy="114300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Vocabulary comparison → repeat with a source excluded</a:t>
            </a:r>
          </a:p>
        </p:txBody>
      </p:sp>
      <p:sp>
        <p:nvSpPr>
          <p:cNvPr id="7" name="TextBox 6"/>
          <p:cNvSpPr txBox="1"/>
          <p:nvPr/>
        </p:nvSpPr>
        <p:spPr>
          <a:xfrm>
            <a:off x="552450" y="4714875"/>
            <a:ext cx="10668000" cy="114300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Inquiry → saved actions → Findings → Graph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Cohort</a:t>
            </a:r>
          </a:p>
        </p:txBody>
      </p:sp>
      <p:sp>
        <p:nvSpPr>
          <p:cNvPr id="3" name="TextBox 2"/>
          <p:cNvSpPr txBox="1"/>
          <p:nvPr/>
        </p:nvSpPr>
        <p:spPr>
          <a:xfrm>
            <a:off x="495299" y="800100"/>
            <a:ext cx="11201400" cy="1143000"/>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Results</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552450" y="2143125"/>
            <a:ext cx="10668000" cy="114300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Lotus Sūtra: 283 of 327 indexed passages retrieve the other translation first.</a:t>
            </a:r>
          </a:p>
        </p:txBody>
      </p:sp>
      <p:sp>
        <p:nvSpPr>
          <p:cNvPr id="6" name="TextBox 5"/>
          <p:cNvSpPr txBox="1"/>
          <p:nvPr/>
        </p:nvSpPr>
        <p:spPr>
          <a:xfrm>
            <a:off x="552450" y="3429000"/>
            <a:ext cx="10668000" cy="114300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Vocabulary: Dharmarakṣa ranks first for the earlier Lotus translation under both lists.</a:t>
            </a:r>
          </a:p>
        </p:txBody>
      </p:sp>
      <p:sp>
        <p:nvSpPr>
          <p:cNvPr id="7" name="TextBox 6"/>
          <p:cNvSpPr txBox="1"/>
          <p:nvPr/>
        </p:nvSpPr>
        <p:spPr>
          <a:xfrm>
            <a:off x="552450" y="4714875"/>
            <a:ext cx="10668000" cy="114300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T0603: removing the commentary changes the first-ranked group.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Cohort</a:t>
            </a:r>
          </a:p>
        </p:txBody>
      </p:sp>
      <p:sp>
        <p:nvSpPr>
          <p:cNvPr id="3" name="TextBox 2"/>
          <p:cNvSpPr txBox="1"/>
          <p:nvPr/>
        </p:nvSpPr>
        <p:spPr>
          <a:xfrm>
            <a:off x="495299" y="800100"/>
            <a:ext cx="11201400" cy="1143000"/>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Limits</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552450" y="2143125"/>
            <a:ext cx="10668000" cy="114300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A similar passage still needs to be read in context.</a:t>
            </a:r>
          </a:p>
        </p:txBody>
      </p:sp>
      <p:sp>
        <p:nvSpPr>
          <p:cNvPr id="6" name="TextBox 5"/>
          <p:cNvSpPr txBox="1"/>
          <p:nvPr/>
        </p:nvSpPr>
        <p:spPr>
          <a:xfrm>
            <a:off x="552450" y="3429000"/>
            <a:ext cx="10668000" cy="114300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Vocabulary rankings can be wrong. Dates and borrowing need separate evidence.</a:t>
            </a:r>
          </a:p>
        </p:txBody>
      </p:sp>
      <p:sp>
        <p:nvSpPr>
          <p:cNvPr id="7" name="TextBox 6"/>
          <p:cNvSpPr txBox="1"/>
          <p:nvPr/>
        </p:nvSpPr>
        <p:spPr>
          <a:xfrm>
            <a:off x="552450" y="4714875"/>
            <a:ext cx="10668000" cy="114300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The researcher decides whether to accept a proposal.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2450" y="266700"/>
            <a:ext cx="10953750" cy="590550"/>
          </a:xfrm>
          <a:prstGeom prst="rect">
            <a:avLst/>
          </a:prstGeom>
          <a:noFill/>
        </p:spPr>
        <p:txBody>
          <a:bodyPr wrap="square" lIns="0" rIns="0" tIns="0" bIns="0">
            <a:spAutoFit/>
          </a:bodyPr>
          <a:lstStyle/>
          <a:p>
            <a:pPr>
              <a:lnSpc>
                <a:spcPct val="118000"/>
              </a:lnSpc>
              <a:spcBef>
                <a:spcPts val="0"/>
              </a:spcBef>
              <a:spcAft>
                <a:spcPts val="0"/>
              </a:spcAft>
              <a:defRPr sz="3000" b="1">
                <a:solidFill>
                  <a:srgbClr val="24384A"/>
                </a:solidFill>
                <a:latin typeface="Lato"/>
              </a:defRPr>
            </a:pPr>
            <a:r>
              <a:rPr>
                <a:ea typeface="Microsoft JhengHei"/>
              </a:rPr>
              <a:t>Corpus</a:t>
            </a:r>
          </a:p>
        </p:txBody>
      </p:sp>
      <p:pic>
        <p:nvPicPr>
          <p:cNvPr id="3" name="Picture 2" descr="corpus.png"/>
          <p:cNvPicPr>
            <a:picLocks noChangeAspect="1"/>
          </p:cNvPicPr>
          <p:nvPr/>
        </p:nvPicPr>
        <p:blipFill>
          <a:blip r:embed="rId2"/>
          <a:stretch>
            <a:fillRect/>
          </a:stretch>
        </p:blipFill>
        <p:spPr>
          <a:xfrm>
            <a:off x="1123950" y="952500"/>
            <a:ext cx="9944100" cy="5524500"/>
          </a:xfrm>
          <a:prstGeom prst="rect">
            <a:avLst/>
          </a:prstGeom>
        </p:spPr>
      </p:pic>
      <p:sp>
        <p:nvSpPr>
          <p:cNvPr id="4" name="TextBox 3"/>
          <p:cNvSpPr txBox="1"/>
          <p:nvPr/>
        </p:nvSpPr>
        <p:spPr>
          <a:xfrm>
            <a:off x="552450" y="6562725"/>
            <a:ext cx="1104900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Interface reference · source passages hidden where applicable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2450" y="266700"/>
            <a:ext cx="10953750" cy="590550"/>
          </a:xfrm>
          <a:prstGeom prst="rect">
            <a:avLst/>
          </a:prstGeom>
          <a:noFill/>
        </p:spPr>
        <p:txBody>
          <a:bodyPr wrap="square" lIns="0" rIns="0" tIns="0" bIns="0">
            <a:spAutoFit/>
          </a:bodyPr>
          <a:lstStyle/>
          <a:p>
            <a:pPr>
              <a:lnSpc>
                <a:spcPct val="118000"/>
              </a:lnSpc>
              <a:spcBef>
                <a:spcPts val="0"/>
              </a:spcBef>
              <a:spcAft>
                <a:spcPts val="0"/>
              </a:spcAft>
              <a:defRPr sz="3000" b="1">
                <a:solidFill>
                  <a:srgbClr val="24384A"/>
                </a:solidFill>
                <a:latin typeface="Lato"/>
              </a:defRPr>
            </a:pPr>
            <a:r>
              <a:rPr>
                <a:ea typeface="Microsoft JhengHei"/>
              </a:rPr>
              <a:t>Vocabulary comparison</a:t>
            </a:r>
          </a:p>
        </p:txBody>
      </p:sp>
      <p:pic>
        <p:nvPicPr>
          <p:cNvPr id="3" name="Picture 2" descr="vocabulary.png"/>
          <p:cNvPicPr>
            <a:picLocks noChangeAspect="1"/>
          </p:cNvPicPr>
          <p:nvPr/>
        </p:nvPicPr>
        <p:blipFill>
          <a:blip r:embed="rId2"/>
          <a:stretch>
            <a:fillRect/>
          </a:stretch>
        </p:blipFill>
        <p:spPr>
          <a:xfrm>
            <a:off x="1123950" y="952500"/>
            <a:ext cx="9944100" cy="5524500"/>
          </a:xfrm>
          <a:prstGeom prst="rect">
            <a:avLst/>
          </a:prstGeom>
        </p:spPr>
      </p:pic>
      <p:sp>
        <p:nvSpPr>
          <p:cNvPr id="4" name="TextBox 3"/>
          <p:cNvSpPr txBox="1"/>
          <p:nvPr/>
        </p:nvSpPr>
        <p:spPr>
          <a:xfrm>
            <a:off x="552450" y="6562725"/>
            <a:ext cx="1104900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Interface reference · source passages hidden where applicable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2450" y="266700"/>
            <a:ext cx="10953750" cy="590550"/>
          </a:xfrm>
          <a:prstGeom prst="rect">
            <a:avLst/>
          </a:prstGeom>
          <a:noFill/>
        </p:spPr>
        <p:txBody>
          <a:bodyPr wrap="square" lIns="0" rIns="0" tIns="0" bIns="0">
            <a:spAutoFit/>
          </a:bodyPr>
          <a:lstStyle/>
          <a:p>
            <a:pPr>
              <a:lnSpc>
                <a:spcPct val="118000"/>
              </a:lnSpc>
              <a:spcBef>
                <a:spcPts val="0"/>
              </a:spcBef>
              <a:spcAft>
                <a:spcPts val="0"/>
              </a:spcAft>
              <a:defRPr sz="3000" b="1">
                <a:solidFill>
                  <a:srgbClr val="24384A"/>
                </a:solidFill>
                <a:latin typeface="Lato"/>
              </a:defRPr>
            </a:pPr>
            <a:r>
              <a:rPr>
                <a:ea typeface="Microsoft JhengHei"/>
              </a:rPr>
              <a:t>Inquiry</a:t>
            </a:r>
          </a:p>
        </p:txBody>
      </p:sp>
      <p:pic>
        <p:nvPicPr>
          <p:cNvPr id="3" name="Picture 2" descr="inquiry.png"/>
          <p:cNvPicPr>
            <a:picLocks noChangeAspect="1"/>
          </p:cNvPicPr>
          <p:nvPr/>
        </p:nvPicPr>
        <p:blipFill>
          <a:blip r:embed="rId2"/>
          <a:stretch>
            <a:fillRect/>
          </a:stretch>
        </p:blipFill>
        <p:spPr>
          <a:xfrm>
            <a:off x="1123950" y="952500"/>
            <a:ext cx="9944100" cy="5524500"/>
          </a:xfrm>
          <a:prstGeom prst="rect">
            <a:avLst/>
          </a:prstGeom>
        </p:spPr>
      </p:pic>
      <p:sp>
        <p:nvSpPr>
          <p:cNvPr id="4" name="TextBox 3"/>
          <p:cNvSpPr txBox="1"/>
          <p:nvPr/>
        </p:nvSpPr>
        <p:spPr>
          <a:xfrm>
            <a:off x="552450" y="6562725"/>
            <a:ext cx="1104900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Interface reference · source passages hidden where applicable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2450" y="266700"/>
            <a:ext cx="10953750" cy="590550"/>
          </a:xfrm>
          <a:prstGeom prst="rect">
            <a:avLst/>
          </a:prstGeom>
          <a:noFill/>
        </p:spPr>
        <p:txBody>
          <a:bodyPr wrap="square" lIns="0" rIns="0" tIns="0" bIns="0">
            <a:spAutoFit/>
          </a:bodyPr>
          <a:lstStyle/>
          <a:p>
            <a:pPr>
              <a:lnSpc>
                <a:spcPct val="118000"/>
              </a:lnSpc>
              <a:spcBef>
                <a:spcPts val="0"/>
              </a:spcBef>
              <a:spcAft>
                <a:spcPts val="0"/>
              </a:spcAft>
              <a:defRPr sz="3000" b="1">
                <a:solidFill>
                  <a:srgbClr val="24384A"/>
                </a:solidFill>
                <a:latin typeface="Lato"/>
              </a:defRPr>
            </a:pPr>
            <a:r>
              <a:rPr>
                <a:ea typeface="Microsoft JhengHei"/>
              </a:rPr>
              <a:t>Findings</a:t>
            </a:r>
          </a:p>
        </p:txBody>
      </p:sp>
      <p:pic>
        <p:nvPicPr>
          <p:cNvPr id="3" name="Picture 2" descr="findings.png"/>
          <p:cNvPicPr>
            <a:picLocks noChangeAspect="1"/>
          </p:cNvPicPr>
          <p:nvPr/>
        </p:nvPicPr>
        <p:blipFill>
          <a:blip r:embed="rId2"/>
          <a:stretch>
            <a:fillRect/>
          </a:stretch>
        </p:blipFill>
        <p:spPr>
          <a:xfrm>
            <a:off x="1123950" y="952500"/>
            <a:ext cx="9944100" cy="5524500"/>
          </a:xfrm>
          <a:prstGeom prst="rect">
            <a:avLst/>
          </a:prstGeom>
        </p:spPr>
      </p:pic>
      <p:sp>
        <p:nvSpPr>
          <p:cNvPr id="4" name="TextBox 3"/>
          <p:cNvSpPr txBox="1"/>
          <p:nvPr/>
        </p:nvSpPr>
        <p:spPr>
          <a:xfrm>
            <a:off x="552450" y="6562725"/>
            <a:ext cx="1104900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Interface reference · source passages hidden where applicable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2450" y="266700"/>
            <a:ext cx="10953750" cy="590550"/>
          </a:xfrm>
          <a:prstGeom prst="rect">
            <a:avLst/>
          </a:prstGeom>
          <a:noFill/>
        </p:spPr>
        <p:txBody>
          <a:bodyPr wrap="square" lIns="0" rIns="0" tIns="0" bIns="0">
            <a:spAutoFit/>
          </a:bodyPr>
          <a:lstStyle/>
          <a:p>
            <a:pPr>
              <a:lnSpc>
                <a:spcPct val="118000"/>
              </a:lnSpc>
              <a:spcBef>
                <a:spcPts val="0"/>
              </a:spcBef>
              <a:spcAft>
                <a:spcPts val="0"/>
              </a:spcAft>
              <a:defRPr sz="3000" b="1">
                <a:solidFill>
                  <a:srgbClr val="24384A"/>
                </a:solidFill>
                <a:latin typeface="Lato"/>
              </a:defRPr>
            </a:pPr>
            <a:r>
              <a:rPr>
                <a:ea typeface="Microsoft JhengHei"/>
              </a:rPr>
              <a:t>Graph</a:t>
            </a:r>
          </a:p>
        </p:txBody>
      </p:sp>
      <p:pic>
        <p:nvPicPr>
          <p:cNvPr id="3" name="Picture 2" descr="graph.png"/>
          <p:cNvPicPr>
            <a:picLocks noChangeAspect="1"/>
          </p:cNvPicPr>
          <p:nvPr/>
        </p:nvPicPr>
        <p:blipFill>
          <a:blip r:embed="rId2"/>
          <a:stretch>
            <a:fillRect/>
          </a:stretch>
        </p:blipFill>
        <p:spPr>
          <a:xfrm>
            <a:off x="1123950" y="952500"/>
            <a:ext cx="9944100" cy="5524500"/>
          </a:xfrm>
          <a:prstGeom prst="rect">
            <a:avLst/>
          </a:prstGeom>
        </p:spPr>
      </p:pic>
      <p:sp>
        <p:nvSpPr>
          <p:cNvPr id="4" name="TextBox 3"/>
          <p:cNvSpPr txBox="1"/>
          <p:nvPr/>
        </p:nvSpPr>
        <p:spPr>
          <a:xfrm>
            <a:off x="552450" y="6562725"/>
            <a:ext cx="1104900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Interface reference · source passages hidden where applicable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Historical question · adapted from Radich’s Q1</a:t>
            </a: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Translator usage or later reuse?</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11239500" y="6438900"/>
            <a:ext cx="457200" cy="238125"/>
          </a:xfrm>
          <a:prstGeom prst="rect">
            <a:avLst/>
          </a:prstGeom>
          <a:noFill/>
        </p:spPr>
        <p:txBody>
          <a:bodyPr wrap="square" lIns="0" rIns="0" tIns="0" bIns="0">
            <a:spAutoFit/>
          </a:bodyPr>
          <a:lstStyle/>
          <a:p>
            <a:pPr>
              <a:lnSpc>
                <a:spcPct val="118000"/>
              </a:lnSpc>
              <a:spcBef>
                <a:spcPts val="0"/>
              </a:spcBef>
              <a:spcAft>
                <a:spcPts val="0"/>
              </a:spcAft>
              <a:defRPr sz="1200" b="0">
                <a:solidFill>
                  <a:srgbClr val="526778"/>
                </a:solidFill>
                <a:latin typeface="Lato"/>
              </a:defRPr>
            </a:pPr>
            <a:r>
              <a:rPr>
                <a:ea typeface="Microsoft JhengHei"/>
              </a:rPr>
              <a:t>13</a:t>
            </a:r>
          </a:p>
        </p:txBody>
      </p:sp>
      <p:sp>
        <p:nvSpPr>
          <p:cNvPr id="6" name="TextBox 5"/>
          <p:cNvSpPr txBox="1"/>
          <p:nvPr/>
        </p:nvSpPr>
        <p:spPr>
          <a:xfrm>
            <a:off x="523874" y="2162175"/>
            <a:ext cx="10953750" cy="1552575"/>
          </a:xfrm>
          <a:prstGeom prst="rect">
            <a:avLst/>
          </a:prstGeom>
          <a:noFill/>
        </p:spPr>
        <p:txBody>
          <a:bodyPr wrap="square" lIns="0" rIns="0" tIns="0" bIns="0">
            <a:spAutoFit/>
          </a:bodyPr>
          <a:lstStyle/>
          <a:p>
            <a:pPr>
              <a:lnSpc>
                <a:spcPct val="118000"/>
              </a:lnSpc>
              <a:spcBef>
                <a:spcPts val="0"/>
              </a:spcBef>
              <a:spcAft>
                <a:spcPts val="0"/>
              </a:spcAft>
              <a:defRPr sz="3100" b="1">
                <a:solidFill>
                  <a:srgbClr val="126B85"/>
                </a:solidFill>
                <a:latin typeface="Lato"/>
              </a:defRPr>
            </a:pPr>
            <a:r>
              <a:rPr>
                <a:ea typeface="Microsoft JhengHei"/>
              </a:rPr>
              <a:t>Which texts share wording with T0603, and does that similarity reflect a translator’s usage or later reuse?</a:t>
            </a:r>
          </a:p>
        </p:txBody>
      </p:sp>
      <p:sp>
        <p:nvSpPr>
          <p:cNvPr id="7" name="TextBox 6"/>
          <p:cNvSpPr txBox="1"/>
          <p:nvPr/>
        </p:nvSpPr>
        <p:spPr>
          <a:xfrm>
            <a:off x="523874" y="4210050"/>
            <a:ext cx="10858500" cy="1190625"/>
          </a:xfrm>
          <a:prstGeom prst="rect">
            <a:avLst/>
          </a:prstGeom>
          <a:noFill/>
        </p:spPr>
        <p:txBody>
          <a:bodyPr wrap="square" lIns="0" rIns="0" tIns="0" bIns="0">
            <a:spAutoFit/>
          </a:bodyPr>
          <a:lstStyle/>
          <a:p>
            <a:pPr>
              <a:lnSpc>
                <a:spcPct val="118000"/>
              </a:lnSpc>
              <a:spcBef>
                <a:spcPts val="0"/>
              </a:spcBef>
              <a:spcAft>
                <a:spcPts val="0"/>
              </a:spcAft>
              <a:defRPr sz="2600" b="0">
                <a:solidFill>
                  <a:srgbClr val="24384A"/>
                </a:solidFill>
                <a:latin typeface="Lato"/>
              </a:defRPr>
            </a:pPr>
            <a:r>
              <a:rPr>
                <a:ea typeface="Microsoft JhengHei"/>
              </a:rPr>
              <a:t>T0603 has an accepted attribution to An Shigao.</a:t>
            </a:r>
          </a:p>
          <a:p>
            <a:pPr>
              <a:lnSpc>
                <a:spcPct val="118000"/>
              </a:lnSpc>
              <a:spcBef>
                <a:spcPts val="0"/>
              </a:spcBef>
              <a:spcAft>
                <a:spcPts val="0"/>
              </a:spcAft>
              <a:defRPr sz="2600" b="0">
                <a:solidFill>
                  <a:srgbClr val="24384A"/>
                </a:solidFill>
                <a:latin typeface="Lato"/>
              </a:defRPr>
            </a:pPr>
            <a:r>
              <a:rPr>
                <a:ea typeface="Microsoft JhengHei"/>
              </a:rPr>
              <a:t>Its later commentary repeats wording from the earlier text.</a:t>
            </a:r>
          </a:p>
        </p:txBody>
      </p:sp>
      <p:sp>
        <p:nvSpPr>
          <p:cNvPr id="8" name="TextBox 7"/>
          <p:cNvSpPr txBox="1"/>
          <p:nvPr/>
        </p:nvSpPr>
        <p:spPr>
          <a:xfrm>
            <a:off x="523874" y="5743575"/>
            <a:ext cx="10858500" cy="571500"/>
          </a:xfrm>
          <a:prstGeom prst="rect">
            <a:avLst/>
          </a:prstGeom>
          <a:noFill/>
        </p:spPr>
        <p:txBody>
          <a:bodyPr wrap="square" lIns="0" rIns="0" tIns="0" bIns="0">
            <a:spAutoFit/>
          </a:bodyPr>
          <a:lstStyle/>
          <a:p>
            <a:pPr>
              <a:lnSpc>
                <a:spcPct val="118000"/>
              </a:lnSpc>
              <a:spcBef>
                <a:spcPts val="0"/>
              </a:spcBef>
              <a:spcAft>
                <a:spcPts val="0"/>
              </a:spcAft>
              <a:defRPr sz="2200" b="0">
                <a:solidFill>
                  <a:srgbClr val="526778"/>
                </a:solidFill>
                <a:latin typeface="Lato"/>
              </a:defRPr>
            </a:pPr>
            <a:r>
              <a:rPr>
                <a:ea typeface="Microsoft JhengHei"/>
              </a:rPr>
              <a:t>Use this known case to examine the method before applying it to disputed texts.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Corpus retrieval · Corpus</a:t>
            </a: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Find a phrase and open its source</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11239500" y="6438900"/>
            <a:ext cx="457200" cy="238125"/>
          </a:xfrm>
          <a:prstGeom prst="rect">
            <a:avLst/>
          </a:prstGeom>
          <a:noFill/>
        </p:spPr>
        <p:txBody>
          <a:bodyPr wrap="square" lIns="0" rIns="0" tIns="0" bIns="0">
            <a:spAutoFit/>
          </a:bodyPr>
          <a:lstStyle/>
          <a:p>
            <a:pPr>
              <a:lnSpc>
                <a:spcPct val="118000"/>
              </a:lnSpc>
              <a:spcBef>
                <a:spcPts val="0"/>
              </a:spcBef>
              <a:spcAft>
                <a:spcPts val="0"/>
              </a:spcAft>
              <a:defRPr sz="1200" b="0">
                <a:solidFill>
                  <a:srgbClr val="526778"/>
                </a:solidFill>
                <a:latin typeface="Lato"/>
              </a:defRPr>
            </a:pPr>
            <a:r>
              <a:rPr>
                <a:ea typeface="Microsoft JhengHei"/>
              </a:rPr>
              <a:t>14</a:t>
            </a:r>
          </a:p>
        </p:txBody>
      </p:sp>
      <p:sp>
        <p:nvSpPr>
          <p:cNvPr id="6" name="Rectangle 5"/>
          <p:cNvSpPr/>
          <p:nvPr/>
        </p:nvSpPr>
        <p:spPr>
          <a:xfrm>
            <a:off x="523874" y="2000250"/>
            <a:ext cx="7000875" cy="3905249"/>
          </a:xfrm>
          <a:prstGeom prst="rect">
            <a:avLst/>
          </a:prstGeom>
          <a:solidFill>
            <a:srgbClr val="FFFFFF"/>
          </a:solidFill>
          <a:ln w="12700">
            <a:solidFill>
              <a:srgbClr val="D2DA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23874" y="2000250"/>
            <a:ext cx="7000875" cy="457200"/>
          </a:xfrm>
          <a:prstGeom prst="rect">
            <a:avLst/>
          </a:prstGeom>
          <a:solidFill>
            <a:srgbClr val="EDF4F7"/>
          </a:solidFill>
          <a:ln w="12700">
            <a:solidFill>
              <a:srgbClr val="D2DA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6750" y="2114550"/>
            <a:ext cx="762000" cy="238125"/>
          </a:xfrm>
          <a:prstGeom prst="rect">
            <a:avLst/>
          </a:prstGeom>
          <a:noFill/>
        </p:spPr>
        <p:txBody>
          <a:bodyPr wrap="square" lIns="0" rIns="0" tIns="0" bIns="0">
            <a:spAutoFit/>
          </a:bodyPr>
          <a:lstStyle/>
          <a:p>
            <a:pPr>
              <a:lnSpc>
                <a:spcPct val="118000"/>
              </a:lnSpc>
              <a:spcBef>
                <a:spcPts val="0"/>
              </a:spcBef>
              <a:spcAft>
                <a:spcPts val="0"/>
              </a:spcAft>
              <a:defRPr sz="1500" b="1">
                <a:solidFill>
                  <a:srgbClr val="24384A"/>
                </a:solidFill>
                <a:latin typeface="Lato"/>
              </a:defRPr>
            </a:pPr>
            <a:r>
              <a:rPr>
                <a:ea typeface="Microsoft JhengHei"/>
              </a:rPr>
              <a:t>Cohort</a:t>
            </a:r>
          </a:p>
        </p:txBody>
      </p:sp>
      <p:sp>
        <p:nvSpPr>
          <p:cNvPr id="9" name="TextBox 8"/>
          <p:cNvSpPr txBox="1"/>
          <p:nvPr/>
        </p:nvSpPr>
        <p:spPr>
          <a:xfrm>
            <a:off x="1619250" y="2124075"/>
            <a:ext cx="5762625" cy="247649"/>
          </a:xfrm>
          <a:prstGeom prst="rect">
            <a:avLst/>
          </a:prstGeom>
          <a:noFill/>
        </p:spPr>
        <p:txBody>
          <a:bodyPr wrap="square" lIns="0" rIns="0" tIns="0" bIns="0">
            <a:spAutoFit/>
          </a:bodyPr>
          <a:lstStyle/>
          <a:p>
            <a:pPr>
              <a:lnSpc>
                <a:spcPct val="118000"/>
              </a:lnSpc>
              <a:spcBef>
                <a:spcPts val="0"/>
              </a:spcBef>
              <a:spcAft>
                <a:spcPts val="0"/>
              </a:spcAft>
              <a:defRPr sz="1400" b="0">
                <a:solidFill>
                  <a:srgbClr val="526778"/>
                </a:solidFill>
                <a:latin typeface="Lato"/>
              </a:defRPr>
            </a:pPr>
            <a:r>
              <a:rPr>
                <a:ea typeface="Microsoft JhengHei"/>
              </a:rPr>
              <a:t>Graph    Findings    Corpus    Evidence    Inquiry</a:t>
            </a:r>
          </a:p>
        </p:txBody>
      </p:sp>
      <p:sp>
        <p:nvSpPr>
          <p:cNvPr id="10" name="TextBox 9"/>
          <p:cNvSpPr txBox="1"/>
          <p:nvPr/>
        </p:nvSpPr>
        <p:spPr>
          <a:xfrm>
            <a:off x="733425" y="2638425"/>
            <a:ext cx="6581775" cy="333375"/>
          </a:xfrm>
          <a:prstGeom prst="rect">
            <a:avLst/>
          </a:prstGeom>
          <a:noFill/>
        </p:spPr>
        <p:txBody>
          <a:bodyPr wrap="square" lIns="0" rIns="0" tIns="0" bIns="0">
            <a:spAutoFit/>
          </a:bodyPr>
          <a:lstStyle/>
          <a:p>
            <a:pPr>
              <a:lnSpc>
                <a:spcPct val="118000"/>
              </a:lnSpc>
              <a:spcBef>
                <a:spcPts val="0"/>
              </a:spcBef>
              <a:spcAft>
                <a:spcPts val="0"/>
              </a:spcAft>
              <a:defRPr sz="2200" b="1">
                <a:solidFill>
                  <a:srgbClr val="126B85"/>
                </a:solidFill>
                <a:latin typeface="Lato"/>
              </a:defRPr>
            </a:pPr>
            <a:r>
              <a:rPr>
                <a:ea typeface="Microsoft JhengHei"/>
              </a:rPr>
              <a:t>Corpus</a:t>
            </a:r>
          </a:p>
        </p:txBody>
      </p:sp>
      <p:sp>
        <p:nvSpPr>
          <p:cNvPr id="11" name="TextBox 10"/>
          <p:cNvSpPr txBox="1"/>
          <p:nvPr/>
        </p:nvSpPr>
        <p:spPr>
          <a:xfrm>
            <a:off x="714375" y="6057900"/>
            <a:ext cx="6619875" cy="190500"/>
          </a:xfrm>
          <a:prstGeom prst="rect">
            <a:avLst/>
          </a:prstGeom>
          <a:noFill/>
        </p:spPr>
        <p:txBody>
          <a:bodyPr wrap="square" lIns="0" rIns="0" tIns="0" bIns="0">
            <a:spAutoFit/>
          </a:bodyPr>
          <a:lstStyle/>
          <a:p>
            <a:pPr>
              <a:lnSpc>
                <a:spcPct val="118000"/>
              </a:lnSpc>
              <a:spcBef>
                <a:spcPts val="0"/>
              </a:spcBef>
              <a:spcAft>
                <a:spcPts val="0"/>
              </a:spcAft>
              <a:defRPr sz="1000" b="0">
                <a:solidFill>
                  <a:srgbClr val="526778"/>
                </a:solidFill>
                <a:latin typeface="Lato"/>
              </a:defRPr>
            </a:pPr>
            <a:r>
              <a:rPr>
                <a:ea typeface="Microsoft JhengHei"/>
              </a:rPr>
              <a:t>Interface diagram</a:t>
            </a:r>
          </a:p>
        </p:txBody>
      </p:sp>
      <p:sp>
        <p:nvSpPr>
          <p:cNvPr id="12" name="Rectangle 11"/>
          <p:cNvSpPr/>
          <p:nvPr/>
        </p:nvSpPr>
        <p:spPr>
          <a:xfrm>
            <a:off x="733425" y="3095625"/>
            <a:ext cx="4714875" cy="438150"/>
          </a:xfrm>
          <a:prstGeom prst="rect">
            <a:avLst/>
          </a:prstGeom>
          <a:solidFill>
            <a:srgbClr val="FFFFFF"/>
          </a:solidFill>
          <a:ln w="12700">
            <a:solidFill>
              <a:srgbClr val="D2DA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7725" y="3171825"/>
            <a:ext cx="4190999" cy="32385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如是我聞</a:t>
            </a:r>
          </a:p>
        </p:txBody>
      </p:sp>
      <p:sp>
        <p:nvSpPr>
          <p:cNvPr id="14" name="Rectangle 13"/>
          <p:cNvSpPr/>
          <p:nvPr/>
        </p:nvSpPr>
        <p:spPr>
          <a:xfrm>
            <a:off x="5591175" y="3095625"/>
            <a:ext cx="1381125" cy="400050"/>
          </a:xfrm>
          <a:prstGeom prst="rect">
            <a:avLst/>
          </a:prstGeom>
          <a:solidFill>
            <a:srgbClr val="EDF4F7"/>
          </a:solidFill>
          <a:ln w="12700">
            <a:solidFill>
              <a:srgbClr val="126B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86425" y="3190875"/>
            <a:ext cx="1190625" cy="266700"/>
          </a:xfrm>
          <a:prstGeom prst="rect">
            <a:avLst/>
          </a:prstGeom>
          <a:noFill/>
        </p:spPr>
        <p:txBody>
          <a:bodyPr wrap="square" lIns="0" rIns="0" tIns="0" bIns="0">
            <a:spAutoFit/>
          </a:bodyPr>
          <a:lstStyle/>
          <a:p>
            <a:pPr>
              <a:lnSpc>
                <a:spcPct val="118000"/>
              </a:lnSpc>
              <a:spcBef>
                <a:spcPts val="0"/>
              </a:spcBef>
              <a:spcAft>
                <a:spcPts val="0"/>
              </a:spcAft>
              <a:defRPr sz="1500" b="1">
                <a:solidFill>
                  <a:srgbClr val="126B85"/>
                </a:solidFill>
                <a:latin typeface="Lato"/>
              </a:defRPr>
            </a:pPr>
            <a:r>
              <a:rPr>
                <a:ea typeface="Microsoft JhengHei"/>
              </a:rPr>
              <a:t>Search</a:t>
            </a:r>
          </a:p>
        </p:txBody>
      </p:sp>
      <p:sp>
        <p:nvSpPr>
          <p:cNvPr id="16" name="TextBox 15"/>
          <p:cNvSpPr txBox="1"/>
          <p:nvPr/>
        </p:nvSpPr>
        <p:spPr>
          <a:xfrm>
            <a:off x="733425" y="3810000"/>
            <a:ext cx="5905500" cy="323850"/>
          </a:xfrm>
          <a:prstGeom prst="rect">
            <a:avLst/>
          </a:prstGeom>
          <a:noFill/>
        </p:spPr>
        <p:txBody>
          <a:bodyPr wrap="square" lIns="0" rIns="0" tIns="0" bIns="0">
            <a:spAutoFit/>
          </a:bodyPr>
          <a:lstStyle/>
          <a:p>
            <a:pPr>
              <a:lnSpc>
                <a:spcPct val="118000"/>
              </a:lnSpc>
              <a:spcBef>
                <a:spcPts val="0"/>
              </a:spcBef>
              <a:spcAft>
                <a:spcPts val="0"/>
              </a:spcAft>
              <a:defRPr sz="1800" b="0">
                <a:solidFill>
                  <a:srgbClr val="526778"/>
                </a:solidFill>
                <a:latin typeface="Lato"/>
              </a:defRPr>
            </a:pPr>
            <a:r>
              <a:rPr>
                <a:ea typeface="Microsoft JhengHei"/>
              </a:rPr>
              <a:t>Suggested searches</a:t>
            </a:r>
          </a:p>
        </p:txBody>
      </p:sp>
      <p:sp>
        <p:nvSpPr>
          <p:cNvPr id="17" name="TextBox 16"/>
          <p:cNvSpPr txBox="1"/>
          <p:nvPr/>
        </p:nvSpPr>
        <p:spPr>
          <a:xfrm>
            <a:off x="733425" y="4219575"/>
            <a:ext cx="5905500" cy="333375"/>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Opening formula · 如是我聞</a:t>
            </a:r>
          </a:p>
        </p:txBody>
      </p:sp>
      <p:sp>
        <p:nvSpPr>
          <p:cNvPr id="18" name="TextBox 17"/>
          <p:cNvSpPr txBox="1"/>
          <p:nvPr/>
        </p:nvSpPr>
        <p:spPr>
          <a:xfrm>
            <a:off x="733425" y="4810125"/>
            <a:ext cx="5905500" cy="36195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Open a matching source record</a:t>
            </a:r>
          </a:p>
        </p:txBody>
      </p:sp>
      <p:sp>
        <p:nvSpPr>
          <p:cNvPr id="19" name="Rectangle 18"/>
          <p:cNvSpPr/>
          <p:nvPr/>
        </p:nvSpPr>
        <p:spPr>
          <a:xfrm>
            <a:off x="733425" y="5372100"/>
            <a:ext cx="2428875" cy="400050"/>
          </a:xfrm>
          <a:prstGeom prst="rect">
            <a:avLst/>
          </a:prstGeom>
          <a:solidFill>
            <a:srgbClr val="EDF4F7"/>
          </a:solidFill>
          <a:ln w="12700">
            <a:solidFill>
              <a:srgbClr val="126B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8675" y="5467350"/>
            <a:ext cx="2238375" cy="266700"/>
          </a:xfrm>
          <a:prstGeom prst="rect">
            <a:avLst/>
          </a:prstGeom>
          <a:noFill/>
        </p:spPr>
        <p:txBody>
          <a:bodyPr wrap="square" lIns="0" rIns="0" tIns="0" bIns="0">
            <a:spAutoFit/>
          </a:bodyPr>
          <a:lstStyle/>
          <a:p>
            <a:pPr>
              <a:lnSpc>
                <a:spcPct val="118000"/>
              </a:lnSpc>
              <a:spcBef>
                <a:spcPts val="0"/>
              </a:spcBef>
              <a:spcAft>
                <a:spcPts val="0"/>
              </a:spcAft>
              <a:defRPr sz="1500" b="1">
                <a:solidFill>
                  <a:srgbClr val="126B85"/>
                </a:solidFill>
                <a:latin typeface="Lato"/>
              </a:defRPr>
            </a:pPr>
            <a:r>
              <a:rPr>
                <a:ea typeface="Microsoft JhengHei"/>
              </a:rPr>
              <a:t>Investigate this passage</a:t>
            </a:r>
          </a:p>
        </p:txBody>
      </p:sp>
      <p:sp>
        <p:nvSpPr>
          <p:cNvPr id="21" name="TextBox 20"/>
          <p:cNvSpPr txBox="1"/>
          <p:nvPr/>
        </p:nvSpPr>
        <p:spPr>
          <a:xfrm>
            <a:off x="7962900" y="2428875"/>
            <a:ext cx="3571875" cy="247650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Exact wording</a:t>
            </a:r>
          </a:p>
          <a:p>
            <a:pPr>
              <a:lnSpc>
                <a:spcPct val="118000"/>
              </a:lnSpc>
              <a:spcBef>
                <a:spcPts val="0"/>
              </a:spcBef>
              <a:spcAft>
                <a:spcPts val="0"/>
              </a:spcAft>
              <a:defRPr sz="2500" b="0">
                <a:solidFill>
                  <a:srgbClr val="24384A"/>
                </a:solidFill>
                <a:latin typeface="Lato"/>
              </a:defRPr>
            </a:pPr>
          </a:p>
          <a:p>
            <a:pPr>
              <a:lnSpc>
                <a:spcPct val="118000"/>
              </a:lnSpc>
              <a:spcBef>
                <a:spcPts val="0"/>
              </a:spcBef>
              <a:spcAft>
                <a:spcPts val="0"/>
              </a:spcAft>
              <a:defRPr sz="2500" b="0">
                <a:solidFill>
                  <a:srgbClr val="24384A"/>
                </a:solidFill>
                <a:latin typeface="Lato"/>
              </a:defRPr>
            </a:pPr>
            <a:r>
              <a:rPr>
                <a:ea typeface="Microsoft JhengHei"/>
              </a:rPr>
              <a:t>Read the context</a:t>
            </a:r>
          </a:p>
          <a:p>
            <a:pPr>
              <a:lnSpc>
                <a:spcPct val="118000"/>
              </a:lnSpc>
              <a:spcBef>
                <a:spcPts val="0"/>
              </a:spcBef>
              <a:spcAft>
                <a:spcPts val="0"/>
              </a:spcAft>
              <a:defRPr sz="2500" b="0">
                <a:solidFill>
                  <a:srgbClr val="24384A"/>
                </a:solidFill>
                <a:latin typeface="Lato"/>
              </a:defRPr>
            </a:pPr>
          </a:p>
          <a:p>
            <a:pPr>
              <a:lnSpc>
                <a:spcPct val="118000"/>
              </a:lnSpc>
              <a:spcBef>
                <a:spcPts val="0"/>
              </a:spcBef>
              <a:spcAft>
                <a:spcPts val="0"/>
              </a:spcAft>
              <a:defRPr sz="2500" b="0">
                <a:solidFill>
                  <a:srgbClr val="24384A"/>
                </a:solidFill>
                <a:latin typeface="Lato"/>
              </a:defRPr>
            </a:pPr>
            <a:r>
              <a:rPr>
                <a:ea typeface="Microsoft JhengHei"/>
              </a:rPr>
              <a:t>Prepare an inquiry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Agent-based architecture · Inquiry</a:t>
            </a: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Give the agent a question and instructions</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11239500" y="6438900"/>
            <a:ext cx="457200" cy="238125"/>
          </a:xfrm>
          <a:prstGeom prst="rect">
            <a:avLst/>
          </a:prstGeom>
          <a:noFill/>
        </p:spPr>
        <p:txBody>
          <a:bodyPr wrap="square" lIns="0" rIns="0" tIns="0" bIns="0">
            <a:spAutoFit/>
          </a:bodyPr>
          <a:lstStyle/>
          <a:p>
            <a:pPr>
              <a:lnSpc>
                <a:spcPct val="118000"/>
              </a:lnSpc>
              <a:spcBef>
                <a:spcPts val="0"/>
              </a:spcBef>
              <a:spcAft>
                <a:spcPts val="0"/>
              </a:spcAft>
              <a:defRPr sz="1200" b="0">
                <a:solidFill>
                  <a:srgbClr val="526778"/>
                </a:solidFill>
                <a:latin typeface="Lato"/>
              </a:defRPr>
            </a:pPr>
            <a:r>
              <a:rPr>
                <a:ea typeface="Microsoft JhengHei"/>
              </a:rPr>
              <a:t>15</a:t>
            </a:r>
          </a:p>
        </p:txBody>
      </p:sp>
      <p:sp>
        <p:nvSpPr>
          <p:cNvPr id="6" name="Rectangle 5"/>
          <p:cNvSpPr/>
          <p:nvPr/>
        </p:nvSpPr>
        <p:spPr>
          <a:xfrm>
            <a:off x="523874" y="2000250"/>
            <a:ext cx="7000875" cy="3905249"/>
          </a:xfrm>
          <a:prstGeom prst="rect">
            <a:avLst/>
          </a:prstGeom>
          <a:solidFill>
            <a:srgbClr val="FFFFFF"/>
          </a:solidFill>
          <a:ln w="12700">
            <a:solidFill>
              <a:srgbClr val="D2DA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23874" y="2000250"/>
            <a:ext cx="7000875" cy="457200"/>
          </a:xfrm>
          <a:prstGeom prst="rect">
            <a:avLst/>
          </a:prstGeom>
          <a:solidFill>
            <a:srgbClr val="EDF4F7"/>
          </a:solidFill>
          <a:ln w="12700">
            <a:solidFill>
              <a:srgbClr val="D2DA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6750" y="2114550"/>
            <a:ext cx="762000" cy="238125"/>
          </a:xfrm>
          <a:prstGeom prst="rect">
            <a:avLst/>
          </a:prstGeom>
          <a:noFill/>
        </p:spPr>
        <p:txBody>
          <a:bodyPr wrap="square" lIns="0" rIns="0" tIns="0" bIns="0">
            <a:spAutoFit/>
          </a:bodyPr>
          <a:lstStyle/>
          <a:p>
            <a:pPr>
              <a:lnSpc>
                <a:spcPct val="118000"/>
              </a:lnSpc>
              <a:spcBef>
                <a:spcPts val="0"/>
              </a:spcBef>
              <a:spcAft>
                <a:spcPts val="0"/>
              </a:spcAft>
              <a:defRPr sz="1500" b="1">
                <a:solidFill>
                  <a:srgbClr val="24384A"/>
                </a:solidFill>
                <a:latin typeface="Lato"/>
              </a:defRPr>
            </a:pPr>
            <a:r>
              <a:rPr>
                <a:ea typeface="Microsoft JhengHei"/>
              </a:rPr>
              <a:t>Cohort</a:t>
            </a:r>
          </a:p>
        </p:txBody>
      </p:sp>
      <p:sp>
        <p:nvSpPr>
          <p:cNvPr id="9" name="TextBox 8"/>
          <p:cNvSpPr txBox="1"/>
          <p:nvPr/>
        </p:nvSpPr>
        <p:spPr>
          <a:xfrm>
            <a:off x="1619250" y="2124075"/>
            <a:ext cx="5762625" cy="247649"/>
          </a:xfrm>
          <a:prstGeom prst="rect">
            <a:avLst/>
          </a:prstGeom>
          <a:noFill/>
        </p:spPr>
        <p:txBody>
          <a:bodyPr wrap="square" lIns="0" rIns="0" tIns="0" bIns="0">
            <a:spAutoFit/>
          </a:bodyPr>
          <a:lstStyle/>
          <a:p>
            <a:pPr>
              <a:lnSpc>
                <a:spcPct val="118000"/>
              </a:lnSpc>
              <a:spcBef>
                <a:spcPts val="0"/>
              </a:spcBef>
              <a:spcAft>
                <a:spcPts val="0"/>
              </a:spcAft>
              <a:defRPr sz="1400" b="0">
                <a:solidFill>
                  <a:srgbClr val="526778"/>
                </a:solidFill>
                <a:latin typeface="Lato"/>
              </a:defRPr>
            </a:pPr>
            <a:r>
              <a:rPr>
                <a:ea typeface="Microsoft JhengHei"/>
              </a:rPr>
              <a:t>Graph    Findings    Corpus    Evidence    Inquiry</a:t>
            </a:r>
          </a:p>
        </p:txBody>
      </p:sp>
      <p:sp>
        <p:nvSpPr>
          <p:cNvPr id="10" name="TextBox 9"/>
          <p:cNvSpPr txBox="1"/>
          <p:nvPr/>
        </p:nvSpPr>
        <p:spPr>
          <a:xfrm>
            <a:off x="733425" y="2638425"/>
            <a:ext cx="6581775" cy="333375"/>
          </a:xfrm>
          <a:prstGeom prst="rect">
            <a:avLst/>
          </a:prstGeom>
          <a:noFill/>
        </p:spPr>
        <p:txBody>
          <a:bodyPr wrap="square" lIns="0" rIns="0" tIns="0" bIns="0">
            <a:spAutoFit/>
          </a:bodyPr>
          <a:lstStyle/>
          <a:p>
            <a:pPr>
              <a:lnSpc>
                <a:spcPct val="118000"/>
              </a:lnSpc>
              <a:spcBef>
                <a:spcPts val="0"/>
              </a:spcBef>
              <a:spcAft>
                <a:spcPts val="0"/>
              </a:spcAft>
              <a:defRPr sz="2200" b="1">
                <a:solidFill>
                  <a:srgbClr val="126B85"/>
                </a:solidFill>
                <a:latin typeface="Lato"/>
              </a:defRPr>
            </a:pPr>
            <a:r>
              <a:rPr>
                <a:ea typeface="Microsoft JhengHei"/>
              </a:rPr>
              <a:t>Inquiry</a:t>
            </a:r>
          </a:p>
        </p:txBody>
      </p:sp>
      <p:sp>
        <p:nvSpPr>
          <p:cNvPr id="11" name="TextBox 10"/>
          <p:cNvSpPr txBox="1"/>
          <p:nvPr/>
        </p:nvSpPr>
        <p:spPr>
          <a:xfrm>
            <a:off x="714375" y="6057900"/>
            <a:ext cx="6619875" cy="190500"/>
          </a:xfrm>
          <a:prstGeom prst="rect">
            <a:avLst/>
          </a:prstGeom>
          <a:noFill/>
        </p:spPr>
        <p:txBody>
          <a:bodyPr wrap="square" lIns="0" rIns="0" tIns="0" bIns="0">
            <a:spAutoFit/>
          </a:bodyPr>
          <a:lstStyle/>
          <a:p>
            <a:pPr>
              <a:lnSpc>
                <a:spcPct val="118000"/>
              </a:lnSpc>
              <a:spcBef>
                <a:spcPts val="0"/>
              </a:spcBef>
              <a:spcAft>
                <a:spcPts val="0"/>
              </a:spcAft>
              <a:defRPr sz="1000" b="0">
                <a:solidFill>
                  <a:srgbClr val="526778"/>
                </a:solidFill>
                <a:latin typeface="Lato"/>
              </a:defRPr>
            </a:pPr>
            <a:r>
              <a:rPr>
                <a:ea typeface="Microsoft JhengHei"/>
              </a:rPr>
              <a:t>Interface diagram</a:t>
            </a:r>
          </a:p>
        </p:txBody>
      </p:sp>
      <p:sp>
        <p:nvSpPr>
          <p:cNvPr id="12" name="TextBox 11"/>
          <p:cNvSpPr txBox="1"/>
          <p:nvPr/>
        </p:nvSpPr>
        <p:spPr>
          <a:xfrm>
            <a:off x="733425" y="3038475"/>
            <a:ext cx="5953125" cy="285750"/>
          </a:xfrm>
          <a:prstGeom prst="rect">
            <a:avLst/>
          </a:prstGeom>
          <a:noFill/>
        </p:spPr>
        <p:txBody>
          <a:bodyPr wrap="square" lIns="0" rIns="0" tIns="0" bIns="0">
            <a:spAutoFit/>
          </a:bodyPr>
          <a:lstStyle/>
          <a:p>
            <a:pPr>
              <a:lnSpc>
                <a:spcPct val="118000"/>
              </a:lnSpc>
              <a:spcBef>
                <a:spcPts val="0"/>
              </a:spcBef>
              <a:spcAft>
                <a:spcPts val="0"/>
              </a:spcAft>
              <a:defRPr sz="1700" b="1">
                <a:solidFill>
                  <a:srgbClr val="126B85"/>
                </a:solidFill>
                <a:latin typeface="Lato"/>
              </a:defRPr>
            </a:pPr>
            <a:r>
              <a:rPr>
                <a:ea typeface="Microsoft JhengHei"/>
              </a:rPr>
              <a:t>Research question</a:t>
            </a:r>
          </a:p>
        </p:txBody>
      </p:sp>
      <p:sp>
        <p:nvSpPr>
          <p:cNvPr id="13" name="Rectangle 12"/>
          <p:cNvSpPr/>
          <p:nvPr/>
        </p:nvSpPr>
        <p:spPr>
          <a:xfrm>
            <a:off x="733425" y="3362325"/>
            <a:ext cx="6334125" cy="790575"/>
          </a:xfrm>
          <a:prstGeom prst="rect">
            <a:avLst/>
          </a:prstGeom>
          <a:solidFill>
            <a:srgbClr val="FFFFFF"/>
          </a:solidFill>
          <a:ln w="12700">
            <a:solidFill>
              <a:srgbClr val="D2DA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7725" y="3457575"/>
            <a:ext cx="6096000" cy="609600"/>
          </a:xfrm>
          <a:prstGeom prst="rect">
            <a:avLst/>
          </a:prstGeom>
          <a:noFill/>
        </p:spPr>
        <p:txBody>
          <a:bodyPr wrap="square" lIns="0" rIns="0" tIns="0" bIns="0">
            <a:spAutoFit/>
          </a:bodyPr>
          <a:lstStyle/>
          <a:p>
            <a:pPr>
              <a:lnSpc>
                <a:spcPct val="118000"/>
              </a:lnSpc>
              <a:spcBef>
                <a:spcPts val="0"/>
              </a:spcBef>
              <a:spcAft>
                <a:spcPts val="0"/>
              </a:spcAft>
              <a:defRPr sz="1900" b="0">
                <a:solidFill>
                  <a:srgbClr val="24384A"/>
                </a:solidFill>
                <a:latin typeface="Lato"/>
              </a:defRPr>
            </a:pPr>
            <a:r>
              <a:rPr>
                <a:ea typeface="Microsoft JhengHei"/>
              </a:rPr>
              <a:t>Does T0603’s shared wording reflect</a:t>
            </a:r>
          </a:p>
          <a:p>
            <a:pPr>
              <a:lnSpc>
                <a:spcPct val="118000"/>
              </a:lnSpc>
              <a:spcBef>
                <a:spcPts val="0"/>
              </a:spcBef>
              <a:spcAft>
                <a:spcPts val="0"/>
              </a:spcAft>
              <a:defRPr sz="1900" b="0">
                <a:solidFill>
                  <a:srgbClr val="24384A"/>
                </a:solidFill>
                <a:latin typeface="Lato"/>
              </a:defRPr>
            </a:pPr>
            <a:r>
              <a:rPr>
                <a:ea typeface="Microsoft JhengHei"/>
              </a:rPr>
              <a:t>a translator’s usage or later reuse?</a:t>
            </a:r>
          </a:p>
        </p:txBody>
      </p:sp>
      <p:sp>
        <p:nvSpPr>
          <p:cNvPr id="15" name="TextBox 14"/>
          <p:cNvSpPr txBox="1"/>
          <p:nvPr/>
        </p:nvSpPr>
        <p:spPr>
          <a:xfrm>
            <a:off x="733425" y="4305300"/>
            <a:ext cx="5905500" cy="285750"/>
          </a:xfrm>
          <a:prstGeom prst="rect">
            <a:avLst/>
          </a:prstGeom>
          <a:noFill/>
        </p:spPr>
        <p:txBody>
          <a:bodyPr wrap="square" lIns="0" rIns="0" tIns="0" bIns="0">
            <a:spAutoFit/>
          </a:bodyPr>
          <a:lstStyle/>
          <a:p>
            <a:pPr>
              <a:lnSpc>
                <a:spcPct val="118000"/>
              </a:lnSpc>
              <a:spcBef>
                <a:spcPts val="0"/>
              </a:spcBef>
              <a:spcAft>
                <a:spcPts val="0"/>
              </a:spcAft>
              <a:defRPr sz="1700" b="1">
                <a:solidFill>
                  <a:srgbClr val="126B85"/>
                </a:solidFill>
                <a:latin typeface="Lato"/>
              </a:defRPr>
            </a:pPr>
            <a:r>
              <a:rPr>
                <a:ea typeface="Microsoft JhengHei"/>
              </a:rPr>
              <a:t>Research instructions</a:t>
            </a:r>
          </a:p>
        </p:txBody>
      </p:sp>
      <p:sp>
        <p:nvSpPr>
          <p:cNvPr id="16" name="Rectangle 15"/>
          <p:cNvSpPr/>
          <p:nvPr/>
        </p:nvSpPr>
        <p:spPr>
          <a:xfrm>
            <a:off x="733425" y="4619625"/>
            <a:ext cx="6334125" cy="571500"/>
          </a:xfrm>
          <a:prstGeom prst="rect">
            <a:avLst/>
          </a:prstGeom>
          <a:solidFill>
            <a:srgbClr val="FFFFFF"/>
          </a:solidFill>
          <a:ln w="12700">
            <a:solidFill>
              <a:srgbClr val="D2DA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7725" y="4724400"/>
            <a:ext cx="6096000" cy="428625"/>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Find passages; compare reuse and translator usage.</a:t>
            </a:r>
          </a:p>
        </p:txBody>
      </p:sp>
      <p:sp>
        <p:nvSpPr>
          <p:cNvPr id="18" name="Rectangle 17"/>
          <p:cNvSpPr/>
          <p:nvPr/>
        </p:nvSpPr>
        <p:spPr>
          <a:xfrm>
            <a:off x="733425" y="5372100"/>
            <a:ext cx="1714500" cy="400050"/>
          </a:xfrm>
          <a:prstGeom prst="rect">
            <a:avLst/>
          </a:prstGeom>
          <a:solidFill>
            <a:srgbClr val="EDF4F7"/>
          </a:solidFill>
          <a:ln w="12700">
            <a:solidFill>
              <a:srgbClr val="126B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8675" y="5467350"/>
            <a:ext cx="1524000" cy="266700"/>
          </a:xfrm>
          <a:prstGeom prst="rect">
            <a:avLst/>
          </a:prstGeom>
          <a:noFill/>
        </p:spPr>
        <p:txBody>
          <a:bodyPr wrap="square" lIns="0" rIns="0" tIns="0" bIns="0">
            <a:spAutoFit/>
          </a:bodyPr>
          <a:lstStyle/>
          <a:p>
            <a:pPr>
              <a:lnSpc>
                <a:spcPct val="118000"/>
              </a:lnSpc>
              <a:spcBef>
                <a:spcPts val="0"/>
              </a:spcBef>
              <a:spcAft>
                <a:spcPts val="0"/>
              </a:spcAft>
              <a:defRPr sz="1500" b="1">
                <a:solidFill>
                  <a:srgbClr val="126B85"/>
                </a:solidFill>
                <a:latin typeface="Lato"/>
              </a:defRPr>
            </a:pPr>
            <a:r>
              <a:rPr>
                <a:ea typeface="Microsoft JhengHei"/>
              </a:rPr>
              <a:t>Record question</a:t>
            </a:r>
          </a:p>
        </p:txBody>
      </p:sp>
      <p:sp>
        <p:nvSpPr>
          <p:cNvPr id="20" name="Rectangle 19"/>
          <p:cNvSpPr/>
          <p:nvPr/>
        </p:nvSpPr>
        <p:spPr>
          <a:xfrm>
            <a:off x="2619375" y="5372100"/>
            <a:ext cx="1190625" cy="400050"/>
          </a:xfrm>
          <a:prstGeom prst="rect">
            <a:avLst/>
          </a:prstGeom>
          <a:solidFill>
            <a:srgbClr val="EDF4F7"/>
          </a:solidFill>
          <a:ln w="12700">
            <a:solidFill>
              <a:srgbClr val="126B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714625" y="5467350"/>
            <a:ext cx="1000125" cy="266700"/>
          </a:xfrm>
          <a:prstGeom prst="rect">
            <a:avLst/>
          </a:prstGeom>
          <a:noFill/>
        </p:spPr>
        <p:txBody>
          <a:bodyPr wrap="square" lIns="0" rIns="0" tIns="0" bIns="0">
            <a:spAutoFit/>
          </a:bodyPr>
          <a:lstStyle/>
          <a:p>
            <a:pPr>
              <a:lnSpc>
                <a:spcPct val="118000"/>
              </a:lnSpc>
              <a:spcBef>
                <a:spcPts val="0"/>
              </a:spcBef>
              <a:spcAft>
                <a:spcPts val="0"/>
              </a:spcAft>
              <a:defRPr sz="1500" b="1">
                <a:solidFill>
                  <a:srgbClr val="126B85"/>
                </a:solidFill>
                <a:latin typeface="Lato"/>
              </a:defRPr>
            </a:pPr>
            <a:r>
              <a:rPr>
                <a:ea typeface="Microsoft JhengHei"/>
              </a:rPr>
              <a:t>Inquire</a:t>
            </a:r>
          </a:p>
        </p:txBody>
      </p:sp>
      <p:sp>
        <p:nvSpPr>
          <p:cNvPr id="22" name="TextBox 21"/>
          <p:cNvSpPr txBox="1"/>
          <p:nvPr/>
        </p:nvSpPr>
        <p:spPr>
          <a:xfrm>
            <a:off x="7962900" y="2295525"/>
            <a:ext cx="3552825" cy="3171825"/>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Question: what to investigate</a:t>
            </a:r>
          </a:p>
          <a:p>
            <a:pPr>
              <a:lnSpc>
                <a:spcPct val="118000"/>
              </a:lnSpc>
              <a:spcBef>
                <a:spcPts val="0"/>
              </a:spcBef>
              <a:spcAft>
                <a:spcPts val="0"/>
              </a:spcAft>
              <a:defRPr sz="2300" b="0">
                <a:solidFill>
                  <a:srgbClr val="24384A"/>
                </a:solidFill>
                <a:latin typeface="Lato"/>
              </a:defRPr>
            </a:pPr>
          </a:p>
          <a:p>
            <a:pPr>
              <a:lnSpc>
                <a:spcPct val="118000"/>
              </a:lnSpc>
              <a:spcBef>
                <a:spcPts val="0"/>
              </a:spcBef>
              <a:spcAft>
                <a:spcPts val="0"/>
              </a:spcAft>
              <a:defRPr sz="2300" b="0">
                <a:solidFill>
                  <a:srgbClr val="24384A"/>
                </a:solidFill>
                <a:latin typeface="Lato"/>
              </a:defRPr>
            </a:pPr>
            <a:r>
              <a:rPr>
                <a:ea typeface="Microsoft JhengHei"/>
              </a:rPr>
              <a:t>Instructions: how to approach it</a:t>
            </a:r>
          </a:p>
          <a:p>
            <a:pPr>
              <a:lnSpc>
                <a:spcPct val="118000"/>
              </a:lnSpc>
              <a:spcBef>
                <a:spcPts val="0"/>
              </a:spcBef>
              <a:spcAft>
                <a:spcPts val="0"/>
              </a:spcAft>
              <a:defRPr sz="2300" b="0">
                <a:solidFill>
                  <a:srgbClr val="24384A"/>
                </a:solidFill>
                <a:latin typeface="Lato"/>
              </a:defRPr>
            </a:pPr>
          </a:p>
          <a:p>
            <a:pPr>
              <a:lnSpc>
                <a:spcPct val="118000"/>
              </a:lnSpc>
              <a:spcBef>
                <a:spcPts val="0"/>
              </a:spcBef>
              <a:spcAft>
                <a:spcPts val="0"/>
              </a:spcAft>
              <a:defRPr sz="2300" b="0">
                <a:solidFill>
                  <a:srgbClr val="24384A"/>
                </a:solidFill>
                <a:latin typeface="Lato"/>
              </a:defRPr>
            </a:pPr>
            <a:r>
              <a:rPr>
                <a:ea typeface="Microsoft JhengHei"/>
              </a:rPr>
              <a:t>Run results: what the agents did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Semantic analysis · agent tools</a:t>
            </a: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Retrieve candidates by content</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11239500" y="6438900"/>
            <a:ext cx="457200" cy="238125"/>
          </a:xfrm>
          <a:prstGeom prst="rect">
            <a:avLst/>
          </a:prstGeom>
          <a:noFill/>
        </p:spPr>
        <p:txBody>
          <a:bodyPr wrap="square" lIns="0" rIns="0" tIns="0" bIns="0">
            <a:spAutoFit/>
          </a:bodyPr>
          <a:lstStyle/>
          <a:p>
            <a:pPr>
              <a:lnSpc>
                <a:spcPct val="118000"/>
              </a:lnSpc>
              <a:spcBef>
                <a:spcPts val="0"/>
              </a:spcBef>
              <a:spcAft>
                <a:spcPts val="0"/>
              </a:spcAft>
              <a:defRPr sz="1200" b="0">
                <a:solidFill>
                  <a:srgbClr val="526778"/>
                </a:solidFill>
                <a:latin typeface="Lato"/>
              </a:defRPr>
            </a:pPr>
            <a:r>
              <a:rPr>
                <a:ea typeface="Microsoft JhengHei"/>
              </a:rPr>
              <a:t>16</a:t>
            </a:r>
          </a:p>
        </p:txBody>
      </p:sp>
      <p:sp>
        <p:nvSpPr>
          <p:cNvPr id="6" name="TextBox 5"/>
          <p:cNvSpPr txBox="1"/>
          <p:nvPr/>
        </p:nvSpPr>
        <p:spPr>
          <a:xfrm>
            <a:off x="523874" y="2305050"/>
            <a:ext cx="3143250" cy="914400"/>
          </a:xfrm>
          <a:prstGeom prst="rect">
            <a:avLst/>
          </a:prstGeom>
          <a:noFill/>
        </p:spPr>
        <p:txBody>
          <a:bodyPr wrap="square" lIns="0" rIns="0" tIns="0" bIns="0">
            <a:spAutoFit/>
          </a:bodyPr>
          <a:lstStyle/>
          <a:p>
            <a:pPr>
              <a:lnSpc>
                <a:spcPct val="118000"/>
              </a:lnSpc>
              <a:spcBef>
                <a:spcPts val="0"/>
              </a:spcBef>
              <a:spcAft>
                <a:spcPts val="0"/>
              </a:spcAft>
              <a:defRPr sz="2300" b="1">
                <a:solidFill>
                  <a:srgbClr val="126B85"/>
                </a:solidFill>
                <a:latin typeface="Lato"/>
              </a:defRPr>
            </a:pPr>
            <a:r>
              <a:rPr>
                <a:ea typeface="Microsoft JhengHei"/>
              </a:rPr>
              <a:t>Input</a:t>
            </a:r>
          </a:p>
        </p:txBody>
      </p:sp>
      <p:sp>
        <p:nvSpPr>
          <p:cNvPr id="7" name="TextBox 6"/>
          <p:cNvSpPr txBox="1"/>
          <p:nvPr/>
        </p:nvSpPr>
        <p:spPr>
          <a:xfrm>
            <a:off x="4000500" y="2305050"/>
            <a:ext cx="7667624" cy="9144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A text or passage</a:t>
            </a:r>
          </a:p>
        </p:txBody>
      </p:sp>
      <p:sp>
        <p:nvSpPr>
          <p:cNvPr id="8" name="TextBox 7"/>
          <p:cNvSpPr txBox="1"/>
          <p:nvPr/>
        </p:nvSpPr>
        <p:spPr>
          <a:xfrm>
            <a:off x="523874" y="3333750"/>
            <a:ext cx="3143250" cy="914400"/>
          </a:xfrm>
          <a:prstGeom prst="rect">
            <a:avLst/>
          </a:prstGeom>
          <a:noFill/>
        </p:spPr>
        <p:txBody>
          <a:bodyPr wrap="square" lIns="0" rIns="0" tIns="0" bIns="0">
            <a:spAutoFit/>
          </a:bodyPr>
          <a:lstStyle/>
          <a:p>
            <a:pPr>
              <a:lnSpc>
                <a:spcPct val="118000"/>
              </a:lnSpc>
              <a:spcBef>
                <a:spcPts val="0"/>
              </a:spcBef>
              <a:spcAft>
                <a:spcPts val="0"/>
              </a:spcAft>
              <a:defRPr sz="2300" b="1">
                <a:solidFill>
                  <a:srgbClr val="126B85"/>
                </a:solidFill>
                <a:latin typeface="Lato"/>
              </a:defRPr>
            </a:pPr>
            <a:r>
              <a:rPr>
                <a:ea typeface="Microsoft JhengHei"/>
              </a:rPr>
              <a:t>Semantic neighbours</a:t>
            </a:r>
          </a:p>
        </p:txBody>
      </p:sp>
      <p:sp>
        <p:nvSpPr>
          <p:cNvPr id="9" name="TextBox 8"/>
          <p:cNvSpPr txBox="1"/>
          <p:nvPr/>
        </p:nvSpPr>
        <p:spPr>
          <a:xfrm>
            <a:off x="4000500" y="3333750"/>
            <a:ext cx="7667624" cy="9144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Retrieve similar passages from the embedding index</a:t>
            </a:r>
          </a:p>
        </p:txBody>
      </p:sp>
      <p:sp>
        <p:nvSpPr>
          <p:cNvPr id="10" name="TextBox 9"/>
          <p:cNvSpPr txBox="1"/>
          <p:nvPr/>
        </p:nvSpPr>
        <p:spPr>
          <a:xfrm>
            <a:off x="523874" y="4362450"/>
            <a:ext cx="3143250" cy="914400"/>
          </a:xfrm>
          <a:prstGeom prst="rect">
            <a:avLst/>
          </a:prstGeom>
          <a:noFill/>
        </p:spPr>
        <p:txBody>
          <a:bodyPr wrap="square" lIns="0" rIns="0" tIns="0" bIns="0">
            <a:spAutoFit/>
          </a:bodyPr>
          <a:lstStyle/>
          <a:p>
            <a:pPr>
              <a:lnSpc>
                <a:spcPct val="118000"/>
              </a:lnSpc>
              <a:spcBef>
                <a:spcPts val="0"/>
              </a:spcBef>
              <a:spcAft>
                <a:spcPts val="0"/>
              </a:spcAft>
              <a:defRPr sz="2300" b="1">
                <a:solidFill>
                  <a:srgbClr val="126B85"/>
                </a:solidFill>
                <a:latin typeface="Lato"/>
              </a:defRPr>
            </a:pPr>
            <a:r>
              <a:rPr>
                <a:ea typeface="Microsoft JhengHei"/>
              </a:rPr>
              <a:t>Researcher’s next step</a:t>
            </a:r>
          </a:p>
        </p:txBody>
      </p:sp>
      <p:sp>
        <p:nvSpPr>
          <p:cNvPr id="11" name="TextBox 10"/>
          <p:cNvSpPr txBox="1"/>
          <p:nvPr/>
        </p:nvSpPr>
        <p:spPr>
          <a:xfrm>
            <a:off x="4000500" y="4362450"/>
            <a:ext cx="7667624" cy="9144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Read candidates and choose pairs to compare</a:t>
            </a:r>
          </a:p>
        </p:txBody>
      </p:sp>
      <p:sp>
        <p:nvSpPr>
          <p:cNvPr id="12" name="TextBox 11"/>
          <p:cNvSpPr txBox="1"/>
          <p:nvPr/>
        </p:nvSpPr>
        <p:spPr>
          <a:xfrm>
            <a:off x="523874" y="5638800"/>
            <a:ext cx="11001375" cy="571500"/>
          </a:xfrm>
          <a:prstGeom prst="rect">
            <a:avLst/>
          </a:prstGeom>
          <a:noFill/>
        </p:spPr>
        <p:txBody>
          <a:bodyPr wrap="square" lIns="0" rIns="0" tIns="0" bIns="0">
            <a:spAutoFit/>
          </a:bodyPr>
          <a:lstStyle/>
          <a:p>
            <a:pPr>
              <a:lnSpc>
                <a:spcPct val="118000"/>
              </a:lnSpc>
              <a:spcBef>
                <a:spcPts val="0"/>
              </a:spcBef>
              <a:spcAft>
                <a:spcPts val="0"/>
              </a:spcAft>
              <a:defRPr sz="2300" b="0">
                <a:solidFill>
                  <a:srgbClr val="526778"/>
                </a:solidFill>
                <a:latin typeface="Lato"/>
              </a:defRPr>
            </a:pPr>
            <a:r>
              <a:rPr>
                <a:ea typeface="Microsoft JhengHei"/>
              </a:rPr>
              <a:t>Similar content can come from a shared subject, a formula or textual reuse.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Alignment · agent tools</a:t>
            </a: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Locate shared wording in a selected pair</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11239500" y="6438900"/>
            <a:ext cx="457200" cy="238125"/>
          </a:xfrm>
          <a:prstGeom prst="rect">
            <a:avLst/>
          </a:prstGeom>
          <a:noFill/>
        </p:spPr>
        <p:txBody>
          <a:bodyPr wrap="square" lIns="0" rIns="0" tIns="0" bIns="0">
            <a:spAutoFit/>
          </a:bodyPr>
          <a:lstStyle/>
          <a:p>
            <a:pPr>
              <a:lnSpc>
                <a:spcPct val="118000"/>
              </a:lnSpc>
              <a:spcBef>
                <a:spcPts val="0"/>
              </a:spcBef>
              <a:spcAft>
                <a:spcPts val="0"/>
              </a:spcAft>
              <a:defRPr sz="1200" b="0">
                <a:solidFill>
                  <a:srgbClr val="526778"/>
                </a:solidFill>
                <a:latin typeface="Lato"/>
              </a:defRPr>
            </a:pPr>
            <a:r>
              <a:rPr>
                <a:ea typeface="Microsoft JhengHei"/>
              </a:rPr>
              <a:t>17</a:t>
            </a:r>
          </a:p>
        </p:txBody>
      </p:sp>
      <p:sp>
        <p:nvSpPr>
          <p:cNvPr id="6" name="TextBox 5"/>
          <p:cNvSpPr txBox="1"/>
          <p:nvPr/>
        </p:nvSpPr>
        <p:spPr>
          <a:xfrm>
            <a:off x="523874" y="2181225"/>
            <a:ext cx="4953000" cy="523874"/>
          </a:xfrm>
          <a:prstGeom prst="rect">
            <a:avLst/>
          </a:prstGeom>
          <a:noFill/>
        </p:spPr>
        <p:txBody>
          <a:bodyPr wrap="square" lIns="0" rIns="0" tIns="0" bIns="0">
            <a:spAutoFit/>
          </a:bodyPr>
          <a:lstStyle/>
          <a:p>
            <a:pPr>
              <a:lnSpc>
                <a:spcPct val="118000"/>
              </a:lnSpc>
              <a:spcBef>
                <a:spcPts val="0"/>
              </a:spcBef>
              <a:spcAft>
                <a:spcPts val="0"/>
              </a:spcAft>
              <a:defRPr sz="2900" b="1">
                <a:solidFill>
                  <a:srgbClr val="126B85"/>
                </a:solidFill>
                <a:latin typeface="Lato"/>
              </a:defRPr>
            </a:pPr>
            <a:r>
              <a:rPr>
                <a:ea typeface="Microsoft JhengHei"/>
              </a:rPr>
              <a:t>T0603</a:t>
            </a:r>
          </a:p>
        </p:txBody>
      </p:sp>
      <p:sp>
        <p:nvSpPr>
          <p:cNvPr id="7" name="TextBox 6"/>
          <p:cNvSpPr txBox="1"/>
          <p:nvPr/>
        </p:nvSpPr>
        <p:spPr>
          <a:xfrm>
            <a:off x="523874" y="2876550"/>
            <a:ext cx="4857750" cy="1095375"/>
          </a:xfrm>
          <a:prstGeom prst="rect">
            <a:avLst/>
          </a:prstGeom>
          <a:noFill/>
        </p:spPr>
        <p:txBody>
          <a:bodyPr wrap="square" lIns="0" rIns="0" tIns="0" bIns="0">
            <a:spAutoFit/>
          </a:bodyPr>
          <a:lstStyle/>
          <a:p>
            <a:pPr>
              <a:lnSpc>
                <a:spcPct val="118000"/>
              </a:lnSpc>
              <a:spcBef>
                <a:spcPts val="0"/>
              </a:spcBef>
              <a:spcAft>
                <a:spcPts val="0"/>
              </a:spcAft>
              <a:defRPr sz="3000" b="0">
                <a:solidFill>
                  <a:srgbClr val="24384A"/>
                </a:solidFill>
                <a:latin typeface="Lato"/>
              </a:defRPr>
            </a:pPr>
            <a:r>
              <a:rPr>
                <a:ea typeface="Microsoft JhengHei"/>
              </a:rPr>
              <a:t>Yin chi ru jing</a:t>
            </a:r>
          </a:p>
          <a:p>
            <a:pPr>
              <a:lnSpc>
                <a:spcPct val="118000"/>
              </a:lnSpc>
              <a:spcBef>
                <a:spcPts val="0"/>
              </a:spcBef>
              <a:spcAft>
                <a:spcPts val="0"/>
              </a:spcAft>
              <a:defRPr sz="3000" b="0">
                <a:solidFill>
                  <a:srgbClr val="24384A"/>
                </a:solidFill>
                <a:latin typeface="Lato"/>
              </a:defRPr>
            </a:pPr>
            <a:r>
              <a:rPr>
                <a:ea typeface="Microsoft JhengHei"/>
              </a:rPr>
              <a:t>陰持入經</a:t>
            </a:r>
          </a:p>
        </p:txBody>
      </p:sp>
      <p:sp>
        <p:nvSpPr>
          <p:cNvPr id="8" name="TextBox 7"/>
          <p:cNvSpPr txBox="1"/>
          <p:nvPr/>
        </p:nvSpPr>
        <p:spPr>
          <a:xfrm>
            <a:off x="6819900" y="2181225"/>
            <a:ext cx="4762500" cy="523874"/>
          </a:xfrm>
          <a:prstGeom prst="rect">
            <a:avLst/>
          </a:prstGeom>
          <a:noFill/>
        </p:spPr>
        <p:txBody>
          <a:bodyPr wrap="square" lIns="0" rIns="0" tIns="0" bIns="0">
            <a:spAutoFit/>
          </a:bodyPr>
          <a:lstStyle/>
          <a:p>
            <a:pPr>
              <a:lnSpc>
                <a:spcPct val="118000"/>
              </a:lnSpc>
              <a:spcBef>
                <a:spcPts val="0"/>
              </a:spcBef>
              <a:spcAft>
                <a:spcPts val="0"/>
              </a:spcAft>
              <a:defRPr sz="2900" b="1">
                <a:solidFill>
                  <a:srgbClr val="126B85"/>
                </a:solidFill>
                <a:latin typeface="Lato"/>
              </a:defRPr>
            </a:pPr>
            <a:r>
              <a:rPr>
                <a:ea typeface="Microsoft JhengHei"/>
              </a:rPr>
              <a:t>T1694</a:t>
            </a:r>
          </a:p>
        </p:txBody>
      </p:sp>
      <p:sp>
        <p:nvSpPr>
          <p:cNvPr id="9" name="TextBox 8"/>
          <p:cNvSpPr txBox="1"/>
          <p:nvPr/>
        </p:nvSpPr>
        <p:spPr>
          <a:xfrm>
            <a:off x="6819900" y="2876550"/>
            <a:ext cx="4762500" cy="1095375"/>
          </a:xfrm>
          <a:prstGeom prst="rect">
            <a:avLst/>
          </a:prstGeom>
          <a:noFill/>
        </p:spPr>
        <p:txBody>
          <a:bodyPr wrap="square" lIns="0" rIns="0" tIns="0" bIns="0">
            <a:spAutoFit/>
          </a:bodyPr>
          <a:lstStyle/>
          <a:p>
            <a:pPr>
              <a:lnSpc>
                <a:spcPct val="118000"/>
              </a:lnSpc>
              <a:spcBef>
                <a:spcPts val="0"/>
              </a:spcBef>
              <a:spcAft>
                <a:spcPts val="0"/>
              </a:spcAft>
              <a:defRPr sz="3000" b="0">
                <a:solidFill>
                  <a:srgbClr val="24384A"/>
                </a:solidFill>
                <a:latin typeface="Lato"/>
              </a:defRPr>
            </a:pPr>
            <a:r>
              <a:rPr>
                <a:ea typeface="Microsoft JhengHei"/>
              </a:rPr>
              <a:t>Yin chi ru jing zhu</a:t>
            </a:r>
          </a:p>
          <a:p>
            <a:pPr>
              <a:lnSpc>
                <a:spcPct val="118000"/>
              </a:lnSpc>
              <a:spcBef>
                <a:spcPts val="0"/>
              </a:spcBef>
              <a:spcAft>
                <a:spcPts val="0"/>
              </a:spcAft>
              <a:defRPr sz="3000" b="0">
                <a:solidFill>
                  <a:srgbClr val="24384A"/>
                </a:solidFill>
                <a:latin typeface="Lato"/>
              </a:defRPr>
            </a:pPr>
            <a:r>
              <a:rPr>
                <a:ea typeface="Microsoft JhengHei"/>
              </a:rPr>
              <a:t>陰持入經註</a:t>
            </a:r>
          </a:p>
        </p:txBody>
      </p:sp>
      <p:cxnSp>
        <p:nvCxnSpPr>
          <p:cNvPr id="10" name="Connector 9"/>
          <p:cNvCxnSpPr/>
          <p:nvPr/>
        </p:nvCxnSpPr>
        <p:spPr>
          <a:xfrm>
            <a:off x="5362575" y="3305175"/>
            <a:ext cx="1028700"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23874" y="4524375"/>
            <a:ext cx="11049000" cy="857250"/>
          </a:xfrm>
          <a:prstGeom prst="rect">
            <a:avLst/>
          </a:prstGeom>
          <a:noFill/>
        </p:spPr>
        <p:txBody>
          <a:bodyPr wrap="square" lIns="0" rIns="0" tIns="0" bIns="0">
            <a:spAutoFit/>
          </a:bodyPr>
          <a:lstStyle/>
          <a:p>
            <a:pPr>
              <a:lnSpc>
                <a:spcPct val="118000"/>
              </a:lnSpc>
              <a:spcBef>
                <a:spcPts val="0"/>
              </a:spcBef>
              <a:spcAft>
                <a:spcPts val="0"/>
              </a:spcAft>
              <a:defRPr sz="2600" b="0">
                <a:solidFill>
                  <a:srgbClr val="24384A"/>
                </a:solidFill>
                <a:latin typeface="Lato"/>
              </a:defRPr>
            </a:pPr>
            <a:r>
              <a:rPr>
                <a:ea typeface="Microsoft JhengHei"/>
              </a:rPr>
              <a:t>Earlier translation → later commentary: a relationship known from scholarship.</a:t>
            </a:r>
          </a:p>
        </p:txBody>
      </p:sp>
      <p:sp>
        <p:nvSpPr>
          <p:cNvPr id="12" name="TextBox 11"/>
          <p:cNvSpPr txBox="1"/>
          <p:nvPr/>
        </p:nvSpPr>
        <p:spPr>
          <a:xfrm>
            <a:off x="523874" y="5648325"/>
            <a:ext cx="11049000" cy="476250"/>
          </a:xfrm>
          <a:prstGeom prst="rect">
            <a:avLst/>
          </a:prstGeom>
          <a:noFill/>
        </p:spPr>
        <p:txBody>
          <a:bodyPr wrap="square" lIns="0" rIns="0" tIns="0" bIns="0">
            <a:spAutoFit/>
          </a:bodyPr>
          <a:lstStyle/>
          <a:p>
            <a:pPr>
              <a:lnSpc>
                <a:spcPct val="118000"/>
              </a:lnSpc>
              <a:spcBef>
                <a:spcPts val="0"/>
              </a:spcBef>
              <a:spcAft>
                <a:spcPts val="0"/>
              </a:spcAft>
              <a:defRPr sz="2300" b="0">
                <a:solidFill>
                  <a:srgbClr val="526778"/>
                </a:solidFill>
                <a:latin typeface="Lato"/>
              </a:defRPr>
            </a:pPr>
            <a:r>
              <a:rPr>
                <a:ea typeface="Microsoft JhengHei"/>
              </a:rPr>
              <a:t>Alignment locates shared wording; it does not establish the chronology.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Analysis · Evidence</a:t>
            </a: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Compare string counts across groups</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11239500" y="6438900"/>
            <a:ext cx="457200" cy="238125"/>
          </a:xfrm>
          <a:prstGeom prst="rect">
            <a:avLst/>
          </a:prstGeom>
          <a:noFill/>
        </p:spPr>
        <p:txBody>
          <a:bodyPr wrap="square" lIns="0" rIns="0" tIns="0" bIns="0">
            <a:spAutoFit/>
          </a:bodyPr>
          <a:lstStyle/>
          <a:p>
            <a:pPr>
              <a:lnSpc>
                <a:spcPct val="118000"/>
              </a:lnSpc>
              <a:spcBef>
                <a:spcPts val="0"/>
              </a:spcBef>
              <a:spcAft>
                <a:spcPts val="0"/>
              </a:spcAft>
              <a:defRPr sz="1200" b="0">
                <a:solidFill>
                  <a:srgbClr val="526778"/>
                </a:solidFill>
                <a:latin typeface="Lato"/>
              </a:defRPr>
            </a:pPr>
            <a:r>
              <a:rPr>
                <a:ea typeface="Microsoft JhengHei"/>
              </a:rPr>
              <a:t>18</a:t>
            </a:r>
          </a:p>
        </p:txBody>
      </p:sp>
      <p:sp>
        <p:nvSpPr>
          <p:cNvPr id="6" name="Rectangle 5"/>
          <p:cNvSpPr/>
          <p:nvPr/>
        </p:nvSpPr>
        <p:spPr>
          <a:xfrm>
            <a:off x="523874" y="2000250"/>
            <a:ext cx="7000875" cy="3905249"/>
          </a:xfrm>
          <a:prstGeom prst="rect">
            <a:avLst/>
          </a:prstGeom>
          <a:solidFill>
            <a:srgbClr val="FFFFFF"/>
          </a:solidFill>
          <a:ln w="12700">
            <a:solidFill>
              <a:srgbClr val="D2DA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23874" y="2000250"/>
            <a:ext cx="7000875" cy="457200"/>
          </a:xfrm>
          <a:prstGeom prst="rect">
            <a:avLst/>
          </a:prstGeom>
          <a:solidFill>
            <a:srgbClr val="EDF4F7"/>
          </a:solidFill>
          <a:ln w="12700">
            <a:solidFill>
              <a:srgbClr val="D2DA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6750" y="2114550"/>
            <a:ext cx="762000" cy="238125"/>
          </a:xfrm>
          <a:prstGeom prst="rect">
            <a:avLst/>
          </a:prstGeom>
          <a:noFill/>
        </p:spPr>
        <p:txBody>
          <a:bodyPr wrap="square" lIns="0" rIns="0" tIns="0" bIns="0">
            <a:spAutoFit/>
          </a:bodyPr>
          <a:lstStyle/>
          <a:p>
            <a:pPr>
              <a:lnSpc>
                <a:spcPct val="118000"/>
              </a:lnSpc>
              <a:spcBef>
                <a:spcPts val="0"/>
              </a:spcBef>
              <a:spcAft>
                <a:spcPts val="0"/>
              </a:spcAft>
              <a:defRPr sz="1500" b="1">
                <a:solidFill>
                  <a:srgbClr val="24384A"/>
                </a:solidFill>
                <a:latin typeface="Lato"/>
              </a:defRPr>
            </a:pPr>
            <a:r>
              <a:rPr>
                <a:ea typeface="Microsoft JhengHei"/>
              </a:rPr>
              <a:t>Cohort</a:t>
            </a:r>
          </a:p>
        </p:txBody>
      </p:sp>
      <p:sp>
        <p:nvSpPr>
          <p:cNvPr id="9" name="TextBox 8"/>
          <p:cNvSpPr txBox="1"/>
          <p:nvPr/>
        </p:nvSpPr>
        <p:spPr>
          <a:xfrm>
            <a:off x="1619250" y="2124075"/>
            <a:ext cx="5762625" cy="247649"/>
          </a:xfrm>
          <a:prstGeom prst="rect">
            <a:avLst/>
          </a:prstGeom>
          <a:noFill/>
        </p:spPr>
        <p:txBody>
          <a:bodyPr wrap="square" lIns="0" rIns="0" tIns="0" bIns="0">
            <a:spAutoFit/>
          </a:bodyPr>
          <a:lstStyle/>
          <a:p>
            <a:pPr>
              <a:lnSpc>
                <a:spcPct val="118000"/>
              </a:lnSpc>
              <a:spcBef>
                <a:spcPts val="0"/>
              </a:spcBef>
              <a:spcAft>
                <a:spcPts val="0"/>
              </a:spcAft>
              <a:defRPr sz="1400" b="0">
                <a:solidFill>
                  <a:srgbClr val="526778"/>
                </a:solidFill>
                <a:latin typeface="Lato"/>
              </a:defRPr>
            </a:pPr>
            <a:r>
              <a:rPr>
                <a:ea typeface="Microsoft JhengHei"/>
              </a:rPr>
              <a:t>Graph    Findings    Corpus    Evidence    Inquiry</a:t>
            </a:r>
          </a:p>
        </p:txBody>
      </p:sp>
      <p:sp>
        <p:nvSpPr>
          <p:cNvPr id="10" name="TextBox 9"/>
          <p:cNvSpPr txBox="1"/>
          <p:nvPr/>
        </p:nvSpPr>
        <p:spPr>
          <a:xfrm>
            <a:off x="733425" y="2638425"/>
            <a:ext cx="6581775" cy="333375"/>
          </a:xfrm>
          <a:prstGeom prst="rect">
            <a:avLst/>
          </a:prstGeom>
          <a:noFill/>
        </p:spPr>
        <p:txBody>
          <a:bodyPr wrap="square" lIns="0" rIns="0" tIns="0" bIns="0">
            <a:spAutoFit/>
          </a:bodyPr>
          <a:lstStyle/>
          <a:p>
            <a:pPr>
              <a:lnSpc>
                <a:spcPct val="118000"/>
              </a:lnSpc>
              <a:spcBef>
                <a:spcPts val="0"/>
              </a:spcBef>
              <a:spcAft>
                <a:spcPts val="0"/>
              </a:spcAft>
              <a:defRPr sz="1600" b="1">
                <a:solidFill>
                  <a:srgbClr val="126B85"/>
                </a:solidFill>
                <a:latin typeface="Lato"/>
              </a:defRPr>
            </a:pPr>
            <a:r>
              <a:rPr>
                <a:ea typeface="Microsoft JhengHei"/>
              </a:rPr>
              <a:t>Vocabulary comparison</a:t>
            </a:r>
          </a:p>
        </p:txBody>
      </p:sp>
      <p:sp>
        <p:nvSpPr>
          <p:cNvPr id="11" name="TextBox 10"/>
          <p:cNvSpPr txBox="1"/>
          <p:nvPr/>
        </p:nvSpPr>
        <p:spPr>
          <a:xfrm>
            <a:off x="714375" y="6057900"/>
            <a:ext cx="6619875" cy="190500"/>
          </a:xfrm>
          <a:prstGeom prst="rect">
            <a:avLst/>
          </a:prstGeom>
          <a:noFill/>
        </p:spPr>
        <p:txBody>
          <a:bodyPr wrap="square" lIns="0" rIns="0" tIns="0" bIns="0">
            <a:spAutoFit/>
          </a:bodyPr>
          <a:lstStyle/>
          <a:p>
            <a:pPr>
              <a:lnSpc>
                <a:spcPct val="118000"/>
              </a:lnSpc>
              <a:spcBef>
                <a:spcPts val="0"/>
              </a:spcBef>
              <a:spcAft>
                <a:spcPts val="0"/>
              </a:spcAft>
              <a:defRPr sz="1000" b="0">
                <a:solidFill>
                  <a:srgbClr val="526778"/>
                </a:solidFill>
                <a:latin typeface="Lato"/>
              </a:defRPr>
            </a:pPr>
            <a:r>
              <a:rPr>
                <a:ea typeface="Microsoft JhengHei"/>
              </a:rPr>
              <a:t>Interface diagram</a:t>
            </a:r>
          </a:p>
        </p:txBody>
      </p:sp>
      <p:sp>
        <p:nvSpPr>
          <p:cNvPr id="12" name="TextBox 11"/>
          <p:cNvSpPr txBox="1"/>
          <p:nvPr/>
        </p:nvSpPr>
        <p:spPr>
          <a:xfrm>
            <a:off x="733425" y="3095625"/>
            <a:ext cx="6191250" cy="40005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Text: T0603 · 陰持入經</a:t>
            </a:r>
          </a:p>
        </p:txBody>
      </p:sp>
      <p:sp>
        <p:nvSpPr>
          <p:cNvPr id="13" name="TextBox 12"/>
          <p:cNvSpPr txBox="1"/>
          <p:nvPr/>
        </p:nvSpPr>
        <p:spPr>
          <a:xfrm>
            <a:off x="733425" y="3686175"/>
            <a:ext cx="6191250" cy="304800"/>
          </a:xfrm>
          <a:prstGeom prst="rect">
            <a:avLst/>
          </a:prstGeom>
          <a:noFill/>
        </p:spPr>
        <p:txBody>
          <a:bodyPr wrap="square" lIns="0" rIns="0" tIns="0" bIns="0">
            <a:spAutoFit/>
          </a:bodyPr>
          <a:lstStyle/>
          <a:p>
            <a:pPr>
              <a:lnSpc>
                <a:spcPct val="118000"/>
              </a:lnSpc>
              <a:spcBef>
                <a:spcPts val="0"/>
              </a:spcBef>
              <a:spcAft>
                <a:spcPts val="0"/>
              </a:spcAft>
              <a:defRPr sz="1800" b="1">
                <a:solidFill>
                  <a:srgbClr val="126B85"/>
                </a:solidFill>
                <a:latin typeface="Lato"/>
              </a:defRPr>
            </a:pPr>
            <a:r>
              <a:rPr>
                <a:ea typeface="Microsoft JhengHei"/>
              </a:rPr>
              <a:t>Vocabulary and method</a:t>
            </a:r>
          </a:p>
        </p:txBody>
      </p:sp>
      <p:sp>
        <p:nvSpPr>
          <p:cNvPr id="14" name="TextBox 13"/>
          <p:cNvSpPr txBox="1"/>
          <p:nvPr/>
        </p:nvSpPr>
        <p:spPr>
          <a:xfrm>
            <a:off x="733425" y="4133849"/>
            <a:ext cx="6191250" cy="381000"/>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Radich’s curated strings</a:t>
            </a:r>
          </a:p>
        </p:txBody>
      </p:sp>
      <p:sp>
        <p:nvSpPr>
          <p:cNvPr id="15" name="TextBox 14"/>
          <p:cNvSpPr txBox="1"/>
          <p:nvPr/>
        </p:nvSpPr>
        <p:spPr>
          <a:xfrm>
            <a:off x="733425" y="4781550"/>
            <a:ext cx="6191250" cy="333375"/>
          </a:xfrm>
          <a:prstGeom prst="rect">
            <a:avLst/>
          </a:prstGeom>
          <a:noFill/>
        </p:spPr>
        <p:txBody>
          <a:bodyPr wrap="square" lIns="0" rIns="0" tIns="0" bIns="0">
            <a:spAutoFit/>
          </a:bodyPr>
          <a:lstStyle/>
          <a:p>
            <a:pPr>
              <a:lnSpc>
                <a:spcPct val="118000"/>
              </a:lnSpc>
              <a:spcBef>
                <a:spcPts val="0"/>
              </a:spcBef>
              <a:spcAft>
                <a:spcPts val="0"/>
              </a:spcAft>
              <a:defRPr sz="2100" b="1">
                <a:solidFill>
                  <a:srgbClr val="126B85"/>
                </a:solidFill>
                <a:latin typeface="Lato"/>
              </a:defRPr>
            </a:pPr>
            <a:r>
              <a:rPr>
                <a:ea typeface="Microsoft JhengHei"/>
              </a:rPr>
              <a:t>All comparison groups, ranked</a:t>
            </a:r>
          </a:p>
        </p:txBody>
      </p:sp>
      <p:sp>
        <p:nvSpPr>
          <p:cNvPr id="16" name="TextBox 15"/>
          <p:cNvSpPr txBox="1"/>
          <p:nvPr/>
        </p:nvSpPr>
        <p:spPr>
          <a:xfrm>
            <a:off x="733425" y="5276850"/>
            <a:ext cx="6191250" cy="333375"/>
          </a:xfrm>
          <a:prstGeom prst="rect">
            <a:avLst/>
          </a:prstGeom>
          <a:noFill/>
        </p:spPr>
        <p:txBody>
          <a:bodyPr wrap="square" lIns="0" rIns="0" tIns="0" bIns="0">
            <a:spAutoFit/>
          </a:bodyPr>
          <a:lstStyle/>
          <a:p>
            <a:pPr>
              <a:lnSpc>
                <a:spcPct val="118000"/>
              </a:lnSpc>
              <a:spcBef>
                <a:spcPts val="0"/>
              </a:spcBef>
              <a:spcAft>
                <a:spcPts val="0"/>
              </a:spcAft>
              <a:defRPr sz="1700" b="0">
                <a:solidFill>
                  <a:srgbClr val="526778"/>
                </a:solidFill>
                <a:latin typeface="Lato"/>
              </a:defRPr>
            </a:pPr>
            <a:r>
              <a:rPr>
                <a:ea typeface="Microsoft JhengHei"/>
              </a:rPr>
              <a:t>Rank     Group     Score relative to leader</a:t>
            </a:r>
          </a:p>
        </p:txBody>
      </p:sp>
      <p:sp>
        <p:nvSpPr>
          <p:cNvPr id="17" name="TextBox 16"/>
          <p:cNvSpPr txBox="1"/>
          <p:nvPr/>
        </p:nvSpPr>
        <p:spPr>
          <a:xfrm>
            <a:off x="7962900" y="2305050"/>
            <a:ext cx="3476625" cy="2886075"/>
          </a:xfrm>
          <a:prstGeom prst="rect">
            <a:avLst/>
          </a:prstGeom>
          <a:noFill/>
        </p:spPr>
        <p:txBody>
          <a:bodyPr wrap="square" lIns="0" rIns="0" tIns="0" bIns="0">
            <a:spAutoFit/>
          </a:bodyPr>
          <a:lstStyle/>
          <a:p>
            <a:pPr>
              <a:lnSpc>
                <a:spcPct val="118000"/>
              </a:lnSpc>
              <a:spcBef>
                <a:spcPts val="0"/>
              </a:spcBef>
              <a:spcAft>
                <a:spcPts val="0"/>
              </a:spcAft>
              <a:defRPr sz="2400" b="0">
                <a:solidFill>
                  <a:srgbClr val="24384A"/>
                </a:solidFill>
                <a:latin typeface="Lato"/>
              </a:defRPr>
            </a:pPr>
            <a:r>
              <a:rPr>
                <a:ea typeface="Microsoft JhengHei"/>
              </a:rPr>
              <a:t>Select the strings</a:t>
            </a:r>
          </a:p>
          <a:p>
            <a:pPr>
              <a:lnSpc>
                <a:spcPct val="118000"/>
              </a:lnSpc>
              <a:spcBef>
                <a:spcPts val="0"/>
              </a:spcBef>
              <a:spcAft>
                <a:spcPts val="0"/>
              </a:spcAft>
              <a:defRPr sz="2400" b="0">
                <a:solidFill>
                  <a:srgbClr val="24384A"/>
                </a:solidFill>
                <a:latin typeface="Lato"/>
              </a:defRPr>
            </a:pPr>
          </a:p>
          <a:p>
            <a:pPr>
              <a:lnSpc>
                <a:spcPct val="118000"/>
              </a:lnSpc>
              <a:spcBef>
                <a:spcPts val="0"/>
              </a:spcBef>
              <a:spcAft>
                <a:spcPts val="0"/>
              </a:spcAft>
              <a:defRPr sz="2400" b="0">
                <a:solidFill>
                  <a:srgbClr val="24384A"/>
                </a:solidFill>
                <a:latin typeface="Lato"/>
              </a:defRPr>
            </a:pPr>
            <a:r>
              <a:rPr>
                <a:ea typeface="Microsoft JhengHei"/>
              </a:rPr>
              <a:t>Read the ranked groups</a:t>
            </a:r>
          </a:p>
          <a:p>
            <a:pPr>
              <a:lnSpc>
                <a:spcPct val="118000"/>
              </a:lnSpc>
              <a:spcBef>
                <a:spcPts val="0"/>
              </a:spcBef>
              <a:spcAft>
                <a:spcPts val="0"/>
              </a:spcAft>
              <a:defRPr sz="2400" b="0">
                <a:solidFill>
                  <a:srgbClr val="24384A"/>
                </a:solidFill>
                <a:latin typeface="Lato"/>
              </a:defRPr>
            </a:pPr>
          </a:p>
          <a:p>
            <a:pPr>
              <a:lnSpc>
                <a:spcPct val="118000"/>
              </a:lnSpc>
              <a:spcBef>
                <a:spcPts val="0"/>
              </a:spcBef>
              <a:spcAft>
                <a:spcPts val="0"/>
              </a:spcAft>
              <a:defRPr sz="2400" b="0">
                <a:solidFill>
                  <a:srgbClr val="24384A"/>
                </a:solidFill>
                <a:latin typeface="Lato"/>
              </a:defRPr>
            </a:pPr>
            <a:r>
              <a:rPr>
                <a:ea typeface="Microsoft JhengHei"/>
              </a:rPr>
              <a:t>Inspect the wording behind the scores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Analysis · controlled exclusion</a:t>
            </a: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Repeat T0603 without its commentary</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11239500" y="6438900"/>
            <a:ext cx="457200" cy="238125"/>
          </a:xfrm>
          <a:prstGeom prst="rect">
            <a:avLst/>
          </a:prstGeom>
          <a:noFill/>
        </p:spPr>
        <p:txBody>
          <a:bodyPr wrap="square" lIns="0" rIns="0" tIns="0" bIns="0">
            <a:spAutoFit/>
          </a:bodyPr>
          <a:lstStyle/>
          <a:p>
            <a:pPr>
              <a:lnSpc>
                <a:spcPct val="118000"/>
              </a:lnSpc>
              <a:spcBef>
                <a:spcPts val="0"/>
              </a:spcBef>
              <a:spcAft>
                <a:spcPts val="0"/>
              </a:spcAft>
              <a:defRPr sz="1200" b="0">
                <a:solidFill>
                  <a:srgbClr val="526778"/>
                </a:solidFill>
                <a:latin typeface="Lato"/>
              </a:defRPr>
            </a:pPr>
            <a:r>
              <a:rPr>
                <a:ea typeface="Microsoft JhengHei"/>
              </a:rPr>
              <a:t>19</a:t>
            </a:r>
          </a:p>
        </p:txBody>
      </p:sp>
      <p:sp>
        <p:nvSpPr>
          <p:cNvPr id="6" name="TextBox 5"/>
          <p:cNvSpPr txBox="1"/>
          <p:nvPr/>
        </p:nvSpPr>
        <p:spPr>
          <a:xfrm>
            <a:off x="523874" y="1905000"/>
            <a:ext cx="10953750" cy="666750"/>
          </a:xfrm>
          <a:prstGeom prst="rect">
            <a:avLst/>
          </a:prstGeom>
          <a:noFill/>
        </p:spPr>
        <p:txBody>
          <a:bodyPr wrap="square" lIns="0" rIns="0" tIns="0" bIns="0">
            <a:spAutoFit/>
          </a:bodyPr>
          <a:lstStyle/>
          <a:p>
            <a:pPr>
              <a:lnSpc>
                <a:spcPct val="118000"/>
              </a:lnSpc>
              <a:spcBef>
                <a:spcPts val="0"/>
              </a:spcBef>
              <a:spcAft>
                <a:spcPts val="0"/>
              </a:spcAft>
              <a:defRPr sz="2300" b="0">
                <a:solidFill>
                  <a:srgbClr val="526778"/>
                </a:solidFill>
                <a:latin typeface="Lato"/>
              </a:defRPr>
            </a:pPr>
            <a:r>
              <a:rPr>
                <a:ea typeface="Microsoft JhengHei"/>
              </a:rPr>
              <a:t>T1694 belongs to “Other material before Dharmarakṣa” in this catalogue.</a:t>
            </a:r>
          </a:p>
        </p:txBody>
      </p:sp>
      <p:sp>
        <p:nvSpPr>
          <p:cNvPr id="7" name="Rectangle 6"/>
          <p:cNvSpPr/>
          <p:nvPr/>
        </p:nvSpPr>
        <p:spPr>
          <a:xfrm>
            <a:off x="523874" y="2857500"/>
            <a:ext cx="5476875" cy="2352675"/>
          </a:xfrm>
          <a:prstGeom prst="rect">
            <a:avLst/>
          </a:prstGeom>
          <a:solidFill>
            <a:srgbClr val="EDF4F7"/>
          </a:solidFill>
          <a:ln w="12700">
            <a:solidFill>
              <a:srgbClr val="D2DA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3425" y="3028950"/>
            <a:ext cx="5048250" cy="381000"/>
          </a:xfrm>
          <a:prstGeom prst="rect">
            <a:avLst/>
          </a:prstGeom>
          <a:noFill/>
        </p:spPr>
        <p:txBody>
          <a:bodyPr wrap="square" lIns="0" rIns="0" tIns="0" bIns="0">
            <a:spAutoFit/>
          </a:bodyPr>
          <a:lstStyle/>
          <a:p>
            <a:pPr>
              <a:lnSpc>
                <a:spcPct val="118000"/>
              </a:lnSpc>
              <a:spcBef>
                <a:spcPts val="0"/>
              </a:spcBef>
              <a:spcAft>
                <a:spcPts val="0"/>
              </a:spcAft>
              <a:defRPr sz="2300" b="1">
                <a:solidFill>
                  <a:srgbClr val="126B85"/>
                </a:solidFill>
                <a:latin typeface="Lato"/>
              </a:defRPr>
            </a:pPr>
            <a:r>
              <a:rPr>
                <a:ea typeface="Microsoft JhengHei"/>
              </a:rPr>
              <a:t>With T1694</a:t>
            </a:r>
          </a:p>
        </p:txBody>
      </p:sp>
      <p:sp>
        <p:nvSpPr>
          <p:cNvPr id="9" name="TextBox 8"/>
          <p:cNvSpPr txBox="1"/>
          <p:nvPr/>
        </p:nvSpPr>
        <p:spPr>
          <a:xfrm>
            <a:off x="733425" y="3629025"/>
            <a:ext cx="5048250" cy="828675"/>
          </a:xfrm>
          <a:prstGeom prst="rect">
            <a:avLst/>
          </a:prstGeom>
          <a:noFill/>
        </p:spPr>
        <p:txBody>
          <a:bodyPr wrap="square" lIns="0" rIns="0" tIns="0" bIns="0">
            <a:spAutoFit/>
          </a:bodyPr>
          <a:lstStyle/>
          <a:p>
            <a:pPr>
              <a:lnSpc>
                <a:spcPct val="118000"/>
              </a:lnSpc>
              <a:spcBef>
                <a:spcPts val="0"/>
              </a:spcBef>
              <a:spcAft>
                <a:spcPts val="0"/>
              </a:spcAft>
              <a:defRPr sz="2600" b="0">
                <a:solidFill>
                  <a:srgbClr val="24384A"/>
                </a:solidFill>
                <a:latin typeface="Lato"/>
              </a:defRPr>
            </a:pPr>
            <a:r>
              <a:rPr>
                <a:ea typeface="Microsoft JhengHei"/>
              </a:rPr>
              <a:t>Other material before</a:t>
            </a:r>
          </a:p>
          <a:p>
            <a:pPr>
              <a:lnSpc>
                <a:spcPct val="118000"/>
              </a:lnSpc>
              <a:spcBef>
                <a:spcPts val="0"/>
              </a:spcBef>
              <a:spcAft>
                <a:spcPts val="0"/>
              </a:spcAft>
              <a:defRPr sz="2600" b="0">
                <a:solidFill>
                  <a:srgbClr val="24384A"/>
                </a:solidFill>
                <a:latin typeface="Lato"/>
              </a:defRPr>
            </a:pPr>
            <a:r>
              <a:rPr>
                <a:ea typeface="Microsoft JhengHei"/>
              </a:rPr>
              <a:t>Dharmarakṣa 竺法護</a:t>
            </a:r>
          </a:p>
        </p:txBody>
      </p:sp>
      <p:sp>
        <p:nvSpPr>
          <p:cNvPr id="10" name="TextBox 9"/>
          <p:cNvSpPr txBox="1"/>
          <p:nvPr/>
        </p:nvSpPr>
        <p:spPr>
          <a:xfrm>
            <a:off x="733425" y="4676775"/>
            <a:ext cx="5048250" cy="428625"/>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Lead over next group: 1.696</a:t>
            </a:r>
          </a:p>
        </p:txBody>
      </p:sp>
      <p:sp>
        <p:nvSpPr>
          <p:cNvPr id="11" name="Rectangle 10"/>
          <p:cNvSpPr/>
          <p:nvPr/>
        </p:nvSpPr>
        <p:spPr>
          <a:xfrm>
            <a:off x="6477000" y="2857500"/>
            <a:ext cx="5476875" cy="2352675"/>
          </a:xfrm>
          <a:prstGeom prst="rect">
            <a:avLst/>
          </a:prstGeom>
          <a:solidFill>
            <a:srgbClr val="EDF4F7"/>
          </a:solidFill>
          <a:ln w="12700">
            <a:solidFill>
              <a:srgbClr val="D2DA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86550" y="3028950"/>
            <a:ext cx="5048250" cy="381000"/>
          </a:xfrm>
          <a:prstGeom prst="rect">
            <a:avLst/>
          </a:prstGeom>
          <a:noFill/>
        </p:spPr>
        <p:txBody>
          <a:bodyPr wrap="square" lIns="0" rIns="0" tIns="0" bIns="0">
            <a:spAutoFit/>
          </a:bodyPr>
          <a:lstStyle/>
          <a:p>
            <a:pPr>
              <a:lnSpc>
                <a:spcPct val="118000"/>
              </a:lnSpc>
              <a:spcBef>
                <a:spcPts val="0"/>
              </a:spcBef>
              <a:spcAft>
                <a:spcPts val="0"/>
              </a:spcAft>
              <a:defRPr sz="2300" b="1">
                <a:solidFill>
                  <a:srgbClr val="126B85"/>
                </a:solidFill>
                <a:latin typeface="Lato"/>
              </a:defRPr>
            </a:pPr>
            <a:r>
              <a:rPr>
                <a:ea typeface="Microsoft JhengHei"/>
              </a:rPr>
              <a:t>Without T1694</a:t>
            </a:r>
          </a:p>
        </p:txBody>
      </p:sp>
      <p:sp>
        <p:nvSpPr>
          <p:cNvPr id="13" name="TextBox 12"/>
          <p:cNvSpPr txBox="1"/>
          <p:nvPr/>
        </p:nvSpPr>
        <p:spPr>
          <a:xfrm>
            <a:off x="6686550" y="3629025"/>
            <a:ext cx="5048250" cy="828675"/>
          </a:xfrm>
          <a:prstGeom prst="rect">
            <a:avLst/>
          </a:prstGeom>
          <a:noFill/>
        </p:spPr>
        <p:txBody>
          <a:bodyPr wrap="square" lIns="0" rIns="0" tIns="0" bIns="0">
            <a:spAutoFit/>
          </a:bodyPr>
          <a:lstStyle/>
          <a:p>
            <a:pPr>
              <a:lnSpc>
                <a:spcPct val="118000"/>
              </a:lnSpc>
              <a:spcBef>
                <a:spcPts val="0"/>
              </a:spcBef>
              <a:spcAft>
                <a:spcPts val="0"/>
              </a:spcAft>
              <a:defRPr sz="2600" b="0">
                <a:solidFill>
                  <a:srgbClr val="24384A"/>
                </a:solidFill>
                <a:latin typeface="Lato"/>
              </a:defRPr>
            </a:pPr>
            <a:r>
              <a:rPr>
                <a:ea typeface="Microsoft JhengHei"/>
              </a:rPr>
              <a:t>An Shigao 安世高</a:t>
            </a:r>
          </a:p>
        </p:txBody>
      </p:sp>
      <p:sp>
        <p:nvSpPr>
          <p:cNvPr id="14" name="TextBox 13"/>
          <p:cNvSpPr txBox="1"/>
          <p:nvPr/>
        </p:nvSpPr>
        <p:spPr>
          <a:xfrm>
            <a:off x="6686550" y="4676775"/>
            <a:ext cx="5048250" cy="428625"/>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Lead over next group: 0.096</a:t>
            </a:r>
          </a:p>
        </p:txBody>
      </p:sp>
      <p:sp>
        <p:nvSpPr>
          <p:cNvPr id="15" name="TextBox 14"/>
          <p:cNvSpPr txBox="1"/>
          <p:nvPr/>
        </p:nvSpPr>
        <p:spPr>
          <a:xfrm>
            <a:off x="523874" y="5495925"/>
            <a:ext cx="10906125" cy="74295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Removing the later commentary brings the prediction into agreement with the accepted attribution.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Interpretation · Findings</a:t>
            </a: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Read the proposal and its alternatives</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11239500" y="6438900"/>
            <a:ext cx="457200" cy="238125"/>
          </a:xfrm>
          <a:prstGeom prst="rect">
            <a:avLst/>
          </a:prstGeom>
          <a:noFill/>
        </p:spPr>
        <p:txBody>
          <a:bodyPr wrap="square" lIns="0" rIns="0" tIns="0" bIns="0">
            <a:spAutoFit/>
          </a:bodyPr>
          <a:lstStyle/>
          <a:p>
            <a:pPr>
              <a:lnSpc>
                <a:spcPct val="118000"/>
              </a:lnSpc>
              <a:spcBef>
                <a:spcPts val="0"/>
              </a:spcBef>
              <a:spcAft>
                <a:spcPts val="0"/>
              </a:spcAft>
              <a:defRPr sz="1200" b="0">
                <a:solidFill>
                  <a:srgbClr val="526778"/>
                </a:solidFill>
                <a:latin typeface="Lato"/>
              </a:defRPr>
            </a:pPr>
            <a:r>
              <a:rPr>
                <a:ea typeface="Microsoft JhengHei"/>
              </a:rPr>
              <a:t>20</a:t>
            </a:r>
          </a:p>
        </p:txBody>
      </p:sp>
      <p:sp>
        <p:nvSpPr>
          <p:cNvPr id="6" name="Rectangle 5"/>
          <p:cNvSpPr/>
          <p:nvPr/>
        </p:nvSpPr>
        <p:spPr>
          <a:xfrm>
            <a:off x="523874" y="2000250"/>
            <a:ext cx="7000875" cy="3905249"/>
          </a:xfrm>
          <a:prstGeom prst="rect">
            <a:avLst/>
          </a:prstGeom>
          <a:solidFill>
            <a:srgbClr val="FFFFFF"/>
          </a:solidFill>
          <a:ln w="12700">
            <a:solidFill>
              <a:srgbClr val="D2DA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23874" y="2000250"/>
            <a:ext cx="7000875" cy="457200"/>
          </a:xfrm>
          <a:prstGeom prst="rect">
            <a:avLst/>
          </a:prstGeom>
          <a:solidFill>
            <a:srgbClr val="EDF4F7"/>
          </a:solidFill>
          <a:ln w="12700">
            <a:solidFill>
              <a:srgbClr val="D2DA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6750" y="2114550"/>
            <a:ext cx="762000" cy="238125"/>
          </a:xfrm>
          <a:prstGeom prst="rect">
            <a:avLst/>
          </a:prstGeom>
          <a:noFill/>
        </p:spPr>
        <p:txBody>
          <a:bodyPr wrap="square" lIns="0" rIns="0" tIns="0" bIns="0">
            <a:spAutoFit/>
          </a:bodyPr>
          <a:lstStyle/>
          <a:p>
            <a:pPr>
              <a:lnSpc>
                <a:spcPct val="118000"/>
              </a:lnSpc>
              <a:spcBef>
                <a:spcPts val="0"/>
              </a:spcBef>
              <a:spcAft>
                <a:spcPts val="0"/>
              </a:spcAft>
              <a:defRPr sz="1500" b="1">
                <a:solidFill>
                  <a:srgbClr val="24384A"/>
                </a:solidFill>
                <a:latin typeface="Lato"/>
              </a:defRPr>
            </a:pPr>
            <a:r>
              <a:rPr>
                <a:ea typeface="Microsoft JhengHei"/>
              </a:rPr>
              <a:t>Cohort</a:t>
            </a:r>
          </a:p>
        </p:txBody>
      </p:sp>
      <p:sp>
        <p:nvSpPr>
          <p:cNvPr id="9" name="TextBox 8"/>
          <p:cNvSpPr txBox="1"/>
          <p:nvPr/>
        </p:nvSpPr>
        <p:spPr>
          <a:xfrm>
            <a:off x="1619250" y="2124075"/>
            <a:ext cx="5762625" cy="247649"/>
          </a:xfrm>
          <a:prstGeom prst="rect">
            <a:avLst/>
          </a:prstGeom>
          <a:noFill/>
        </p:spPr>
        <p:txBody>
          <a:bodyPr wrap="square" lIns="0" rIns="0" tIns="0" bIns="0">
            <a:spAutoFit/>
          </a:bodyPr>
          <a:lstStyle/>
          <a:p>
            <a:pPr>
              <a:lnSpc>
                <a:spcPct val="118000"/>
              </a:lnSpc>
              <a:spcBef>
                <a:spcPts val="0"/>
              </a:spcBef>
              <a:spcAft>
                <a:spcPts val="0"/>
              </a:spcAft>
              <a:defRPr sz="1400" b="0">
                <a:solidFill>
                  <a:srgbClr val="526778"/>
                </a:solidFill>
                <a:latin typeface="Lato"/>
              </a:defRPr>
            </a:pPr>
            <a:r>
              <a:rPr>
                <a:ea typeface="Microsoft JhengHei"/>
              </a:rPr>
              <a:t>Graph    Findings    Corpus    Evidence    Inquiry</a:t>
            </a:r>
          </a:p>
        </p:txBody>
      </p:sp>
      <p:sp>
        <p:nvSpPr>
          <p:cNvPr id="10" name="TextBox 9"/>
          <p:cNvSpPr txBox="1"/>
          <p:nvPr/>
        </p:nvSpPr>
        <p:spPr>
          <a:xfrm>
            <a:off x="733425" y="2638425"/>
            <a:ext cx="6581775" cy="333375"/>
          </a:xfrm>
          <a:prstGeom prst="rect">
            <a:avLst/>
          </a:prstGeom>
          <a:noFill/>
        </p:spPr>
        <p:txBody>
          <a:bodyPr wrap="square" lIns="0" rIns="0" tIns="0" bIns="0">
            <a:spAutoFit/>
          </a:bodyPr>
          <a:lstStyle/>
          <a:p>
            <a:pPr>
              <a:lnSpc>
                <a:spcPct val="118000"/>
              </a:lnSpc>
              <a:spcBef>
                <a:spcPts val="0"/>
              </a:spcBef>
              <a:spcAft>
                <a:spcPts val="0"/>
              </a:spcAft>
              <a:defRPr sz="2200" b="1">
                <a:solidFill>
                  <a:srgbClr val="126B85"/>
                </a:solidFill>
                <a:latin typeface="Lato"/>
              </a:defRPr>
            </a:pPr>
            <a:r>
              <a:rPr>
                <a:ea typeface="Microsoft JhengHei"/>
              </a:rPr>
              <a:t>Findings</a:t>
            </a:r>
          </a:p>
        </p:txBody>
      </p:sp>
      <p:sp>
        <p:nvSpPr>
          <p:cNvPr id="11" name="TextBox 10"/>
          <p:cNvSpPr txBox="1"/>
          <p:nvPr/>
        </p:nvSpPr>
        <p:spPr>
          <a:xfrm>
            <a:off x="714375" y="6057900"/>
            <a:ext cx="6619875" cy="190500"/>
          </a:xfrm>
          <a:prstGeom prst="rect">
            <a:avLst/>
          </a:prstGeom>
          <a:noFill/>
        </p:spPr>
        <p:txBody>
          <a:bodyPr wrap="square" lIns="0" rIns="0" tIns="0" bIns="0">
            <a:spAutoFit/>
          </a:bodyPr>
          <a:lstStyle/>
          <a:p>
            <a:pPr>
              <a:lnSpc>
                <a:spcPct val="118000"/>
              </a:lnSpc>
              <a:spcBef>
                <a:spcPts val="0"/>
              </a:spcBef>
              <a:spcAft>
                <a:spcPts val="0"/>
              </a:spcAft>
              <a:defRPr sz="1000" b="0">
                <a:solidFill>
                  <a:srgbClr val="526778"/>
                </a:solidFill>
                <a:latin typeface="Lato"/>
              </a:defRPr>
            </a:pPr>
            <a:r>
              <a:rPr>
                <a:ea typeface="Microsoft JhengHei"/>
              </a:rPr>
              <a:t>Interface diagram</a:t>
            </a:r>
          </a:p>
        </p:txBody>
      </p:sp>
      <p:sp>
        <p:nvSpPr>
          <p:cNvPr id="12" name="TextBox 11"/>
          <p:cNvSpPr txBox="1"/>
          <p:nvPr/>
        </p:nvSpPr>
        <p:spPr>
          <a:xfrm>
            <a:off x="733425" y="3095625"/>
            <a:ext cx="5715000" cy="381000"/>
          </a:xfrm>
          <a:prstGeom prst="rect">
            <a:avLst/>
          </a:prstGeom>
          <a:noFill/>
        </p:spPr>
        <p:txBody>
          <a:bodyPr wrap="square" lIns="0" rIns="0" tIns="0" bIns="0">
            <a:spAutoFit/>
          </a:bodyPr>
          <a:lstStyle/>
          <a:p>
            <a:pPr>
              <a:lnSpc>
                <a:spcPct val="118000"/>
              </a:lnSpc>
              <a:spcBef>
                <a:spcPts val="0"/>
              </a:spcBef>
              <a:spcAft>
                <a:spcPts val="0"/>
              </a:spcAft>
              <a:defRPr sz="2400" b="1">
                <a:solidFill>
                  <a:srgbClr val="24384A"/>
                </a:solidFill>
                <a:latin typeface="Lato"/>
              </a:defRPr>
            </a:pPr>
            <a:r>
              <a:rPr>
                <a:ea typeface="Microsoft JhengHei"/>
              </a:rPr>
              <a:t>Claim or conjecture</a:t>
            </a:r>
          </a:p>
        </p:txBody>
      </p:sp>
      <p:sp>
        <p:nvSpPr>
          <p:cNvPr id="13" name="TextBox 12"/>
          <p:cNvSpPr txBox="1"/>
          <p:nvPr/>
        </p:nvSpPr>
        <p:spPr>
          <a:xfrm>
            <a:off x="733425" y="3562350"/>
            <a:ext cx="5715000" cy="333375"/>
          </a:xfrm>
          <a:prstGeom prst="rect">
            <a:avLst/>
          </a:prstGeom>
          <a:noFill/>
        </p:spPr>
        <p:txBody>
          <a:bodyPr wrap="square" lIns="0" rIns="0" tIns="0" bIns="0">
            <a:spAutoFit/>
          </a:bodyPr>
          <a:lstStyle/>
          <a:p>
            <a:pPr>
              <a:lnSpc>
                <a:spcPct val="118000"/>
              </a:lnSpc>
              <a:spcBef>
                <a:spcPts val="0"/>
              </a:spcBef>
              <a:spcAft>
                <a:spcPts val="0"/>
              </a:spcAft>
              <a:defRPr sz="1800" b="0">
                <a:solidFill>
                  <a:srgbClr val="526778"/>
                </a:solidFill>
                <a:latin typeface="Lato"/>
              </a:defRPr>
            </a:pPr>
            <a:r>
              <a:rPr>
                <a:ea typeface="Microsoft JhengHei"/>
              </a:rPr>
              <a:t>Status: read the recorded state</a:t>
            </a:r>
          </a:p>
        </p:txBody>
      </p:sp>
      <p:sp>
        <p:nvSpPr>
          <p:cNvPr id="14" name="TextBox 13"/>
          <p:cNvSpPr txBox="1"/>
          <p:nvPr/>
        </p:nvSpPr>
        <p:spPr>
          <a:xfrm>
            <a:off x="733425" y="4124325"/>
            <a:ext cx="6096000" cy="342900"/>
          </a:xfrm>
          <a:prstGeom prst="rect">
            <a:avLst/>
          </a:prstGeom>
          <a:noFill/>
        </p:spPr>
        <p:txBody>
          <a:bodyPr wrap="square" lIns="0" rIns="0" tIns="0" bIns="0">
            <a:spAutoFit/>
          </a:bodyPr>
          <a:lstStyle/>
          <a:p>
            <a:pPr>
              <a:lnSpc>
                <a:spcPct val="118000"/>
              </a:lnSpc>
              <a:spcBef>
                <a:spcPts val="0"/>
              </a:spcBef>
              <a:spcAft>
                <a:spcPts val="0"/>
              </a:spcAft>
              <a:defRPr sz="1900" b="0">
                <a:solidFill>
                  <a:srgbClr val="126B85"/>
                </a:solidFill>
                <a:latin typeface="Lato"/>
              </a:defRPr>
            </a:pPr>
            <a:r>
              <a:rPr>
                <a:ea typeface="Microsoft JhengHei"/>
              </a:rPr>
              <a:t>How the proposal was reached</a:t>
            </a:r>
          </a:p>
        </p:txBody>
      </p:sp>
      <p:sp>
        <p:nvSpPr>
          <p:cNvPr id="15" name="TextBox 14"/>
          <p:cNvSpPr txBox="1"/>
          <p:nvPr/>
        </p:nvSpPr>
        <p:spPr>
          <a:xfrm>
            <a:off x="733425" y="4505325"/>
            <a:ext cx="6096000" cy="342900"/>
          </a:xfrm>
          <a:prstGeom prst="rect">
            <a:avLst/>
          </a:prstGeom>
          <a:noFill/>
        </p:spPr>
        <p:txBody>
          <a:bodyPr wrap="square" lIns="0" rIns="0" tIns="0" bIns="0">
            <a:spAutoFit/>
          </a:bodyPr>
          <a:lstStyle/>
          <a:p>
            <a:pPr>
              <a:lnSpc>
                <a:spcPct val="118000"/>
              </a:lnSpc>
              <a:spcBef>
                <a:spcPts val="0"/>
              </a:spcBef>
              <a:spcAft>
                <a:spcPts val="0"/>
              </a:spcAft>
              <a:defRPr sz="1900" b="0">
                <a:solidFill>
                  <a:srgbClr val="126B85"/>
                </a:solidFill>
                <a:latin typeface="Lato"/>
              </a:defRPr>
            </a:pPr>
            <a:r>
              <a:rPr>
                <a:ea typeface="Microsoft JhengHei"/>
              </a:rPr>
              <a:t>Material examined</a:t>
            </a:r>
          </a:p>
        </p:txBody>
      </p:sp>
      <p:sp>
        <p:nvSpPr>
          <p:cNvPr id="16" name="TextBox 15"/>
          <p:cNvSpPr txBox="1"/>
          <p:nvPr/>
        </p:nvSpPr>
        <p:spPr>
          <a:xfrm>
            <a:off x="733425" y="4886325"/>
            <a:ext cx="6096000" cy="342900"/>
          </a:xfrm>
          <a:prstGeom prst="rect">
            <a:avLst/>
          </a:prstGeom>
          <a:noFill/>
        </p:spPr>
        <p:txBody>
          <a:bodyPr wrap="square" lIns="0" rIns="0" tIns="0" bIns="0">
            <a:spAutoFit/>
          </a:bodyPr>
          <a:lstStyle/>
          <a:p>
            <a:pPr>
              <a:lnSpc>
                <a:spcPct val="118000"/>
              </a:lnSpc>
              <a:spcBef>
                <a:spcPts val="0"/>
              </a:spcBef>
              <a:spcAft>
                <a:spcPts val="0"/>
              </a:spcAft>
              <a:defRPr sz="1900" b="0">
                <a:solidFill>
                  <a:srgbClr val="126B85"/>
                </a:solidFill>
                <a:latin typeface="Lato"/>
              </a:defRPr>
            </a:pPr>
            <a:r>
              <a:rPr>
                <a:ea typeface="Microsoft JhengHei"/>
              </a:rPr>
              <a:t>Other possible explanations</a:t>
            </a:r>
          </a:p>
        </p:txBody>
      </p:sp>
      <p:sp>
        <p:nvSpPr>
          <p:cNvPr id="17" name="TextBox 16"/>
          <p:cNvSpPr txBox="1"/>
          <p:nvPr/>
        </p:nvSpPr>
        <p:spPr>
          <a:xfrm>
            <a:off x="733425" y="5267325"/>
            <a:ext cx="6096000" cy="342900"/>
          </a:xfrm>
          <a:prstGeom prst="rect">
            <a:avLst/>
          </a:prstGeom>
          <a:noFill/>
        </p:spPr>
        <p:txBody>
          <a:bodyPr wrap="square" lIns="0" rIns="0" tIns="0" bIns="0">
            <a:spAutoFit/>
          </a:bodyPr>
          <a:lstStyle/>
          <a:p>
            <a:pPr>
              <a:lnSpc>
                <a:spcPct val="118000"/>
              </a:lnSpc>
              <a:spcBef>
                <a:spcPts val="0"/>
              </a:spcBef>
              <a:spcAft>
                <a:spcPts val="0"/>
              </a:spcAft>
              <a:defRPr sz="1900" b="0">
                <a:solidFill>
                  <a:srgbClr val="126B85"/>
                </a:solidFill>
                <a:latin typeface="Lato"/>
              </a:defRPr>
            </a:pPr>
            <a:r>
              <a:rPr>
                <a:ea typeface="Microsoft JhengHei"/>
              </a:rPr>
              <a:t>Cited passages</a:t>
            </a:r>
          </a:p>
        </p:txBody>
      </p:sp>
      <p:sp>
        <p:nvSpPr>
          <p:cNvPr id="18" name="TextBox 17"/>
          <p:cNvSpPr txBox="1"/>
          <p:nvPr/>
        </p:nvSpPr>
        <p:spPr>
          <a:xfrm>
            <a:off x="7962900" y="2343150"/>
            <a:ext cx="3467100" cy="2981325"/>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Expand one proposal</a:t>
            </a:r>
          </a:p>
          <a:p>
            <a:pPr>
              <a:lnSpc>
                <a:spcPct val="118000"/>
              </a:lnSpc>
              <a:spcBef>
                <a:spcPts val="0"/>
              </a:spcBef>
              <a:spcAft>
                <a:spcPts val="0"/>
              </a:spcAft>
              <a:defRPr sz="2300" b="0">
                <a:solidFill>
                  <a:srgbClr val="24384A"/>
                </a:solidFill>
                <a:latin typeface="Lato"/>
              </a:defRPr>
            </a:pPr>
          </a:p>
          <a:p>
            <a:pPr>
              <a:lnSpc>
                <a:spcPct val="118000"/>
              </a:lnSpc>
              <a:spcBef>
                <a:spcPts val="0"/>
              </a:spcBef>
              <a:spcAft>
                <a:spcPts val="0"/>
              </a:spcAft>
              <a:defRPr sz="2300" b="0">
                <a:solidFill>
                  <a:srgbClr val="24384A"/>
                </a:solidFill>
                <a:latin typeface="Lato"/>
              </a:defRPr>
            </a:pPr>
            <a:r>
              <a:rPr>
                <a:ea typeface="Microsoft JhengHei"/>
              </a:rPr>
              <a:t>Compare its explanation with the sources</a:t>
            </a:r>
          </a:p>
          <a:p>
            <a:pPr>
              <a:lnSpc>
                <a:spcPct val="118000"/>
              </a:lnSpc>
              <a:spcBef>
                <a:spcPts val="0"/>
              </a:spcBef>
              <a:spcAft>
                <a:spcPts val="0"/>
              </a:spcAft>
              <a:defRPr sz="2300" b="0">
                <a:solidFill>
                  <a:srgbClr val="24384A"/>
                </a:solidFill>
                <a:latin typeface="Lato"/>
              </a:defRPr>
            </a:pPr>
          </a:p>
          <a:p>
            <a:pPr>
              <a:lnSpc>
                <a:spcPct val="118000"/>
              </a:lnSpc>
              <a:spcBef>
                <a:spcPts val="0"/>
              </a:spcBef>
              <a:spcAft>
                <a:spcPts val="0"/>
              </a:spcAft>
              <a:defRPr sz="2300" b="0">
                <a:solidFill>
                  <a:srgbClr val="24384A"/>
                </a:solidFill>
                <a:latin typeface="Lato"/>
              </a:defRPr>
            </a:pPr>
            <a:r>
              <a:rPr>
                <a:ea typeface="Microsoft JhengHei"/>
              </a:rPr>
              <a:t>Follow a citation into Graph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Provenance · Graph</a:t>
            </a: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Follow a proposal back to its sources</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11239500" y="6438900"/>
            <a:ext cx="457200" cy="238125"/>
          </a:xfrm>
          <a:prstGeom prst="rect">
            <a:avLst/>
          </a:prstGeom>
          <a:noFill/>
        </p:spPr>
        <p:txBody>
          <a:bodyPr wrap="square" lIns="0" rIns="0" tIns="0" bIns="0">
            <a:spAutoFit/>
          </a:bodyPr>
          <a:lstStyle/>
          <a:p>
            <a:pPr>
              <a:lnSpc>
                <a:spcPct val="118000"/>
              </a:lnSpc>
              <a:spcBef>
                <a:spcPts val="0"/>
              </a:spcBef>
              <a:spcAft>
                <a:spcPts val="0"/>
              </a:spcAft>
              <a:defRPr sz="1200" b="0">
                <a:solidFill>
                  <a:srgbClr val="526778"/>
                </a:solidFill>
                <a:latin typeface="Lato"/>
              </a:defRPr>
            </a:pPr>
            <a:r>
              <a:rPr>
                <a:ea typeface="Microsoft JhengHei"/>
              </a:rPr>
              <a:t>21</a:t>
            </a:r>
          </a:p>
        </p:txBody>
      </p:sp>
      <p:sp>
        <p:nvSpPr>
          <p:cNvPr id="6" name="Oval 5"/>
          <p:cNvSpPr/>
          <p:nvPr/>
        </p:nvSpPr>
        <p:spPr>
          <a:xfrm>
            <a:off x="762000" y="2905125"/>
            <a:ext cx="1285875" cy="904875"/>
          </a:xfrm>
          <a:prstGeom prst="ellipse">
            <a:avLst/>
          </a:prstGeom>
          <a:solidFill>
            <a:srgbClr val="EDF4F7"/>
          </a:solidFill>
          <a:ln w="12700">
            <a:solidFill>
              <a:srgbClr val="5267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3900" y="4095750"/>
            <a:ext cx="1905000" cy="428625"/>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Source</a:t>
            </a:r>
          </a:p>
        </p:txBody>
      </p:sp>
      <p:sp>
        <p:nvSpPr>
          <p:cNvPr id="8" name="Rectangle 7"/>
          <p:cNvSpPr/>
          <p:nvPr/>
        </p:nvSpPr>
        <p:spPr>
          <a:xfrm>
            <a:off x="3343275" y="2905125"/>
            <a:ext cx="1285875" cy="904875"/>
          </a:xfrm>
          <a:prstGeom prst="rect">
            <a:avLst/>
          </a:prstGeom>
          <a:solidFill>
            <a:srgbClr val="EDF4F7"/>
          </a:solidFill>
          <a:ln w="12700">
            <a:solidFill>
              <a:srgbClr val="5267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48025" y="4095750"/>
            <a:ext cx="1905000" cy="428625"/>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Passage</a:t>
            </a:r>
          </a:p>
        </p:txBody>
      </p:sp>
      <p:sp>
        <p:nvSpPr>
          <p:cNvPr id="10" name="Diamond 9"/>
          <p:cNvSpPr/>
          <p:nvPr/>
        </p:nvSpPr>
        <p:spPr>
          <a:xfrm>
            <a:off x="6315075" y="2762250"/>
            <a:ext cx="1381125" cy="1181100"/>
          </a:xfrm>
          <a:prstGeom prst="diamond">
            <a:avLst/>
          </a:prstGeom>
          <a:solidFill>
            <a:srgbClr val="EDF4F7"/>
          </a:solidFill>
          <a:ln w="12700">
            <a:solidFill>
              <a:srgbClr val="126B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57900" y="4095750"/>
            <a:ext cx="2428875" cy="809625"/>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Claim or</a:t>
            </a:r>
          </a:p>
          <a:p>
            <a:pPr>
              <a:lnSpc>
                <a:spcPct val="118000"/>
              </a:lnSpc>
              <a:spcBef>
                <a:spcPts val="0"/>
              </a:spcBef>
              <a:spcAft>
                <a:spcPts val="0"/>
              </a:spcAft>
              <a:defRPr sz="2200" b="0">
                <a:solidFill>
                  <a:srgbClr val="24384A"/>
                </a:solidFill>
                <a:latin typeface="Lato"/>
              </a:defRPr>
            </a:pPr>
            <a:r>
              <a:rPr>
                <a:ea typeface="Microsoft JhengHei"/>
              </a:rPr>
              <a:t>conjecture</a:t>
            </a:r>
          </a:p>
        </p:txBody>
      </p:sp>
      <p:sp>
        <p:nvSpPr>
          <p:cNvPr id="12" name="5-Point Star 11"/>
          <p:cNvSpPr/>
          <p:nvPr/>
        </p:nvSpPr>
        <p:spPr>
          <a:xfrm>
            <a:off x="9525000" y="2705100"/>
            <a:ext cx="1362075" cy="1238250"/>
          </a:xfrm>
          <a:prstGeom prst="star5">
            <a:avLst/>
          </a:prstGeom>
          <a:solidFill>
            <a:srgbClr val="F4EEF5"/>
          </a:solidFill>
          <a:ln w="12700">
            <a:solidFill>
              <a:srgbClr val="9C24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05925" y="4095750"/>
            <a:ext cx="2476500" cy="809625"/>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Research</a:t>
            </a:r>
          </a:p>
          <a:p>
            <a:pPr>
              <a:lnSpc>
                <a:spcPct val="118000"/>
              </a:lnSpc>
              <a:spcBef>
                <a:spcPts val="0"/>
              </a:spcBef>
              <a:spcAft>
                <a:spcPts val="0"/>
              </a:spcAft>
              <a:defRPr sz="2200" b="0">
                <a:solidFill>
                  <a:srgbClr val="24384A"/>
                </a:solidFill>
                <a:latin typeface="Lato"/>
              </a:defRPr>
            </a:pPr>
            <a:r>
              <a:rPr>
                <a:ea typeface="Microsoft JhengHei"/>
              </a:rPr>
              <a:t>question</a:t>
            </a:r>
          </a:p>
        </p:txBody>
      </p:sp>
      <p:cxnSp>
        <p:nvCxnSpPr>
          <p:cNvPr id="14" name="Connector 13"/>
          <p:cNvCxnSpPr/>
          <p:nvPr/>
        </p:nvCxnSpPr>
        <p:spPr>
          <a:xfrm flipH="1">
            <a:off x="2124075" y="3333750"/>
            <a:ext cx="119062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2133600" y="2857500"/>
            <a:ext cx="1162050" cy="314325"/>
          </a:xfrm>
          <a:prstGeom prst="rect">
            <a:avLst/>
          </a:prstGeom>
          <a:noFill/>
        </p:spPr>
        <p:txBody>
          <a:bodyPr wrap="square" lIns="0" rIns="0" tIns="0" bIns="0">
            <a:spAutoFit/>
          </a:bodyPr>
          <a:lstStyle/>
          <a:p>
            <a:pPr>
              <a:lnSpc>
                <a:spcPct val="118000"/>
              </a:lnSpc>
              <a:spcBef>
                <a:spcPts val="0"/>
              </a:spcBef>
              <a:spcAft>
                <a:spcPts val="0"/>
              </a:spcAft>
              <a:defRPr sz="1600" b="0">
                <a:solidFill>
                  <a:srgbClr val="526778"/>
                </a:solidFill>
                <a:latin typeface="Lato"/>
              </a:defRPr>
            </a:pPr>
            <a:r>
              <a:rPr>
                <a:ea typeface="Microsoft JhengHei"/>
              </a:rPr>
              <a:t>part_of</a:t>
            </a:r>
          </a:p>
        </p:txBody>
      </p:sp>
      <p:cxnSp>
        <p:nvCxnSpPr>
          <p:cNvPr id="16" name="Connector 15"/>
          <p:cNvCxnSpPr/>
          <p:nvPr/>
        </p:nvCxnSpPr>
        <p:spPr>
          <a:xfrm>
            <a:off x="4667250" y="3333750"/>
            <a:ext cx="1571625" cy="0"/>
          </a:xfrm>
          <a:prstGeom prst="line">
            <a:avLst/>
          </a:prstGeom>
          <a:ln w="19050">
            <a:solidFill>
              <a:srgbClr val="126B85"/>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095875" y="2857500"/>
            <a:ext cx="1238250" cy="314325"/>
          </a:xfrm>
          <a:prstGeom prst="rect">
            <a:avLst/>
          </a:prstGeom>
          <a:noFill/>
        </p:spPr>
        <p:txBody>
          <a:bodyPr wrap="square" lIns="0" rIns="0" tIns="0" bIns="0">
            <a:spAutoFit/>
          </a:bodyPr>
          <a:lstStyle/>
          <a:p>
            <a:pPr>
              <a:lnSpc>
                <a:spcPct val="118000"/>
              </a:lnSpc>
              <a:spcBef>
                <a:spcPts val="0"/>
              </a:spcBef>
              <a:spcAft>
                <a:spcPts val="0"/>
              </a:spcAft>
              <a:defRPr sz="1600" b="0">
                <a:solidFill>
                  <a:srgbClr val="126B85"/>
                </a:solidFill>
                <a:latin typeface="Lato"/>
              </a:defRPr>
            </a:pPr>
            <a:r>
              <a:rPr>
                <a:ea typeface="Microsoft JhengHei"/>
              </a:rPr>
              <a:t>attests</a:t>
            </a:r>
          </a:p>
        </p:txBody>
      </p:sp>
      <p:cxnSp>
        <p:nvCxnSpPr>
          <p:cNvPr id="18" name="Connector 17"/>
          <p:cNvCxnSpPr/>
          <p:nvPr/>
        </p:nvCxnSpPr>
        <p:spPr>
          <a:xfrm>
            <a:off x="7781924" y="3333750"/>
            <a:ext cx="1638300" cy="0"/>
          </a:xfrm>
          <a:prstGeom prst="line">
            <a:avLst/>
          </a:prstGeom>
          <a:ln w="19050">
            <a:solidFill>
              <a:srgbClr val="9C2469"/>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086725" y="2857500"/>
            <a:ext cx="1476375" cy="314325"/>
          </a:xfrm>
          <a:prstGeom prst="rect">
            <a:avLst/>
          </a:prstGeom>
          <a:noFill/>
        </p:spPr>
        <p:txBody>
          <a:bodyPr wrap="square" lIns="0" rIns="0" tIns="0" bIns="0">
            <a:spAutoFit/>
          </a:bodyPr>
          <a:lstStyle/>
          <a:p>
            <a:pPr>
              <a:lnSpc>
                <a:spcPct val="118000"/>
              </a:lnSpc>
              <a:spcBef>
                <a:spcPts val="0"/>
              </a:spcBef>
              <a:spcAft>
                <a:spcPts val="0"/>
              </a:spcAft>
              <a:defRPr sz="1600" b="0">
                <a:solidFill>
                  <a:srgbClr val="9C2469"/>
                </a:solidFill>
                <a:latin typeface="Lato"/>
              </a:defRPr>
            </a:pPr>
            <a:r>
              <a:rPr>
                <a:ea typeface="Microsoft JhengHei"/>
              </a:rPr>
              <a:t>addresses</a:t>
            </a:r>
          </a:p>
        </p:txBody>
      </p:sp>
      <p:sp>
        <p:nvSpPr>
          <p:cNvPr id="20" name="TextBox 19"/>
          <p:cNvSpPr txBox="1"/>
          <p:nvPr/>
        </p:nvSpPr>
        <p:spPr>
          <a:xfrm>
            <a:off x="523874" y="5476875"/>
            <a:ext cx="10810875" cy="619125"/>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Select a record to inspect its worker, model, citations and checks.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Human expertise · Graph</a:t>
            </a: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Separate citation checks from researcher decisions</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11239500" y="6438900"/>
            <a:ext cx="457200" cy="238125"/>
          </a:xfrm>
          <a:prstGeom prst="rect">
            <a:avLst/>
          </a:prstGeom>
          <a:noFill/>
        </p:spPr>
        <p:txBody>
          <a:bodyPr wrap="square" lIns="0" rIns="0" tIns="0" bIns="0">
            <a:spAutoFit/>
          </a:bodyPr>
          <a:lstStyle/>
          <a:p>
            <a:pPr>
              <a:lnSpc>
                <a:spcPct val="118000"/>
              </a:lnSpc>
              <a:spcBef>
                <a:spcPts val="0"/>
              </a:spcBef>
              <a:spcAft>
                <a:spcPts val="0"/>
              </a:spcAft>
              <a:defRPr sz="1200" b="0">
                <a:solidFill>
                  <a:srgbClr val="526778"/>
                </a:solidFill>
                <a:latin typeface="Lato"/>
              </a:defRPr>
            </a:pPr>
            <a:r>
              <a:rPr>
                <a:ea typeface="Microsoft JhengHei"/>
              </a:rPr>
              <a:t>22</a:t>
            </a:r>
          </a:p>
        </p:txBody>
      </p:sp>
      <p:sp>
        <p:nvSpPr>
          <p:cNvPr id="6" name="TextBox 5"/>
          <p:cNvSpPr txBox="1"/>
          <p:nvPr/>
        </p:nvSpPr>
        <p:spPr>
          <a:xfrm>
            <a:off x="523874" y="2152650"/>
            <a:ext cx="3143250" cy="923925"/>
          </a:xfrm>
          <a:prstGeom prst="rect">
            <a:avLst/>
          </a:prstGeom>
          <a:noFill/>
        </p:spPr>
        <p:txBody>
          <a:bodyPr wrap="square" lIns="0" rIns="0" tIns="0" bIns="0">
            <a:spAutoFit/>
          </a:bodyPr>
          <a:lstStyle/>
          <a:p>
            <a:pPr>
              <a:lnSpc>
                <a:spcPct val="118000"/>
              </a:lnSpc>
              <a:spcBef>
                <a:spcPts val="0"/>
              </a:spcBef>
              <a:spcAft>
                <a:spcPts val="0"/>
              </a:spcAft>
              <a:defRPr sz="2300" b="1">
                <a:solidFill>
                  <a:srgbClr val="126B85"/>
                </a:solidFill>
                <a:latin typeface="Lato"/>
              </a:defRPr>
            </a:pPr>
            <a:r>
              <a:rPr>
                <a:ea typeface="Microsoft JhengHei"/>
              </a:rPr>
              <a:t>Span verification</a:t>
            </a:r>
          </a:p>
        </p:txBody>
      </p:sp>
      <p:sp>
        <p:nvSpPr>
          <p:cNvPr id="7" name="TextBox 6"/>
          <p:cNvSpPr txBox="1"/>
          <p:nvPr/>
        </p:nvSpPr>
        <p:spPr>
          <a:xfrm>
            <a:off x="4000500" y="2152650"/>
            <a:ext cx="7667624" cy="923925"/>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Was the quotation found in the source?</a:t>
            </a:r>
          </a:p>
        </p:txBody>
      </p:sp>
      <p:sp>
        <p:nvSpPr>
          <p:cNvPr id="8" name="TextBox 7"/>
          <p:cNvSpPr txBox="1"/>
          <p:nvPr/>
        </p:nvSpPr>
        <p:spPr>
          <a:xfrm>
            <a:off x="523874" y="3190875"/>
            <a:ext cx="3143250" cy="923925"/>
          </a:xfrm>
          <a:prstGeom prst="rect">
            <a:avLst/>
          </a:prstGeom>
          <a:noFill/>
        </p:spPr>
        <p:txBody>
          <a:bodyPr wrap="square" lIns="0" rIns="0" tIns="0" bIns="0">
            <a:spAutoFit/>
          </a:bodyPr>
          <a:lstStyle/>
          <a:p>
            <a:pPr>
              <a:lnSpc>
                <a:spcPct val="118000"/>
              </a:lnSpc>
              <a:spcBef>
                <a:spcPts val="0"/>
              </a:spcBef>
              <a:spcAft>
                <a:spcPts val="0"/>
              </a:spcAft>
              <a:defRPr sz="2300" b="1">
                <a:solidFill>
                  <a:srgbClr val="126B85"/>
                </a:solidFill>
                <a:latin typeface="Lato"/>
              </a:defRPr>
            </a:pPr>
            <a:r>
              <a:rPr>
                <a:ea typeface="Microsoft JhengHei"/>
              </a:rPr>
              <a:t>Review</a:t>
            </a:r>
          </a:p>
        </p:txBody>
      </p:sp>
      <p:sp>
        <p:nvSpPr>
          <p:cNvPr id="9" name="TextBox 8"/>
          <p:cNvSpPr txBox="1"/>
          <p:nvPr/>
        </p:nvSpPr>
        <p:spPr>
          <a:xfrm>
            <a:off x="4000500" y="3190875"/>
            <a:ext cx="7667624" cy="923925"/>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What did a separate agent check and report?</a:t>
            </a:r>
          </a:p>
        </p:txBody>
      </p:sp>
      <p:sp>
        <p:nvSpPr>
          <p:cNvPr id="10" name="TextBox 9"/>
          <p:cNvSpPr txBox="1"/>
          <p:nvPr/>
        </p:nvSpPr>
        <p:spPr>
          <a:xfrm>
            <a:off x="523874" y="4229100"/>
            <a:ext cx="3143250" cy="923925"/>
          </a:xfrm>
          <a:prstGeom prst="rect">
            <a:avLst/>
          </a:prstGeom>
          <a:noFill/>
        </p:spPr>
        <p:txBody>
          <a:bodyPr wrap="square" lIns="0" rIns="0" tIns="0" bIns="0">
            <a:spAutoFit/>
          </a:bodyPr>
          <a:lstStyle/>
          <a:p>
            <a:pPr>
              <a:lnSpc>
                <a:spcPct val="118000"/>
              </a:lnSpc>
              <a:spcBef>
                <a:spcPts val="0"/>
              </a:spcBef>
              <a:spcAft>
                <a:spcPts val="0"/>
              </a:spcAft>
              <a:defRPr sz="2300" b="1">
                <a:solidFill>
                  <a:srgbClr val="126B85"/>
                </a:solidFill>
                <a:latin typeface="Lato"/>
              </a:defRPr>
            </a:pPr>
            <a:r>
              <a:rPr>
                <a:ea typeface="Microsoft JhengHei"/>
              </a:rPr>
              <a:t>Researcher decision</a:t>
            </a:r>
          </a:p>
        </p:txBody>
      </p:sp>
      <p:sp>
        <p:nvSpPr>
          <p:cNvPr id="11" name="TextBox 10"/>
          <p:cNvSpPr txBox="1"/>
          <p:nvPr/>
        </p:nvSpPr>
        <p:spPr>
          <a:xfrm>
            <a:off x="4000500" y="4229100"/>
            <a:ext cx="7667624" cy="923925"/>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Should this particular record be accepted or rejected?</a:t>
            </a:r>
          </a:p>
        </p:txBody>
      </p:sp>
      <p:sp>
        <p:nvSpPr>
          <p:cNvPr id="12" name="TextBox 11"/>
          <p:cNvSpPr txBox="1"/>
          <p:nvPr/>
        </p:nvSpPr>
        <p:spPr>
          <a:xfrm>
            <a:off x="523874" y="5581650"/>
            <a:ext cx="10858500" cy="571500"/>
          </a:xfrm>
          <a:prstGeom prst="rect">
            <a:avLst/>
          </a:prstGeom>
          <a:noFill/>
        </p:spPr>
        <p:txBody>
          <a:bodyPr wrap="square" lIns="0" rIns="0" tIns="0" bIns="0">
            <a:spAutoFit/>
          </a:bodyPr>
          <a:lstStyle/>
          <a:p>
            <a:pPr>
              <a:lnSpc>
                <a:spcPct val="118000"/>
              </a:lnSpc>
              <a:spcBef>
                <a:spcPts val="0"/>
              </a:spcBef>
              <a:spcAft>
                <a:spcPts val="0"/>
              </a:spcAft>
              <a:defRPr sz="2400" b="0">
                <a:solidFill>
                  <a:srgbClr val="526778"/>
                </a:solidFill>
                <a:latin typeface="Lato"/>
              </a:defRPr>
            </a:pPr>
            <a:r>
              <a:rPr>
                <a:ea typeface="Microsoft JhengHei"/>
              </a:rPr>
              <a:t>Accepting a passage does not accept every claim connected to it.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Further investigation · Graph and Evidence</a:t>
            </a: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Ask for an explanation of the current view</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11239500" y="6438900"/>
            <a:ext cx="457200" cy="238125"/>
          </a:xfrm>
          <a:prstGeom prst="rect">
            <a:avLst/>
          </a:prstGeom>
          <a:noFill/>
        </p:spPr>
        <p:txBody>
          <a:bodyPr wrap="square" lIns="0" rIns="0" tIns="0" bIns="0">
            <a:spAutoFit/>
          </a:bodyPr>
          <a:lstStyle/>
          <a:p>
            <a:pPr>
              <a:lnSpc>
                <a:spcPct val="118000"/>
              </a:lnSpc>
              <a:spcBef>
                <a:spcPts val="0"/>
              </a:spcBef>
              <a:spcAft>
                <a:spcPts val="0"/>
              </a:spcAft>
              <a:defRPr sz="1200" b="0">
                <a:solidFill>
                  <a:srgbClr val="526778"/>
                </a:solidFill>
                <a:latin typeface="Lato"/>
              </a:defRPr>
            </a:pPr>
            <a:r>
              <a:rPr>
                <a:ea typeface="Microsoft JhengHei"/>
              </a:rPr>
              <a:t>23</a:t>
            </a:r>
          </a:p>
        </p:txBody>
      </p:sp>
      <p:sp>
        <p:nvSpPr>
          <p:cNvPr id="6" name="TextBox 5"/>
          <p:cNvSpPr txBox="1"/>
          <p:nvPr/>
        </p:nvSpPr>
        <p:spPr>
          <a:xfrm>
            <a:off x="523874" y="2238375"/>
            <a:ext cx="3143250" cy="866775"/>
          </a:xfrm>
          <a:prstGeom prst="rect">
            <a:avLst/>
          </a:prstGeom>
          <a:noFill/>
        </p:spPr>
        <p:txBody>
          <a:bodyPr wrap="square" lIns="0" rIns="0" tIns="0" bIns="0">
            <a:spAutoFit/>
          </a:bodyPr>
          <a:lstStyle/>
          <a:p>
            <a:pPr>
              <a:lnSpc>
                <a:spcPct val="118000"/>
              </a:lnSpc>
              <a:spcBef>
                <a:spcPts val="0"/>
              </a:spcBef>
              <a:spcAft>
                <a:spcPts val="0"/>
              </a:spcAft>
              <a:defRPr sz="2300" b="1">
                <a:solidFill>
                  <a:srgbClr val="126B85"/>
                </a:solidFill>
                <a:latin typeface="Lato"/>
              </a:defRPr>
            </a:pPr>
            <a:r>
              <a:rPr>
                <a:ea typeface="Microsoft JhengHei"/>
              </a:rPr>
              <a:t>Analyze this view</a:t>
            </a:r>
          </a:p>
        </p:txBody>
      </p:sp>
      <p:sp>
        <p:nvSpPr>
          <p:cNvPr id="7" name="TextBox 6"/>
          <p:cNvSpPr txBox="1"/>
          <p:nvPr/>
        </p:nvSpPr>
        <p:spPr>
          <a:xfrm>
            <a:off x="4000500" y="2238375"/>
            <a:ext cx="7667624" cy="866775"/>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Open the side panel; choose a model</a:t>
            </a:r>
          </a:p>
        </p:txBody>
      </p:sp>
      <p:sp>
        <p:nvSpPr>
          <p:cNvPr id="8" name="TextBox 7"/>
          <p:cNvSpPr txBox="1"/>
          <p:nvPr/>
        </p:nvSpPr>
        <p:spPr>
          <a:xfrm>
            <a:off x="523874" y="3219450"/>
            <a:ext cx="3143250" cy="866775"/>
          </a:xfrm>
          <a:prstGeom prst="rect">
            <a:avLst/>
          </a:prstGeom>
          <a:noFill/>
        </p:spPr>
        <p:txBody>
          <a:bodyPr wrap="square" lIns="0" rIns="0" tIns="0" bIns="0">
            <a:spAutoFit/>
          </a:bodyPr>
          <a:lstStyle/>
          <a:p>
            <a:pPr>
              <a:lnSpc>
                <a:spcPct val="118000"/>
              </a:lnSpc>
              <a:spcBef>
                <a:spcPts val="0"/>
              </a:spcBef>
              <a:spcAft>
                <a:spcPts val="0"/>
              </a:spcAft>
              <a:defRPr sz="2300" b="1">
                <a:solidFill>
                  <a:srgbClr val="126B85"/>
                </a:solidFill>
                <a:latin typeface="Lato"/>
              </a:defRPr>
            </a:pPr>
            <a:r>
              <a:rPr>
                <a:ea typeface="Microsoft JhengHei"/>
              </a:rPr>
              <a:t>Start analysis</a:t>
            </a:r>
          </a:p>
        </p:txBody>
      </p:sp>
      <p:sp>
        <p:nvSpPr>
          <p:cNvPr id="9" name="TextBox 8"/>
          <p:cNvSpPr txBox="1"/>
          <p:nvPr/>
        </p:nvSpPr>
        <p:spPr>
          <a:xfrm>
            <a:off x="4000500" y="3219450"/>
            <a:ext cx="7667624" cy="866775"/>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Inspect records, retrieve passages and repeat comparisons</a:t>
            </a:r>
          </a:p>
        </p:txBody>
      </p:sp>
      <p:sp>
        <p:nvSpPr>
          <p:cNvPr id="10" name="TextBox 9"/>
          <p:cNvSpPr txBox="1"/>
          <p:nvPr/>
        </p:nvSpPr>
        <p:spPr>
          <a:xfrm>
            <a:off x="523874" y="4200525"/>
            <a:ext cx="3143250" cy="866775"/>
          </a:xfrm>
          <a:prstGeom prst="rect">
            <a:avLst/>
          </a:prstGeom>
          <a:noFill/>
        </p:spPr>
        <p:txBody>
          <a:bodyPr wrap="square" lIns="0" rIns="0" tIns="0" bIns="0">
            <a:spAutoFit/>
          </a:bodyPr>
          <a:lstStyle/>
          <a:p>
            <a:pPr>
              <a:lnSpc>
                <a:spcPct val="118000"/>
              </a:lnSpc>
              <a:spcBef>
                <a:spcPts val="0"/>
              </a:spcBef>
              <a:spcAft>
                <a:spcPts val="0"/>
              </a:spcAft>
              <a:defRPr sz="2300" b="1">
                <a:solidFill>
                  <a:srgbClr val="126B85"/>
                </a:solidFill>
                <a:latin typeface="Lato"/>
              </a:defRPr>
            </a:pPr>
            <a:r>
              <a:rPr>
                <a:ea typeface="Microsoft JhengHei"/>
              </a:rPr>
              <a:t>Saved analyses</a:t>
            </a:r>
          </a:p>
        </p:txBody>
      </p:sp>
      <p:sp>
        <p:nvSpPr>
          <p:cNvPr id="11" name="TextBox 10"/>
          <p:cNvSpPr txBox="1"/>
          <p:nvPr/>
        </p:nvSpPr>
        <p:spPr>
          <a:xfrm>
            <a:off x="4000500" y="4200525"/>
            <a:ext cx="7667624" cy="866775"/>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Reopen the explanation and its actions</a:t>
            </a:r>
          </a:p>
        </p:txBody>
      </p:sp>
      <p:sp>
        <p:nvSpPr>
          <p:cNvPr id="12" name="TextBox 11"/>
          <p:cNvSpPr txBox="1"/>
          <p:nvPr/>
        </p:nvSpPr>
        <p:spPr>
          <a:xfrm>
            <a:off x="523874" y="5514975"/>
            <a:ext cx="10763250" cy="733425"/>
          </a:xfrm>
          <a:prstGeom prst="rect">
            <a:avLst/>
          </a:prstGeom>
          <a:noFill/>
        </p:spPr>
        <p:txBody>
          <a:bodyPr wrap="square" lIns="0" rIns="0" tIns="0" bIns="0">
            <a:spAutoFit/>
          </a:bodyPr>
          <a:lstStyle/>
          <a:p>
            <a:pPr>
              <a:lnSpc>
                <a:spcPct val="118000"/>
              </a:lnSpc>
              <a:spcBef>
                <a:spcPts val="0"/>
              </a:spcBef>
              <a:spcAft>
                <a:spcPts val="0"/>
              </a:spcAft>
              <a:defRPr sz="2300" b="0">
                <a:solidFill>
                  <a:srgbClr val="526778"/>
                </a:solidFill>
                <a:latin typeface="Lato"/>
              </a:defRPr>
            </a:pPr>
            <a:r>
              <a:rPr>
                <a:ea typeface="Microsoft JhengHei"/>
              </a:rPr>
              <a:t>The analyst cannot modify graph records. Its explanation refers to the selected snapshot.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Diachronic digital humanities</a:t>
            </a: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Historical information and measured results</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11239500" y="6438900"/>
            <a:ext cx="457200" cy="238125"/>
          </a:xfrm>
          <a:prstGeom prst="rect">
            <a:avLst/>
          </a:prstGeom>
          <a:noFill/>
        </p:spPr>
        <p:txBody>
          <a:bodyPr wrap="square" lIns="0" rIns="0" tIns="0" bIns="0">
            <a:spAutoFit/>
          </a:bodyPr>
          <a:lstStyle/>
          <a:p>
            <a:pPr>
              <a:lnSpc>
                <a:spcPct val="118000"/>
              </a:lnSpc>
              <a:spcBef>
                <a:spcPts val="0"/>
              </a:spcBef>
              <a:spcAft>
                <a:spcPts val="0"/>
              </a:spcAft>
              <a:defRPr sz="1200" b="0">
                <a:solidFill>
                  <a:srgbClr val="526778"/>
                </a:solidFill>
                <a:latin typeface="Lato"/>
              </a:defRPr>
            </a:pPr>
            <a:r>
              <a:rPr>
                <a:ea typeface="Microsoft JhengHei"/>
              </a:rPr>
              <a:t>24</a:t>
            </a:r>
          </a:p>
        </p:txBody>
      </p:sp>
      <p:sp>
        <p:nvSpPr>
          <p:cNvPr id="6" name="TextBox 5"/>
          <p:cNvSpPr txBox="1"/>
          <p:nvPr/>
        </p:nvSpPr>
        <p:spPr>
          <a:xfrm>
            <a:off x="523874" y="2276475"/>
            <a:ext cx="3143250" cy="923925"/>
          </a:xfrm>
          <a:prstGeom prst="rect">
            <a:avLst/>
          </a:prstGeom>
          <a:noFill/>
        </p:spPr>
        <p:txBody>
          <a:bodyPr wrap="square" lIns="0" rIns="0" tIns="0" bIns="0">
            <a:spAutoFit/>
          </a:bodyPr>
          <a:lstStyle/>
          <a:p>
            <a:pPr>
              <a:lnSpc>
                <a:spcPct val="118000"/>
              </a:lnSpc>
              <a:spcBef>
                <a:spcPts val="0"/>
              </a:spcBef>
              <a:spcAft>
                <a:spcPts val="0"/>
              </a:spcAft>
              <a:defRPr sz="2400" b="1">
                <a:solidFill>
                  <a:srgbClr val="126B85"/>
                </a:solidFill>
                <a:latin typeface="Lato"/>
              </a:defRPr>
            </a:pPr>
            <a:r>
              <a:rPr>
                <a:ea typeface="Microsoft JhengHei"/>
              </a:rPr>
              <a:t>From scholarship</a:t>
            </a:r>
          </a:p>
        </p:txBody>
      </p:sp>
      <p:sp>
        <p:nvSpPr>
          <p:cNvPr id="7" name="TextBox 6"/>
          <p:cNvSpPr txBox="1"/>
          <p:nvPr/>
        </p:nvSpPr>
        <p:spPr>
          <a:xfrm>
            <a:off x="4190999" y="2276475"/>
            <a:ext cx="7143750" cy="923925"/>
          </a:xfrm>
          <a:prstGeom prst="rect">
            <a:avLst/>
          </a:prstGeom>
          <a:noFill/>
        </p:spPr>
        <p:txBody>
          <a:bodyPr wrap="square" lIns="0" rIns="0" tIns="0" bIns="0">
            <a:spAutoFit/>
          </a:bodyPr>
          <a:lstStyle/>
          <a:p>
            <a:pPr>
              <a:lnSpc>
                <a:spcPct val="118000"/>
              </a:lnSpc>
              <a:spcBef>
                <a:spcPts val="0"/>
              </a:spcBef>
              <a:spcAft>
                <a:spcPts val="0"/>
              </a:spcAft>
              <a:defRPr sz="2400" b="0">
                <a:solidFill>
                  <a:srgbClr val="24384A"/>
                </a:solidFill>
                <a:latin typeface="Lato"/>
              </a:defRPr>
            </a:pPr>
            <a:r>
              <a:rPr>
                <a:ea typeface="Microsoft JhengHei"/>
              </a:rPr>
              <a:t>Attributions, approximate dates and the commentary relationship</a:t>
            </a:r>
          </a:p>
        </p:txBody>
      </p:sp>
      <p:sp>
        <p:nvSpPr>
          <p:cNvPr id="8" name="TextBox 7"/>
          <p:cNvSpPr txBox="1"/>
          <p:nvPr/>
        </p:nvSpPr>
        <p:spPr>
          <a:xfrm>
            <a:off x="523874" y="3390900"/>
            <a:ext cx="3143250" cy="923925"/>
          </a:xfrm>
          <a:prstGeom prst="rect">
            <a:avLst/>
          </a:prstGeom>
          <a:noFill/>
        </p:spPr>
        <p:txBody>
          <a:bodyPr wrap="square" lIns="0" rIns="0" tIns="0" bIns="0">
            <a:spAutoFit/>
          </a:bodyPr>
          <a:lstStyle/>
          <a:p>
            <a:pPr>
              <a:lnSpc>
                <a:spcPct val="118000"/>
              </a:lnSpc>
              <a:spcBef>
                <a:spcPts val="0"/>
              </a:spcBef>
              <a:spcAft>
                <a:spcPts val="0"/>
              </a:spcAft>
              <a:defRPr sz="2400" b="1">
                <a:solidFill>
                  <a:srgbClr val="126B85"/>
                </a:solidFill>
                <a:latin typeface="Lato"/>
              </a:defRPr>
            </a:pPr>
            <a:r>
              <a:rPr>
                <a:ea typeface="Microsoft JhengHei"/>
              </a:rPr>
              <a:t>From Cohort</a:t>
            </a:r>
          </a:p>
        </p:txBody>
      </p:sp>
      <p:sp>
        <p:nvSpPr>
          <p:cNvPr id="9" name="TextBox 8"/>
          <p:cNvSpPr txBox="1"/>
          <p:nvPr/>
        </p:nvSpPr>
        <p:spPr>
          <a:xfrm>
            <a:off x="4190999" y="3390900"/>
            <a:ext cx="7143750" cy="923925"/>
          </a:xfrm>
          <a:prstGeom prst="rect">
            <a:avLst/>
          </a:prstGeom>
          <a:noFill/>
        </p:spPr>
        <p:txBody>
          <a:bodyPr wrap="square" lIns="0" rIns="0" tIns="0" bIns="0">
            <a:spAutoFit/>
          </a:bodyPr>
          <a:lstStyle/>
          <a:p>
            <a:pPr>
              <a:lnSpc>
                <a:spcPct val="118000"/>
              </a:lnSpc>
              <a:spcBef>
                <a:spcPts val="0"/>
              </a:spcBef>
              <a:spcAft>
                <a:spcPts val="0"/>
              </a:spcAft>
              <a:defRPr sz="2400" b="0">
                <a:solidFill>
                  <a:srgbClr val="24384A"/>
                </a:solidFill>
                <a:latin typeface="Lato"/>
              </a:defRPr>
            </a:pPr>
            <a:r>
              <a:rPr>
                <a:ea typeface="Microsoft JhengHei"/>
              </a:rPr>
              <a:t>Located passages, shared wording and the effect of excluding a source</a:t>
            </a:r>
          </a:p>
        </p:txBody>
      </p:sp>
      <p:sp>
        <p:nvSpPr>
          <p:cNvPr id="10" name="TextBox 9"/>
          <p:cNvSpPr txBox="1"/>
          <p:nvPr/>
        </p:nvSpPr>
        <p:spPr>
          <a:xfrm>
            <a:off x="523874" y="4505325"/>
            <a:ext cx="3143250" cy="923925"/>
          </a:xfrm>
          <a:prstGeom prst="rect">
            <a:avLst/>
          </a:prstGeom>
          <a:noFill/>
        </p:spPr>
        <p:txBody>
          <a:bodyPr wrap="square" lIns="0" rIns="0" tIns="0" bIns="0">
            <a:spAutoFit/>
          </a:bodyPr>
          <a:lstStyle/>
          <a:p>
            <a:pPr>
              <a:lnSpc>
                <a:spcPct val="118000"/>
              </a:lnSpc>
              <a:spcBef>
                <a:spcPts val="0"/>
              </a:spcBef>
              <a:spcAft>
                <a:spcPts val="0"/>
              </a:spcAft>
              <a:defRPr sz="2400" b="1">
                <a:solidFill>
                  <a:srgbClr val="126B85"/>
                </a:solidFill>
                <a:latin typeface="Lato"/>
              </a:defRPr>
            </a:pPr>
            <a:r>
              <a:rPr>
                <a:ea typeface="Microsoft JhengHei"/>
              </a:rPr>
              <a:t>Further research</a:t>
            </a:r>
          </a:p>
        </p:txBody>
      </p:sp>
      <p:sp>
        <p:nvSpPr>
          <p:cNvPr id="11" name="TextBox 10"/>
          <p:cNvSpPr txBox="1"/>
          <p:nvPr/>
        </p:nvSpPr>
        <p:spPr>
          <a:xfrm>
            <a:off x="4190999" y="4505325"/>
            <a:ext cx="7143750" cy="923925"/>
          </a:xfrm>
          <a:prstGeom prst="rect">
            <a:avLst/>
          </a:prstGeom>
          <a:noFill/>
        </p:spPr>
        <p:txBody>
          <a:bodyPr wrap="square" lIns="0" rIns="0" tIns="0" bIns="0">
            <a:spAutoFit/>
          </a:bodyPr>
          <a:lstStyle/>
          <a:p>
            <a:pPr>
              <a:lnSpc>
                <a:spcPct val="118000"/>
              </a:lnSpc>
              <a:spcBef>
                <a:spcPts val="0"/>
              </a:spcBef>
              <a:spcAft>
                <a:spcPts val="0"/>
              </a:spcAft>
              <a:defRPr sz="2400" b="0">
                <a:solidFill>
                  <a:srgbClr val="24384A"/>
                </a:solidFill>
                <a:latin typeface="Lato"/>
              </a:defRPr>
            </a:pPr>
            <a:r>
              <a:rPr>
                <a:ea typeface="Microsoft JhengHei"/>
              </a:rPr>
              <a:t>Whether the wording supports an ascription, revision or reuse hypothesis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Discussion</a:t>
            </a: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Research tasks to develop with scholars</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11239500" y="6438900"/>
            <a:ext cx="457200" cy="238125"/>
          </a:xfrm>
          <a:prstGeom prst="rect">
            <a:avLst/>
          </a:prstGeom>
          <a:noFill/>
        </p:spPr>
        <p:txBody>
          <a:bodyPr wrap="square" lIns="0" rIns="0" tIns="0" bIns="0">
            <a:spAutoFit/>
          </a:bodyPr>
          <a:lstStyle/>
          <a:p>
            <a:pPr>
              <a:lnSpc>
                <a:spcPct val="118000"/>
              </a:lnSpc>
              <a:spcBef>
                <a:spcPts val="0"/>
              </a:spcBef>
              <a:spcAft>
                <a:spcPts val="0"/>
              </a:spcAft>
              <a:defRPr sz="1200" b="0">
                <a:solidFill>
                  <a:srgbClr val="526778"/>
                </a:solidFill>
                <a:latin typeface="Lato"/>
              </a:defRPr>
            </a:pPr>
            <a:r>
              <a:rPr>
                <a:ea typeface="Microsoft JhengHei"/>
              </a:rPr>
              <a:t>25</a:t>
            </a:r>
          </a:p>
        </p:txBody>
      </p:sp>
      <p:sp>
        <p:nvSpPr>
          <p:cNvPr id="6" name="TextBox 5"/>
          <p:cNvSpPr txBox="1"/>
          <p:nvPr/>
        </p:nvSpPr>
        <p:spPr>
          <a:xfrm>
            <a:off x="523874" y="2371725"/>
            <a:ext cx="3143250" cy="952500"/>
          </a:xfrm>
          <a:prstGeom prst="rect">
            <a:avLst/>
          </a:prstGeom>
          <a:noFill/>
        </p:spPr>
        <p:txBody>
          <a:bodyPr wrap="square" lIns="0" rIns="0" tIns="0" bIns="0">
            <a:spAutoFit/>
          </a:bodyPr>
          <a:lstStyle/>
          <a:p>
            <a:pPr>
              <a:lnSpc>
                <a:spcPct val="118000"/>
              </a:lnSpc>
              <a:spcBef>
                <a:spcPts val="0"/>
              </a:spcBef>
              <a:spcAft>
                <a:spcPts val="0"/>
              </a:spcAft>
              <a:defRPr sz="2300" b="1">
                <a:solidFill>
                  <a:srgbClr val="126B85"/>
                </a:solidFill>
                <a:latin typeface="Lato"/>
              </a:defRPr>
            </a:pPr>
            <a:r>
              <a:rPr>
                <a:ea typeface="Microsoft JhengHei"/>
              </a:rPr>
              <a:t>Find useful parallels</a:t>
            </a:r>
          </a:p>
        </p:txBody>
      </p:sp>
      <p:sp>
        <p:nvSpPr>
          <p:cNvPr id="7" name="TextBox 6"/>
          <p:cNvSpPr txBox="1"/>
          <p:nvPr/>
        </p:nvSpPr>
        <p:spPr>
          <a:xfrm>
            <a:off x="4000500" y="2371725"/>
            <a:ext cx="7667624" cy="9525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Which retrieved passages deserve close reading?</a:t>
            </a:r>
          </a:p>
        </p:txBody>
      </p:sp>
      <p:sp>
        <p:nvSpPr>
          <p:cNvPr id="8" name="TextBox 7"/>
          <p:cNvSpPr txBox="1"/>
          <p:nvPr/>
        </p:nvSpPr>
        <p:spPr>
          <a:xfrm>
            <a:off x="523874" y="3438525"/>
            <a:ext cx="3143250" cy="952500"/>
          </a:xfrm>
          <a:prstGeom prst="rect">
            <a:avLst/>
          </a:prstGeom>
          <a:noFill/>
        </p:spPr>
        <p:txBody>
          <a:bodyPr wrap="square" lIns="0" rIns="0" tIns="0" bIns="0">
            <a:spAutoFit/>
          </a:bodyPr>
          <a:lstStyle/>
          <a:p>
            <a:pPr>
              <a:lnSpc>
                <a:spcPct val="118000"/>
              </a:lnSpc>
              <a:spcBef>
                <a:spcPts val="0"/>
              </a:spcBef>
              <a:spcAft>
                <a:spcPts val="0"/>
              </a:spcAft>
              <a:defRPr sz="2300" b="1">
                <a:solidFill>
                  <a:srgbClr val="126B85"/>
                </a:solidFill>
                <a:latin typeface="Lato"/>
              </a:defRPr>
            </a:pPr>
            <a:r>
              <a:rPr>
                <a:ea typeface="Microsoft JhengHei"/>
              </a:rPr>
              <a:t>Test a comparison</a:t>
            </a:r>
          </a:p>
        </p:txBody>
      </p:sp>
      <p:sp>
        <p:nvSpPr>
          <p:cNvPr id="9" name="TextBox 8"/>
          <p:cNvSpPr txBox="1"/>
          <p:nvPr/>
        </p:nvSpPr>
        <p:spPr>
          <a:xfrm>
            <a:off x="4000500" y="3438525"/>
            <a:ext cx="7667624" cy="9525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Does it persist across genre, length and source exclusions?</a:t>
            </a:r>
          </a:p>
        </p:txBody>
      </p:sp>
      <p:sp>
        <p:nvSpPr>
          <p:cNvPr id="10" name="TextBox 9"/>
          <p:cNvSpPr txBox="1"/>
          <p:nvPr/>
        </p:nvSpPr>
        <p:spPr>
          <a:xfrm>
            <a:off x="523874" y="4505325"/>
            <a:ext cx="3143250" cy="952500"/>
          </a:xfrm>
          <a:prstGeom prst="rect">
            <a:avLst/>
          </a:prstGeom>
          <a:noFill/>
        </p:spPr>
        <p:txBody>
          <a:bodyPr wrap="square" lIns="0" rIns="0" tIns="0" bIns="0">
            <a:spAutoFit/>
          </a:bodyPr>
          <a:lstStyle/>
          <a:p>
            <a:pPr>
              <a:lnSpc>
                <a:spcPct val="118000"/>
              </a:lnSpc>
              <a:spcBef>
                <a:spcPts val="0"/>
              </a:spcBef>
              <a:spcAft>
                <a:spcPts val="0"/>
              </a:spcAft>
              <a:defRPr sz="2300" b="1">
                <a:solidFill>
                  <a:srgbClr val="126B85"/>
                </a:solidFill>
                <a:latin typeface="Lato"/>
              </a:defRPr>
            </a:pPr>
            <a:r>
              <a:rPr>
                <a:ea typeface="Microsoft JhengHei"/>
              </a:rPr>
              <a:t>Assess an ascription</a:t>
            </a:r>
          </a:p>
        </p:txBody>
      </p:sp>
      <p:sp>
        <p:nvSpPr>
          <p:cNvPr id="11" name="TextBox 10"/>
          <p:cNvSpPr txBox="1"/>
          <p:nvPr/>
        </p:nvSpPr>
        <p:spPr>
          <a:xfrm>
            <a:off x="4000500" y="4505325"/>
            <a:ext cx="7667624" cy="9525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Which observations could distinguish competing explanations?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Reference · Evidence settings</a:t>
            </a: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Choosing a vocabulary</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11239500" y="6438900"/>
            <a:ext cx="457200" cy="238125"/>
          </a:xfrm>
          <a:prstGeom prst="rect">
            <a:avLst/>
          </a:prstGeom>
          <a:noFill/>
        </p:spPr>
        <p:txBody>
          <a:bodyPr wrap="square" lIns="0" rIns="0" tIns="0" bIns="0">
            <a:spAutoFit/>
          </a:bodyPr>
          <a:lstStyle/>
          <a:p>
            <a:pPr>
              <a:lnSpc>
                <a:spcPct val="118000"/>
              </a:lnSpc>
              <a:spcBef>
                <a:spcPts val="0"/>
              </a:spcBef>
              <a:spcAft>
                <a:spcPts val="0"/>
              </a:spcAft>
              <a:defRPr sz="1200" b="0">
                <a:solidFill>
                  <a:srgbClr val="526778"/>
                </a:solidFill>
                <a:latin typeface="Lato"/>
              </a:defRPr>
            </a:pPr>
            <a:r>
              <a:rPr>
                <a:ea typeface="Microsoft JhengHei"/>
              </a:rPr>
              <a:t>26</a:t>
            </a:r>
          </a:p>
        </p:txBody>
      </p:sp>
      <p:sp>
        <p:nvSpPr>
          <p:cNvPr id="6" name="TextBox 5"/>
          <p:cNvSpPr txBox="1"/>
          <p:nvPr/>
        </p:nvSpPr>
        <p:spPr>
          <a:xfrm>
            <a:off x="523874" y="2371725"/>
            <a:ext cx="3143250" cy="942975"/>
          </a:xfrm>
          <a:prstGeom prst="rect">
            <a:avLst/>
          </a:prstGeom>
          <a:noFill/>
        </p:spPr>
        <p:txBody>
          <a:bodyPr wrap="square" lIns="0" rIns="0" tIns="0" bIns="0">
            <a:spAutoFit/>
          </a:bodyPr>
          <a:lstStyle/>
          <a:p>
            <a:pPr>
              <a:lnSpc>
                <a:spcPct val="118000"/>
              </a:lnSpc>
              <a:spcBef>
                <a:spcPts val="0"/>
              </a:spcBef>
              <a:spcAft>
                <a:spcPts val="0"/>
              </a:spcAft>
              <a:defRPr sz="2300" b="1">
                <a:solidFill>
                  <a:srgbClr val="126B85"/>
                </a:solidFill>
                <a:latin typeface="Lato"/>
              </a:defRPr>
            </a:pPr>
            <a:r>
              <a:rPr>
                <a:ea typeface="Microsoft JhengHei"/>
              </a:rPr>
              <a:t>Curated strings</a:t>
            </a:r>
          </a:p>
        </p:txBody>
      </p:sp>
      <p:sp>
        <p:nvSpPr>
          <p:cNvPr id="7" name="TextBox 6"/>
          <p:cNvSpPr txBox="1"/>
          <p:nvPr/>
        </p:nvSpPr>
        <p:spPr>
          <a:xfrm>
            <a:off x="4000500" y="2371725"/>
            <a:ext cx="7667624" cy="942975"/>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Built for work on a Dharmarakṣa dictionary; uneven coverage</a:t>
            </a:r>
          </a:p>
        </p:txBody>
      </p:sp>
      <p:sp>
        <p:nvSpPr>
          <p:cNvPr id="8" name="TextBox 7"/>
          <p:cNvSpPr txBox="1"/>
          <p:nvPr/>
        </p:nvSpPr>
        <p:spPr>
          <a:xfrm>
            <a:off x="523874" y="3429000"/>
            <a:ext cx="3143250" cy="942975"/>
          </a:xfrm>
          <a:prstGeom prst="rect">
            <a:avLst/>
          </a:prstGeom>
          <a:noFill/>
        </p:spPr>
        <p:txBody>
          <a:bodyPr wrap="square" lIns="0" rIns="0" tIns="0" bIns="0">
            <a:spAutoFit/>
          </a:bodyPr>
          <a:lstStyle/>
          <a:p>
            <a:pPr>
              <a:lnSpc>
                <a:spcPct val="118000"/>
              </a:lnSpc>
              <a:spcBef>
                <a:spcPts val="0"/>
              </a:spcBef>
              <a:spcAft>
                <a:spcPts val="0"/>
              </a:spcAft>
              <a:defRPr sz="2300" b="1">
                <a:solidFill>
                  <a:srgbClr val="126B85"/>
                </a:solidFill>
                <a:latin typeface="Lato"/>
              </a:defRPr>
            </a:pPr>
            <a:r>
              <a:rPr>
                <a:ea typeface="Microsoft JhengHei"/>
              </a:rPr>
              <a:t>Frequent corpus strings</a:t>
            </a:r>
          </a:p>
        </p:txBody>
      </p:sp>
      <p:sp>
        <p:nvSpPr>
          <p:cNvPr id="9" name="TextBox 8"/>
          <p:cNvSpPr txBox="1"/>
          <p:nvPr/>
        </p:nvSpPr>
        <p:spPr>
          <a:xfrm>
            <a:off x="4000500" y="3429000"/>
            <a:ext cx="7667624" cy="942975"/>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Selected without translator labels; can favour genre formulas</a:t>
            </a:r>
          </a:p>
        </p:txBody>
      </p:sp>
      <p:sp>
        <p:nvSpPr>
          <p:cNvPr id="10" name="TextBox 9"/>
          <p:cNvSpPr txBox="1"/>
          <p:nvPr/>
        </p:nvSpPr>
        <p:spPr>
          <a:xfrm>
            <a:off x="523874" y="4486275"/>
            <a:ext cx="3143250" cy="942975"/>
          </a:xfrm>
          <a:prstGeom prst="rect">
            <a:avLst/>
          </a:prstGeom>
          <a:noFill/>
        </p:spPr>
        <p:txBody>
          <a:bodyPr wrap="square" lIns="0" rIns="0" tIns="0" bIns="0">
            <a:spAutoFit/>
          </a:bodyPr>
          <a:lstStyle/>
          <a:p>
            <a:pPr>
              <a:lnSpc>
                <a:spcPct val="118000"/>
              </a:lnSpc>
              <a:spcBef>
                <a:spcPts val="0"/>
              </a:spcBef>
              <a:spcAft>
                <a:spcPts val="0"/>
              </a:spcAft>
              <a:defRPr sz="2300" b="1">
                <a:solidFill>
                  <a:srgbClr val="126B85"/>
                </a:solidFill>
                <a:latin typeface="Lato"/>
              </a:defRPr>
            </a:pPr>
            <a:r>
              <a:rPr>
                <a:ea typeface="Microsoft JhengHei"/>
              </a:rPr>
              <a:t>Combined lists</a:t>
            </a:r>
          </a:p>
        </p:txBody>
      </p:sp>
      <p:sp>
        <p:nvSpPr>
          <p:cNvPr id="11" name="TextBox 10"/>
          <p:cNvSpPr txBox="1"/>
          <p:nvPr/>
        </p:nvSpPr>
        <p:spPr>
          <a:xfrm>
            <a:off x="4000500" y="4486275"/>
            <a:ext cx="7667624" cy="942975"/>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Union of both lists; their biases remain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Reference · current dataset</a:t>
            </a: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The comparison groups</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11239500" y="6438900"/>
            <a:ext cx="457200" cy="238125"/>
          </a:xfrm>
          <a:prstGeom prst="rect">
            <a:avLst/>
          </a:prstGeom>
          <a:noFill/>
        </p:spPr>
        <p:txBody>
          <a:bodyPr wrap="square" lIns="0" rIns="0" tIns="0" bIns="0">
            <a:spAutoFit/>
          </a:bodyPr>
          <a:lstStyle/>
          <a:p>
            <a:pPr>
              <a:lnSpc>
                <a:spcPct val="118000"/>
              </a:lnSpc>
              <a:spcBef>
                <a:spcPts val="0"/>
              </a:spcBef>
              <a:spcAft>
                <a:spcPts val="0"/>
              </a:spcAft>
              <a:defRPr sz="1200" b="0">
                <a:solidFill>
                  <a:srgbClr val="526778"/>
                </a:solidFill>
                <a:latin typeface="Lato"/>
              </a:defRPr>
            </a:pPr>
            <a:r>
              <a:rPr>
                <a:ea typeface="Microsoft JhengHei"/>
              </a:rPr>
              <a:t>27</a:t>
            </a:r>
          </a:p>
        </p:txBody>
      </p:sp>
      <p:sp>
        <p:nvSpPr>
          <p:cNvPr id="6" name="TextBox 5"/>
          <p:cNvSpPr txBox="1"/>
          <p:nvPr/>
        </p:nvSpPr>
        <p:spPr>
          <a:xfrm>
            <a:off x="523874" y="2028825"/>
            <a:ext cx="5572125" cy="485775"/>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An Shigao 安世高</a:t>
            </a:r>
          </a:p>
        </p:txBody>
      </p:sp>
      <p:sp>
        <p:nvSpPr>
          <p:cNvPr id="7" name="TextBox 6"/>
          <p:cNvSpPr txBox="1"/>
          <p:nvPr/>
        </p:nvSpPr>
        <p:spPr>
          <a:xfrm>
            <a:off x="523874" y="2562225"/>
            <a:ext cx="5572125" cy="485775"/>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Baoyun 寶雲</a:t>
            </a:r>
          </a:p>
        </p:txBody>
      </p:sp>
      <p:sp>
        <p:nvSpPr>
          <p:cNvPr id="8" name="TextBox 7"/>
          <p:cNvSpPr txBox="1"/>
          <p:nvPr/>
        </p:nvSpPr>
        <p:spPr>
          <a:xfrm>
            <a:off x="523874" y="3095625"/>
            <a:ext cx="5572125" cy="485775"/>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Buddhabhadra 佛陀跋陀羅</a:t>
            </a:r>
          </a:p>
        </p:txBody>
      </p:sp>
      <p:sp>
        <p:nvSpPr>
          <p:cNvPr id="9" name="TextBox 8"/>
          <p:cNvSpPr txBox="1"/>
          <p:nvPr/>
        </p:nvSpPr>
        <p:spPr>
          <a:xfrm>
            <a:off x="523874" y="3629025"/>
            <a:ext cx="5572125" cy="485775"/>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Dharmakṣema 曇無讖</a:t>
            </a:r>
          </a:p>
        </p:txBody>
      </p:sp>
      <p:sp>
        <p:nvSpPr>
          <p:cNvPr id="10" name="TextBox 9"/>
          <p:cNvSpPr txBox="1"/>
          <p:nvPr/>
        </p:nvSpPr>
        <p:spPr>
          <a:xfrm>
            <a:off x="523874" y="4162424"/>
            <a:ext cx="5572125" cy="485775"/>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Dharmarakṣa 竺法護</a:t>
            </a:r>
          </a:p>
        </p:txBody>
      </p:sp>
      <p:sp>
        <p:nvSpPr>
          <p:cNvPr id="11" name="TextBox 10"/>
          <p:cNvSpPr txBox="1"/>
          <p:nvPr/>
        </p:nvSpPr>
        <p:spPr>
          <a:xfrm>
            <a:off x="523874" y="4695825"/>
            <a:ext cx="5572125" cy="485775"/>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Guṇabhadra 求那跋陀羅</a:t>
            </a:r>
          </a:p>
        </p:txBody>
      </p:sp>
      <p:sp>
        <p:nvSpPr>
          <p:cNvPr id="12" name="TextBox 11"/>
          <p:cNvSpPr txBox="1"/>
          <p:nvPr/>
        </p:nvSpPr>
        <p:spPr>
          <a:xfrm>
            <a:off x="6477000" y="2028825"/>
            <a:ext cx="5572125" cy="485775"/>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Kumārajīva 鳩摩羅什</a:t>
            </a:r>
          </a:p>
        </p:txBody>
      </p:sp>
      <p:sp>
        <p:nvSpPr>
          <p:cNvPr id="13" name="TextBox 12"/>
          <p:cNvSpPr txBox="1"/>
          <p:nvPr/>
        </p:nvSpPr>
        <p:spPr>
          <a:xfrm>
            <a:off x="6477000" y="2562225"/>
            <a:ext cx="5572125" cy="485775"/>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Lokakṣema 支婁迦讖</a:t>
            </a:r>
          </a:p>
        </p:txBody>
      </p:sp>
      <p:sp>
        <p:nvSpPr>
          <p:cNvPr id="14" name="TextBox 13"/>
          <p:cNvSpPr txBox="1"/>
          <p:nvPr/>
        </p:nvSpPr>
        <p:spPr>
          <a:xfrm>
            <a:off x="6477000" y="3095625"/>
            <a:ext cx="5572125" cy="485775"/>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Gautama Saṅghadeva 僧伽提婆</a:t>
            </a:r>
          </a:p>
        </p:txBody>
      </p:sp>
      <p:sp>
        <p:nvSpPr>
          <p:cNvPr id="15" name="TextBox 14"/>
          <p:cNvSpPr txBox="1"/>
          <p:nvPr/>
        </p:nvSpPr>
        <p:spPr>
          <a:xfrm>
            <a:off x="6477000" y="3629025"/>
            <a:ext cx="5572125" cy="485775"/>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Zhu Fonian 竺佛念</a:t>
            </a:r>
          </a:p>
        </p:txBody>
      </p:sp>
      <p:sp>
        <p:nvSpPr>
          <p:cNvPr id="16" name="TextBox 15"/>
          <p:cNvSpPr txBox="1"/>
          <p:nvPr/>
        </p:nvSpPr>
        <p:spPr>
          <a:xfrm>
            <a:off x="6477000" y="4162424"/>
            <a:ext cx="5572125" cy="485775"/>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Zhi Qian 支謙</a:t>
            </a:r>
          </a:p>
        </p:txBody>
      </p:sp>
      <p:sp>
        <p:nvSpPr>
          <p:cNvPr id="17" name="TextBox 16"/>
          <p:cNvSpPr txBox="1"/>
          <p:nvPr/>
        </p:nvSpPr>
        <p:spPr>
          <a:xfrm>
            <a:off x="523874" y="5429250"/>
            <a:ext cx="11144250" cy="304800"/>
          </a:xfrm>
          <a:prstGeom prst="rect">
            <a:avLst/>
          </a:prstGeom>
          <a:noFill/>
        </p:spPr>
        <p:txBody>
          <a:bodyPr wrap="square" lIns="0" rIns="0" tIns="0" bIns="0">
            <a:spAutoFit/>
          </a:bodyPr>
          <a:lstStyle/>
          <a:p>
            <a:pPr>
              <a:lnSpc>
                <a:spcPct val="118000"/>
              </a:lnSpc>
              <a:spcBef>
                <a:spcPts val="0"/>
              </a:spcBef>
              <a:spcAft>
                <a:spcPts val="0"/>
              </a:spcAft>
              <a:defRPr sz="1700" b="1">
                <a:solidFill>
                  <a:srgbClr val="126B85"/>
                </a:solidFill>
                <a:latin typeface="Lato"/>
              </a:defRPr>
            </a:pPr>
            <a:r>
              <a:rPr>
                <a:ea typeface="Microsoft JhengHei"/>
              </a:rPr>
              <a:t>Mixed categories</a:t>
            </a:r>
          </a:p>
        </p:txBody>
      </p:sp>
      <p:sp>
        <p:nvSpPr>
          <p:cNvPr id="18" name="TextBox 17"/>
          <p:cNvSpPr txBox="1"/>
          <p:nvPr/>
        </p:nvSpPr>
        <p:spPr>
          <a:xfrm>
            <a:off x="523874" y="5810250"/>
            <a:ext cx="10953750" cy="619125"/>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Other material before Dharmarakṣa 竺法護</a:t>
            </a:r>
          </a:p>
          <a:p>
            <a:pPr>
              <a:lnSpc>
                <a:spcPct val="118000"/>
              </a:lnSpc>
              <a:spcBef>
                <a:spcPts val="0"/>
              </a:spcBef>
              <a:spcAft>
                <a:spcPts val="0"/>
              </a:spcAft>
              <a:defRPr sz="1800" b="0">
                <a:solidFill>
                  <a:srgbClr val="24384A"/>
                </a:solidFill>
                <a:latin typeface="Lato"/>
              </a:defRPr>
            </a:pPr>
            <a:r>
              <a:rPr>
                <a:ea typeface="Microsoft JhengHei"/>
              </a:rPr>
              <a:t>Material after Lokakṣema 支婁迦讖</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Reference · reading the numbers</a:t>
            </a: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Two score displays, two scales</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11239500" y="6438900"/>
            <a:ext cx="457200" cy="238125"/>
          </a:xfrm>
          <a:prstGeom prst="rect">
            <a:avLst/>
          </a:prstGeom>
          <a:noFill/>
        </p:spPr>
        <p:txBody>
          <a:bodyPr wrap="square" lIns="0" rIns="0" tIns="0" bIns="0">
            <a:spAutoFit/>
          </a:bodyPr>
          <a:lstStyle/>
          <a:p>
            <a:pPr>
              <a:lnSpc>
                <a:spcPct val="118000"/>
              </a:lnSpc>
              <a:spcBef>
                <a:spcPts val="0"/>
              </a:spcBef>
              <a:spcAft>
                <a:spcPts val="0"/>
              </a:spcAft>
              <a:defRPr sz="1200" b="0">
                <a:solidFill>
                  <a:srgbClr val="526778"/>
                </a:solidFill>
                <a:latin typeface="Lato"/>
              </a:defRPr>
            </a:pPr>
            <a:r>
              <a:rPr>
                <a:ea typeface="Microsoft JhengHei"/>
              </a:rPr>
              <a:t>28</a:t>
            </a:r>
          </a:p>
        </p:txBody>
      </p:sp>
      <p:sp>
        <p:nvSpPr>
          <p:cNvPr id="6" name="TextBox 5"/>
          <p:cNvSpPr txBox="1"/>
          <p:nvPr/>
        </p:nvSpPr>
        <p:spPr>
          <a:xfrm>
            <a:off x="523874" y="2295525"/>
            <a:ext cx="4476750" cy="476250"/>
          </a:xfrm>
          <a:prstGeom prst="rect">
            <a:avLst/>
          </a:prstGeom>
          <a:noFill/>
        </p:spPr>
        <p:txBody>
          <a:bodyPr wrap="square" lIns="0" rIns="0" tIns="0" bIns="0">
            <a:spAutoFit/>
          </a:bodyPr>
          <a:lstStyle/>
          <a:p>
            <a:pPr>
              <a:lnSpc>
                <a:spcPct val="118000"/>
              </a:lnSpc>
              <a:spcBef>
                <a:spcPts val="0"/>
              </a:spcBef>
              <a:spcAft>
                <a:spcPts val="0"/>
              </a:spcAft>
              <a:defRPr sz="2900" b="1">
                <a:solidFill>
                  <a:srgbClr val="126B85"/>
                </a:solidFill>
                <a:latin typeface="Lato"/>
              </a:defRPr>
            </a:pPr>
            <a:r>
              <a:rPr>
                <a:ea typeface="Microsoft JhengHei"/>
              </a:rPr>
              <a:t>Full ranking</a:t>
            </a:r>
          </a:p>
        </p:txBody>
      </p:sp>
      <p:sp>
        <p:nvSpPr>
          <p:cNvPr id="7" name="TextBox 6"/>
          <p:cNvSpPr txBox="1"/>
          <p:nvPr/>
        </p:nvSpPr>
        <p:spPr>
          <a:xfrm>
            <a:off x="523874" y="3095625"/>
            <a:ext cx="5048250" cy="1628775"/>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Group score − highest score</a:t>
            </a:r>
          </a:p>
          <a:p>
            <a:pPr>
              <a:lnSpc>
                <a:spcPct val="118000"/>
              </a:lnSpc>
              <a:spcBef>
                <a:spcPts val="0"/>
              </a:spcBef>
              <a:spcAft>
                <a:spcPts val="0"/>
              </a:spcAft>
              <a:defRPr sz="2500" b="0">
                <a:solidFill>
                  <a:srgbClr val="24384A"/>
                </a:solidFill>
                <a:latin typeface="Lato"/>
              </a:defRPr>
            </a:pPr>
          </a:p>
          <a:p>
            <a:pPr>
              <a:lnSpc>
                <a:spcPct val="118000"/>
              </a:lnSpc>
              <a:spcBef>
                <a:spcPts val="0"/>
              </a:spcBef>
              <a:spcAft>
                <a:spcPts val="0"/>
              </a:spcAft>
              <a:defRPr sz="2500" b="0">
                <a:solidFill>
                  <a:srgbClr val="24384A"/>
                </a:solidFill>
                <a:latin typeface="Lato"/>
              </a:defRPr>
            </a:pPr>
            <a:r>
              <a:rPr>
                <a:ea typeface="Microsoft JhengHei"/>
              </a:rPr>
              <a:t>Leader = 0; others are negative</a:t>
            </a:r>
          </a:p>
        </p:txBody>
      </p:sp>
      <p:sp>
        <p:nvSpPr>
          <p:cNvPr id="8" name="TextBox 7"/>
          <p:cNvSpPr txBox="1"/>
          <p:nvPr/>
        </p:nvSpPr>
        <p:spPr>
          <a:xfrm>
            <a:off x="6705600" y="2295525"/>
            <a:ext cx="4857750" cy="476250"/>
          </a:xfrm>
          <a:prstGeom prst="rect">
            <a:avLst/>
          </a:prstGeom>
          <a:noFill/>
        </p:spPr>
        <p:txBody>
          <a:bodyPr wrap="square" lIns="0" rIns="0" tIns="0" bIns="0">
            <a:spAutoFit/>
          </a:bodyPr>
          <a:lstStyle/>
          <a:p>
            <a:pPr>
              <a:lnSpc>
                <a:spcPct val="118000"/>
              </a:lnSpc>
              <a:spcBef>
                <a:spcPts val="0"/>
              </a:spcBef>
              <a:spcAft>
                <a:spcPts val="0"/>
              </a:spcAft>
              <a:defRPr sz="2900" b="1">
                <a:solidFill>
                  <a:srgbClr val="126B85"/>
                </a:solidFill>
                <a:latin typeface="Lato"/>
              </a:defRPr>
            </a:pPr>
            <a:r>
              <a:rPr>
                <a:ea typeface="Microsoft JhengHei"/>
              </a:rPr>
              <a:t>Headline margin</a:t>
            </a:r>
          </a:p>
        </p:txBody>
      </p:sp>
      <p:sp>
        <p:nvSpPr>
          <p:cNvPr id="9" name="TextBox 8"/>
          <p:cNvSpPr txBox="1"/>
          <p:nvPr/>
        </p:nvSpPr>
        <p:spPr>
          <a:xfrm>
            <a:off x="6705600" y="3095625"/>
            <a:ext cx="4857750" cy="1628775"/>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Highest score − next score</a:t>
            </a:r>
          </a:p>
          <a:p>
            <a:pPr>
              <a:lnSpc>
                <a:spcPct val="118000"/>
              </a:lnSpc>
              <a:spcBef>
                <a:spcPts val="0"/>
              </a:spcBef>
              <a:spcAft>
                <a:spcPts val="0"/>
              </a:spcAft>
              <a:defRPr sz="2500" b="0">
                <a:solidFill>
                  <a:srgbClr val="24384A"/>
                </a:solidFill>
                <a:latin typeface="Lato"/>
              </a:defRPr>
            </a:pPr>
            <a:r>
              <a:rPr>
                <a:ea typeface="Microsoft JhengHei"/>
              </a:rPr>
              <a:t>────────────────────</a:t>
            </a:r>
          </a:p>
          <a:p>
            <a:pPr>
              <a:lnSpc>
                <a:spcPct val="118000"/>
              </a:lnSpc>
              <a:spcBef>
                <a:spcPts val="0"/>
              </a:spcBef>
              <a:spcAft>
                <a:spcPts val="0"/>
              </a:spcAft>
              <a:defRPr sz="2500" b="0">
                <a:solidFill>
                  <a:srgbClr val="24384A"/>
                </a:solidFill>
                <a:latin typeface="Lato"/>
              </a:defRPr>
            </a:pPr>
            <a:r>
              <a:rPr>
                <a:ea typeface="Microsoft JhengHei"/>
              </a:rPr>
              <a:t>Distinct matched strings</a:t>
            </a:r>
          </a:p>
        </p:txBody>
      </p:sp>
      <p:sp>
        <p:nvSpPr>
          <p:cNvPr id="10" name="TextBox 9"/>
          <p:cNvSpPr txBox="1"/>
          <p:nvPr/>
        </p:nvSpPr>
        <p:spPr>
          <a:xfrm>
            <a:off x="523874" y="5610225"/>
            <a:ext cx="11049000" cy="552450"/>
          </a:xfrm>
          <a:prstGeom prst="rect">
            <a:avLst/>
          </a:prstGeom>
          <a:noFill/>
        </p:spPr>
        <p:txBody>
          <a:bodyPr wrap="square" lIns="0" rIns="0" tIns="0" bIns="0">
            <a:spAutoFit/>
          </a:bodyPr>
          <a:lstStyle/>
          <a:p>
            <a:pPr>
              <a:lnSpc>
                <a:spcPct val="118000"/>
              </a:lnSpc>
              <a:spcBef>
                <a:spcPts val="0"/>
              </a:spcBef>
              <a:spcAft>
                <a:spcPts val="0"/>
              </a:spcAft>
              <a:defRPr sz="2500" b="0">
                <a:solidFill>
                  <a:srgbClr val="526778"/>
                </a:solidFill>
                <a:latin typeface="Lato"/>
              </a:defRPr>
            </a:pPr>
            <a:r>
              <a:rPr>
                <a:ea typeface="Microsoft JhengHei"/>
              </a:rPr>
              <a:t>Neither display gives a probability that a translator is correct.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Reference · T0453</a:t>
            </a: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Another retrieval and alignment example</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11239500" y="6438900"/>
            <a:ext cx="457200" cy="238125"/>
          </a:xfrm>
          <a:prstGeom prst="rect">
            <a:avLst/>
          </a:prstGeom>
          <a:noFill/>
        </p:spPr>
        <p:txBody>
          <a:bodyPr wrap="square" lIns="0" rIns="0" tIns="0" bIns="0">
            <a:spAutoFit/>
          </a:bodyPr>
          <a:lstStyle/>
          <a:p>
            <a:pPr>
              <a:lnSpc>
                <a:spcPct val="118000"/>
              </a:lnSpc>
              <a:spcBef>
                <a:spcPts val="0"/>
              </a:spcBef>
              <a:spcAft>
                <a:spcPts val="0"/>
              </a:spcAft>
              <a:defRPr sz="1200" b="0">
                <a:solidFill>
                  <a:srgbClr val="526778"/>
                </a:solidFill>
                <a:latin typeface="Lato"/>
              </a:defRPr>
            </a:pPr>
            <a:r>
              <a:rPr>
                <a:ea typeface="Microsoft JhengHei"/>
              </a:rPr>
              <a:t>29</a:t>
            </a:r>
          </a:p>
        </p:txBody>
      </p:sp>
      <p:sp>
        <p:nvSpPr>
          <p:cNvPr id="6" name="TextBox 5"/>
          <p:cNvSpPr txBox="1"/>
          <p:nvPr/>
        </p:nvSpPr>
        <p:spPr>
          <a:xfrm>
            <a:off x="523874" y="2305050"/>
            <a:ext cx="10763250" cy="1114425"/>
          </a:xfrm>
          <a:prstGeom prst="rect">
            <a:avLst/>
          </a:prstGeom>
          <a:noFill/>
        </p:spPr>
        <p:txBody>
          <a:bodyPr wrap="square" lIns="0" rIns="0" tIns="0" bIns="0">
            <a:spAutoFit/>
          </a:bodyPr>
          <a:lstStyle/>
          <a:p>
            <a:pPr>
              <a:lnSpc>
                <a:spcPct val="118000"/>
              </a:lnSpc>
              <a:spcBef>
                <a:spcPts val="0"/>
              </a:spcBef>
              <a:spcAft>
                <a:spcPts val="0"/>
              </a:spcAft>
              <a:defRPr sz="2900" b="1">
                <a:solidFill>
                  <a:srgbClr val="126B85"/>
                </a:solidFill>
                <a:latin typeface="Lato"/>
              </a:defRPr>
            </a:pPr>
            <a:r>
              <a:rPr>
                <a:ea typeface="Microsoft JhengHei"/>
              </a:rPr>
              <a:t>T0453 · Maitreya’s descent</a:t>
            </a:r>
          </a:p>
          <a:p>
            <a:pPr>
              <a:lnSpc>
                <a:spcPct val="118000"/>
              </a:lnSpc>
              <a:spcBef>
                <a:spcPts val="0"/>
              </a:spcBef>
              <a:spcAft>
                <a:spcPts val="0"/>
              </a:spcAft>
              <a:defRPr sz="2900" b="1">
                <a:solidFill>
                  <a:srgbClr val="126B85"/>
                </a:solidFill>
                <a:latin typeface="Lato"/>
              </a:defRPr>
            </a:pPr>
            <a:r>
              <a:rPr>
                <a:ea typeface="Microsoft JhengHei"/>
              </a:rPr>
              <a:t>彌勒下生經</a:t>
            </a:r>
          </a:p>
        </p:txBody>
      </p:sp>
      <p:sp>
        <p:nvSpPr>
          <p:cNvPr id="7" name="TextBox 6"/>
          <p:cNvSpPr txBox="1"/>
          <p:nvPr/>
        </p:nvSpPr>
        <p:spPr>
          <a:xfrm>
            <a:off x="523874" y="3886200"/>
            <a:ext cx="10763250" cy="1114425"/>
          </a:xfrm>
          <a:prstGeom prst="rect">
            <a:avLst/>
          </a:prstGeom>
          <a:noFill/>
        </p:spPr>
        <p:txBody>
          <a:bodyPr wrap="square" lIns="0" rIns="0" tIns="0" bIns="0">
            <a:spAutoFit/>
          </a:bodyPr>
          <a:lstStyle/>
          <a:p>
            <a:pPr>
              <a:lnSpc>
                <a:spcPct val="118000"/>
              </a:lnSpc>
              <a:spcBef>
                <a:spcPts val="0"/>
              </a:spcBef>
              <a:spcAft>
                <a:spcPts val="0"/>
              </a:spcAft>
              <a:defRPr sz="2800" b="0">
                <a:solidFill>
                  <a:srgbClr val="24384A"/>
                </a:solidFill>
                <a:latin typeface="Lato"/>
              </a:defRPr>
            </a:pPr>
            <a:r>
              <a:rPr>
                <a:ea typeface="Microsoft JhengHei"/>
              </a:rPr>
              <a:t>Known parallel in the Ekottarikāgama</a:t>
            </a:r>
          </a:p>
          <a:p>
            <a:pPr>
              <a:lnSpc>
                <a:spcPct val="118000"/>
              </a:lnSpc>
              <a:spcBef>
                <a:spcPts val="0"/>
              </a:spcBef>
              <a:spcAft>
                <a:spcPts val="0"/>
              </a:spcAft>
              <a:defRPr sz="2800" b="0">
                <a:solidFill>
                  <a:srgbClr val="24384A"/>
                </a:solidFill>
                <a:latin typeface="Lato"/>
              </a:defRPr>
            </a:pPr>
            <a:r>
              <a:rPr>
                <a:ea typeface="Microsoft JhengHei"/>
              </a:rPr>
              <a:t>增壹阿含經 · T0125, section 48.3</a:t>
            </a:r>
          </a:p>
        </p:txBody>
      </p:sp>
      <p:sp>
        <p:nvSpPr>
          <p:cNvPr id="8" name="TextBox 7"/>
          <p:cNvSpPr txBox="1"/>
          <p:nvPr/>
        </p:nvSpPr>
        <p:spPr>
          <a:xfrm>
            <a:off x="523874" y="5610225"/>
            <a:ext cx="10953750" cy="571500"/>
          </a:xfrm>
          <a:prstGeom prst="rect">
            <a:avLst/>
          </a:prstGeom>
          <a:noFill/>
        </p:spPr>
        <p:txBody>
          <a:bodyPr wrap="square" lIns="0" rIns="0" tIns="0" bIns="0">
            <a:spAutoFit/>
          </a:bodyPr>
          <a:lstStyle/>
          <a:p>
            <a:pPr>
              <a:lnSpc>
                <a:spcPct val="118000"/>
              </a:lnSpc>
              <a:spcBef>
                <a:spcPts val="0"/>
              </a:spcBef>
              <a:spcAft>
                <a:spcPts val="0"/>
              </a:spcAft>
              <a:defRPr sz="2300" b="0">
                <a:solidFill>
                  <a:srgbClr val="526778"/>
                </a:solidFill>
                <a:latin typeface="Lato"/>
              </a:defRPr>
            </a:pPr>
            <a:r>
              <a:rPr>
                <a:ea typeface="Microsoft JhengHei"/>
              </a:rPr>
              <a:t>Use the located parallel to inspect what retrieval and alignment return.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Reference · development review</a:t>
            </a: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Q3: disputed Paramārtha ascriptions</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11239500" y="6438900"/>
            <a:ext cx="457200" cy="238125"/>
          </a:xfrm>
          <a:prstGeom prst="rect">
            <a:avLst/>
          </a:prstGeom>
          <a:noFill/>
        </p:spPr>
        <p:txBody>
          <a:bodyPr wrap="square" lIns="0" rIns="0" tIns="0" bIns="0">
            <a:spAutoFit/>
          </a:bodyPr>
          <a:lstStyle/>
          <a:p>
            <a:pPr>
              <a:lnSpc>
                <a:spcPct val="118000"/>
              </a:lnSpc>
              <a:spcBef>
                <a:spcPts val="0"/>
              </a:spcBef>
              <a:spcAft>
                <a:spcPts val="0"/>
              </a:spcAft>
              <a:defRPr sz="1200" b="0">
                <a:solidFill>
                  <a:srgbClr val="526778"/>
                </a:solidFill>
                <a:latin typeface="Lato"/>
              </a:defRPr>
            </a:pPr>
            <a:r>
              <a:rPr>
                <a:ea typeface="Microsoft JhengHei"/>
              </a:rPr>
              <a:t>30</a:t>
            </a:r>
          </a:p>
        </p:txBody>
      </p:sp>
      <p:sp>
        <p:nvSpPr>
          <p:cNvPr id="6" name="TextBox 5"/>
          <p:cNvSpPr txBox="1"/>
          <p:nvPr/>
        </p:nvSpPr>
        <p:spPr>
          <a:xfrm>
            <a:off x="523874" y="2114550"/>
            <a:ext cx="10953750" cy="1238250"/>
          </a:xfrm>
          <a:prstGeom prst="rect">
            <a:avLst/>
          </a:prstGeom>
          <a:noFill/>
        </p:spPr>
        <p:txBody>
          <a:bodyPr wrap="square" lIns="0" rIns="0" tIns="0" bIns="0">
            <a:spAutoFit/>
          </a:bodyPr>
          <a:lstStyle/>
          <a:p>
            <a:pPr>
              <a:lnSpc>
                <a:spcPct val="118000"/>
              </a:lnSpc>
              <a:spcBef>
                <a:spcPts val="0"/>
              </a:spcBef>
              <a:spcAft>
                <a:spcPts val="0"/>
              </a:spcAft>
              <a:defRPr sz="2900" b="1">
                <a:solidFill>
                  <a:srgbClr val="126B85"/>
                </a:solidFill>
                <a:latin typeface="Lato"/>
              </a:defRPr>
            </a:pPr>
            <a:r>
              <a:rPr>
                <a:ea typeface="Microsoft JhengHei"/>
              </a:rPr>
              <a:t>Do disputed texts resemble Paramārtha’s accepted translations or other textual traditions?</a:t>
            </a:r>
          </a:p>
        </p:txBody>
      </p:sp>
      <p:sp>
        <p:nvSpPr>
          <p:cNvPr id="7" name="TextBox 6"/>
          <p:cNvSpPr txBox="1"/>
          <p:nvPr/>
        </p:nvSpPr>
        <p:spPr>
          <a:xfrm>
            <a:off x="523874" y="3914775"/>
            <a:ext cx="10858500" cy="1323975"/>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Compare candidate features against benchmark and control works.</a:t>
            </a:r>
          </a:p>
          <a:p>
            <a:pPr>
              <a:lnSpc>
                <a:spcPct val="118000"/>
              </a:lnSpc>
              <a:spcBef>
                <a:spcPts val="0"/>
              </a:spcBef>
              <a:spcAft>
                <a:spcPts val="0"/>
              </a:spcAft>
              <a:defRPr sz="2500" b="0">
                <a:solidFill>
                  <a:srgbClr val="24384A"/>
                </a:solidFill>
                <a:latin typeface="Lato"/>
              </a:defRPr>
            </a:pPr>
            <a:r>
              <a:rPr>
                <a:ea typeface="Microsoft JhengHei"/>
              </a:rPr>
              <a:t>Inspect whether reuse, genre or revision explains the resemblance.</a:t>
            </a:r>
          </a:p>
        </p:txBody>
      </p:sp>
      <p:sp>
        <p:nvSpPr>
          <p:cNvPr id="8" name="TextBox 7"/>
          <p:cNvSpPr txBox="1"/>
          <p:nvPr/>
        </p:nvSpPr>
        <p:spPr>
          <a:xfrm>
            <a:off x="523874" y="5743575"/>
            <a:ext cx="10858500" cy="571500"/>
          </a:xfrm>
          <a:prstGeom prst="rect">
            <a:avLst/>
          </a:prstGeom>
          <a:noFill/>
        </p:spPr>
        <p:txBody>
          <a:bodyPr wrap="square" lIns="0" rIns="0" tIns="0" bIns="0">
            <a:spAutoFit/>
          </a:bodyPr>
          <a:lstStyle/>
          <a:p>
            <a:pPr>
              <a:lnSpc>
                <a:spcPct val="118000"/>
              </a:lnSpc>
              <a:spcBef>
                <a:spcPts val="0"/>
              </a:spcBef>
              <a:spcAft>
                <a:spcPts val="0"/>
              </a:spcAft>
              <a:defRPr sz="2200" b="0">
                <a:solidFill>
                  <a:srgbClr val="526778"/>
                </a:solidFill>
                <a:latin typeface="Lato"/>
              </a:defRPr>
            </a:pPr>
            <a:r>
              <a:rPr>
                <a:ea typeface="Microsoft JhengHei"/>
              </a:rPr>
              <a:t>Separate development branches; results and historical explanations still need review.</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Reference · historical orientation</a:t>
            </a: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The names used in the T0603 comparison</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11239500" y="6438900"/>
            <a:ext cx="457200" cy="238125"/>
          </a:xfrm>
          <a:prstGeom prst="rect">
            <a:avLst/>
          </a:prstGeom>
          <a:noFill/>
        </p:spPr>
        <p:txBody>
          <a:bodyPr wrap="square" lIns="0" rIns="0" tIns="0" bIns="0">
            <a:spAutoFit/>
          </a:bodyPr>
          <a:lstStyle/>
          <a:p>
            <a:pPr>
              <a:lnSpc>
                <a:spcPct val="118000"/>
              </a:lnSpc>
              <a:spcBef>
                <a:spcPts val="0"/>
              </a:spcBef>
              <a:spcAft>
                <a:spcPts val="0"/>
              </a:spcAft>
              <a:defRPr sz="1200" b="0">
                <a:solidFill>
                  <a:srgbClr val="526778"/>
                </a:solidFill>
                <a:latin typeface="Lato"/>
              </a:defRPr>
            </a:pPr>
            <a:r>
              <a:rPr>
                <a:ea typeface="Microsoft JhengHei"/>
              </a:rPr>
              <a:t>31</a:t>
            </a:r>
          </a:p>
        </p:txBody>
      </p:sp>
      <p:sp>
        <p:nvSpPr>
          <p:cNvPr id="6" name="TextBox 5"/>
          <p:cNvSpPr txBox="1"/>
          <p:nvPr/>
        </p:nvSpPr>
        <p:spPr>
          <a:xfrm>
            <a:off x="523874" y="2266950"/>
            <a:ext cx="3476625" cy="1028700"/>
          </a:xfrm>
          <a:prstGeom prst="rect">
            <a:avLst/>
          </a:prstGeom>
          <a:noFill/>
        </p:spPr>
        <p:txBody>
          <a:bodyPr wrap="square" lIns="0" rIns="0" tIns="0" bIns="0">
            <a:spAutoFit/>
          </a:bodyPr>
          <a:lstStyle/>
          <a:p>
            <a:pPr>
              <a:lnSpc>
                <a:spcPct val="118000"/>
              </a:lnSpc>
              <a:spcBef>
                <a:spcPts val="0"/>
              </a:spcBef>
              <a:spcAft>
                <a:spcPts val="0"/>
              </a:spcAft>
              <a:defRPr sz="2300" b="1">
                <a:solidFill>
                  <a:srgbClr val="126B85"/>
                </a:solidFill>
                <a:latin typeface="Lato"/>
              </a:defRPr>
            </a:pPr>
            <a:r>
              <a:rPr>
                <a:ea typeface="Microsoft JhengHei"/>
              </a:rPr>
              <a:t>An Shigao 安世高</a:t>
            </a:r>
          </a:p>
        </p:txBody>
      </p:sp>
      <p:sp>
        <p:nvSpPr>
          <p:cNvPr id="7" name="TextBox 6"/>
          <p:cNvSpPr txBox="1"/>
          <p:nvPr/>
        </p:nvSpPr>
        <p:spPr>
          <a:xfrm>
            <a:off x="4333875" y="2266950"/>
            <a:ext cx="7096125" cy="10287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Second century CE; T0603 is traditionally associated with him</a:t>
            </a:r>
          </a:p>
        </p:txBody>
      </p:sp>
      <p:sp>
        <p:nvSpPr>
          <p:cNvPr id="8" name="TextBox 7"/>
          <p:cNvSpPr txBox="1"/>
          <p:nvPr/>
        </p:nvSpPr>
        <p:spPr>
          <a:xfrm>
            <a:off x="523874" y="3438525"/>
            <a:ext cx="3476625" cy="1028700"/>
          </a:xfrm>
          <a:prstGeom prst="rect">
            <a:avLst/>
          </a:prstGeom>
          <a:noFill/>
        </p:spPr>
        <p:txBody>
          <a:bodyPr wrap="square" lIns="0" rIns="0" tIns="0" bIns="0">
            <a:spAutoFit/>
          </a:bodyPr>
          <a:lstStyle/>
          <a:p>
            <a:pPr>
              <a:lnSpc>
                <a:spcPct val="118000"/>
              </a:lnSpc>
              <a:spcBef>
                <a:spcPts val="0"/>
              </a:spcBef>
              <a:spcAft>
                <a:spcPts val="0"/>
              </a:spcAft>
              <a:defRPr sz="2300" b="1">
                <a:solidFill>
                  <a:srgbClr val="126B85"/>
                </a:solidFill>
                <a:latin typeface="Lato"/>
              </a:defRPr>
            </a:pPr>
            <a:r>
              <a:rPr>
                <a:ea typeface="Microsoft JhengHei"/>
              </a:rPr>
              <a:t>Dharmarakṣa 竺法護</a:t>
            </a:r>
          </a:p>
        </p:txBody>
      </p:sp>
      <p:sp>
        <p:nvSpPr>
          <p:cNvPr id="9" name="TextBox 8"/>
          <p:cNvSpPr txBox="1"/>
          <p:nvPr/>
        </p:nvSpPr>
        <p:spPr>
          <a:xfrm>
            <a:off x="4333875" y="3438525"/>
            <a:ext cx="7096125" cy="10287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Late third / early fourth centuries CE; a later reference point</a:t>
            </a:r>
          </a:p>
        </p:txBody>
      </p:sp>
      <p:sp>
        <p:nvSpPr>
          <p:cNvPr id="10" name="TextBox 9"/>
          <p:cNvSpPr txBox="1"/>
          <p:nvPr/>
        </p:nvSpPr>
        <p:spPr>
          <a:xfrm>
            <a:off x="523874" y="4610100"/>
            <a:ext cx="3476625" cy="1028700"/>
          </a:xfrm>
          <a:prstGeom prst="rect">
            <a:avLst/>
          </a:prstGeom>
          <a:noFill/>
        </p:spPr>
        <p:txBody>
          <a:bodyPr wrap="square" lIns="0" rIns="0" tIns="0" bIns="0">
            <a:spAutoFit/>
          </a:bodyPr>
          <a:lstStyle/>
          <a:p>
            <a:pPr>
              <a:lnSpc>
                <a:spcPct val="118000"/>
              </a:lnSpc>
              <a:spcBef>
                <a:spcPts val="0"/>
              </a:spcBef>
              <a:spcAft>
                <a:spcPts val="0"/>
              </a:spcAft>
              <a:defRPr sz="2300" b="1">
                <a:solidFill>
                  <a:srgbClr val="126B85"/>
                </a:solidFill>
                <a:latin typeface="Lato"/>
              </a:defRPr>
            </a:pPr>
            <a:r>
              <a:rPr>
                <a:ea typeface="Microsoft JhengHei"/>
              </a:rPr>
              <a:t>T1694 · 陰持入經註</a:t>
            </a:r>
          </a:p>
        </p:txBody>
      </p:sp>
      <p:sp>
        <p:nvSpPr>
          <p:cNvPr id="11" name="TextBox 10"/>
          <p:cNvSpPr txBox="1"/>
          <p:nvPr/>
        </p:nvSpPr>
        <p:spPr>
          <a:xfrm>
            <a:off x="4333875" y="4610100"/>
            <a:ext cx="7096125" cy="10287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Commentary on T0603; assigned to the mixed pre-Dharmarakṣa group</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Reference · research activities</a:t>
            </a: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The research activities and their controls</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11239500" y="6438900"/>
            <a:ext cx="457200" cy="238125"/>
          </a:xfrm>
          <a:prstGeom prst="rect">
            <a:avLst/>
          </a:prstGeom>
          <a:noFill/>
        </p:spPr>
        <p:txBody>
          <a:bodyPr wrap="square" lIns="0" rIns="0" tIns="0" bIns="0">
            <a:spAutoFit/>
          </a:bodyPr>
          <a:lstStyle/>
          <a:p>
            <a:pPr>
              <a:lnSpc>
                <a:spcPct val="118000"/>
              </a:lnSpc>
              <a:spcBef>
                <a:spcPts val="0"/>
              </a:spcBef>
              <a:spcAft>
                <a:spcPts val="0"/>
              </a:spcAft>
              <a:defRPr sz="1200" b="0">
                <a:solidFill>
                  <a:srgbClr val="526778"/>
                </a:solidFill>
                <a:latin typeface="Lato"/>
              </a:defRPr>
            </a:pPr>
            <a:r>
              <a:rPr>
                <a:ea typeface="Microsoft JhengHei"/>
              </a:rPr>
              <a:t>32</a:t>
            </a:r>
          </a:p>
        </p:txBody>
      </p:sp>
      <p:sp>
        <p:nvSpPr>
          <p:cNvPr id="6" name="TextBox 5"/>
          <p:cNvSpPr txBox="1"/>
          <p:nvPr/>
        </p:nvSpPr>
        <p:spPr>
          <a:xfrm>
            <a:off x="523874" y="1981199"/>
            <a:ext cx="3143250" cy="685800"/>
          </a:xfrm>
          <a:prstGeom prst="rect">
            <a:avLst/>
          </a:prstGeom>
          <a:noFill/>
        </p:spPr>
        <p:txBody>
          <a:bodyPr wrap="square" lIns="0" rIns="0" tIns="0" bIns="0">
            <a:spAutoFit/>
          </a:bodyPr>
          <a:lstStyle/>
          <a:p>
            <a:pPr>
              <a:lnSpc>
                <a:spcPct val="118000"/>
              </a:lnSpc>
              <a:spcBef>
                <a:spcPts val="0"/>
              </a:spcBef>
              <a:spcAft>
                <a:spcPts val="0"/>
              </a:spcAft>
              <a:defRPr sz="2300" b="1">
                <a:solidFill>
                  <a:srgbClr val="126B85"/>
                </a:solidFill>
                <a:latin typeface="Lato"/>
              </a:defRPr>
            </a:pPr>
            <a:r>
              <a:rPr>
                <a:ea typeface="Microsoft JhengHei"/>
              </a:rPr>
              <a:t>Corpus retrieval</a:t>
            </a:r>
          </a:p>
        </p:txBody>
      </p:sp>
      <p:sp>
        <p:nvSpPr>
          <p:cNvPr id="7" name="TextBox 6"/>
          <p:cNvSpPr txBox="1"/>
          <p:nvPr/>
        </p:nvSpPr>
        <p:spPr>
          <a:xfrm>
            <a:off x="4000500" y="1981199"/>
            <a:ext cx="7667624" cy="6858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Corpus search and agent retrieval tools</a:t>
            </a:r>
          </a:p>
        </p:txBody>
      </p:sp>
      <p:sp>
        <p:nvSpPr>
          <p:cNvPr id="8" name="TextBox 7"/>
          <p:cNvSpPr txBox="1"/>
          <p:nvPr/>
        </p:nvSpPr>
        <p:spPr>
          <a:xfrm>
            <a:off x="523874" y="2781300"/>
            <a:ext cx="3143250" cy="685800"/>
          </a:xfrm>
          <a:prstGeom prst="rect">
            <a:avLst/>
          </a:prstGeom>
          <a:noFill/>
        </p:spPr>
        <p:txBody>
          <a:bodyPr wrap="square" lIns="0" rIns="0" tIns="0" bIns="0">
            <a:spAutoFit/>
          </a:bodyPr>
          <a:lstStyle/>
          <a:p>
            <a:pPr>
              <a:lnSpc>
                <a:spcPct val="118000"/>
              </a:lnSpc>
              <a:spcBef>
                <a:spcPts val="0"/>
              </a:spcBef>
              <a:spcAft>
                <a:spcPts val="0"/>
              </a:spcAft>
              <a:defRPr sz="2300" b="1">
                <a:solidFill>
                  <a:srgbClr val="126B85"/>
                </a:solidFill>
                <a:latin typeface="Lato"/>
              </a:defRPr>
            </a:pPr>
            <a:r>
              <a:rPr>
                <a:ea typeface="Microsoft JhengHei"/>
              </a:rPr>
              <a:t>Semantic analysis</a:t>
            </a:r>
          </a:p>
        </p:txBody>
      </p:sp>
      <p:sp>
        <p:nvSpPr>
          <p:cNvPr id="9" name="TextBox 8"/>
          <p:cNvSpPr txBox="1"/>
          <p:nvPr/>
        </p:nvSpPr>
        <p:spPr>
          <a:xfrm>
            <a:off x="4000500" y="2781300"/>
            <a:ext cx="7667624" cy="6858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Semantic neighbours and wording comparisons</a:t>
            </a:r>
          </a:p>
        </p:txBody>
      </p:sp>
      <p:sp>
        <p:nvSpPr>
          <p:cNvPr id="10" name="TextBox 9"/>
          <p:cNvSpPr txBox="1"/>
          <p:nvPr/>
        </p:nvSpPr>
        <p:spPr>
          <a:xfrm>
            <a:off x="523874" y="3581400"/>
            <a:ext cx="3143250" cy="685800"/>
          </a:xfrm>
          <a:prstGeom prst="rect">
            <a:avLst/>
          </a:prstGeom>
          <a:noFill/>
        </p:spPr>
        <p:txBody>
          <a:bodyPr wrap="square" lIns="0" rIns="0" tIns="0" bIns="0">
            <a:spAutoFit/>
          </a:bodyPr>
          <a:lstStyle/>
          <a:p>
            <a:pPr>
              <a:lnSpc>
                <a:spcPct val="118000"/>
              </a:lnSpc>
              <a:spcBef>
                <a:spcPts val="0"/>
              </a:spcBef>
              <a:spcAft>
                <a:spcPts val="0"/>
              </a:spcAft>
              <a:defRPr sz="2300" b="1">
                <a:solidFill>
                  <a:srgbClr val="126B85"/>
                </a:solidFill>
                <a:latin typeface="Lato"/>
              </a:defRPr>
            </a:pPr>
            <a:r>
              <a:rPr>
                <a:ea typeface="Microsoft JhengHei"/>
              </a:rPr>
              <a:t>Alignment</a:t>
            </a:r>
          </a:p>
        </p:txBody>
      </p:sp>
      <p:sp>
        <p:nvSpPr>
          <p:cNvPr id="11" name="TextBox 10"/>
          <p:cNvSpPr txBox="1"/>
          <p:nvPr/>
        </p:nvSpPr>
        <p:spPr>
          <a:xfrm>
            <a:off x="4000500" y="3581400"/>
            <a:ext cx="7667624" cy="6858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Shared passages with source positions</a:t>
            </a:r>
          </a:p>
        </p:txBody>
      </p:sp>
      <p:sp>
        <p:nvSpPr>
          <p:cNvPr id="12" name="TextBox 11"/>
          <p:cNvSpPr txBox="1"/>
          <p:nvPr/>
        </p:nvSpPr>
        <p:spPr>
          <a:xfrm>
            <a:off x="523874" y="4381500"/>
            <a:ext cx="3143250" cy="685800"/>
          </a:xfrm>
          <a:prstGeom prst="rect">
            <a:avLst/>
          </a:prstGeom>
          <a:noFill/>
        </p:spPr>
        <p:txBody>
          <a:bodyPr wrap="square" lIns="0" rIns="0" tIns="0" bIns="0">
            <a:spAutoFit/>
          </a:bodyPr>
          <a:lstStyle/>
          <a:p>
            <a:pPr>
              <a:lnSpc>
                <a:spcPct val="118000"/>
              </a:lnSpc>
              <a:spcBef>
                <a:spcPts val="0"/>
              </a:spcBef>
              <a:spcAft>
                <a:spcPts val="0"/>
              </a:spcAft>
              <a:defRPr sz="2300" b="1">
                <a:solidFill>
                  <a:srgbClr val="126B85"/>
                </a:solidFill>
                <a:latin typeface="Lato"/>
              </a:defRPr>
            </a:pPr>
            <a:r>
              <a:rPr>
                <a:ea typeface="Microsoft JhengHei"/>
              </a:rPr>
              <a:t>Interpretation</a:t>
            </a:r>
          </a:p>
        </p:txBody>
      </p:sp>
      <p:sp>
        <p:nvSpPr>
          <p:cNvPr id="13" name="TextBox 12"/>
          <p:cNvSpPr txBox="1"/>
          <p:nvPr/>
        </p:nvSpPr>
        <p:spPr>
          <a:xfrm>
            <a:off x="4000500" y="4381500"/>
            <a:ext cx="7667624" cy="6858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Proposals in Findings; read-only AI analysis</a:t>
            </a:r>
          </a:p>
        </p:txBody>
      </p:sp>
      <p:sp>
        <p:nvSpPr>
          <p:cNvPr id="14" name="TextBox 13"/>
          <p:cNvSpPr txBox="1"/>
          <p:nvPr/>
        </p:nvSpPr>
        <p:spPr>
          <a:xfrm>
            <a:off x="523874" y="5181600"/>
            <a:ext cx="3143250" cy="685800"/>
          </a:xfrm>
          <a:prstGeom prst="rect">
            <a:avLst/>
          </a:prstGeom>
          <a:noFill/>
        </p:spPr>
        <p:txBody>
          <a:bodyPr wrap="square" lIns="0" rIns="0" tIns="0" bIns="0">
            <a:spAutoFit/>
          </a:bodyPr>
          <a:lstStyle/>
          <a:p>
            <a:pPr>
              <a:lnSpc>
                <a:spcPct val="118000"/>
              </a:lnSpc>
              <a:spcBef>
                <a:spcPts val="0"/>
              </a:spcBef>
              <a:spcAft>
                <a:spcPts val="0"/>
              </a:spcAft>
              <a:defRPr sz="2300" b="1">
                <a:solidFill>
                  <a:srgbClr val="126B85"/>
                </a:solidFill>
                <a:latin typeface="Lato"/>
              </a:defRPr>
            </a:pPr>
            <a:r>
              <a:rPr>
                <a:ea typeface="Microsoft JhengHei"/>
              </a:rPr>
              <a:t>Provenance and decisions</a:t>
            </a:r>
          </a:p>
        </p:txBody>
      </p:sp>
      <p:sp>
        <p:nvSpPr>
          <p:cNvPr id="15" name="TextBox 14"/>
          <p:cNvSpPr txBox="1"/>
          <p:nvPr/>
        </p:nvSpPr>
        <p:spPr>
          <a:xfrm>
            <a:off x="4000500" y="5181600"/>
            <a:ext cx="7667624" cy="6858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Graph records, checks and researcher actions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Technical reference</a:t>
            </a: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How each tab works</a:t>
            </a:r>
          </a:p>
        </p:txBody>
      </p:sp>
      <p:sp>
        <p:nvSpPr>
          <p:cNvPr id="4" name="TextBox 3"/>
          <p:cNvSpPr txBox="1"/>
          <p:nvPr/>
        </p:nvSpPr>
        <p:spPr>
          <a:xfrm>
            <a:off x="523874" y="1981199"/>
            <a:ext cx="3238500" cy="723900"/>
          </a:xfrm>
          <a:prstGeom prst="rect">
            <a:avLst/>
          </a:prstGeom>
          <a:noFill/>
        </p:spPr>
        <p:txBody>
          <a:bodyPr wrap="square" lIns="0" rIns="0" tIns="0" bIns="0">
            <a:spAutoFit/>
          </a:bodyPr>
          <a:lstStyle/>
          <a:p>
            <a:pPr>
              <a:lnSpc>
                <a:spcPct val="118000"/>
              </a:lnSpc>
              <a:spcBef>
                <a:spcPts val="0"/>
              </a:spcBef>
              <a:spcAft>
                <a:spcPts val="0"/>
              </a:spcAft>
              <a:defRPr sz="2200" b="1">
                <a:solidFill>
                  <a:srgbClr val="126B85"/>
                </a:solidFill>
                <a:latin typeface="Lato"/>
              </a:defRPr>
            </a:pPr>
            <a:r>
              <a:rPr>
                <a:ea typeface="Microsoft JhengHei"/>
              </a:rPr>
              <a:t>Corpus</a:t>
            </a:r>
          </a:p>
        </p:txBody>
      </p:sp>
      <p:sp>
        <p:nvSpPr>
          <p:cNvPr id="5" name="TextBox 4"/>
          <p:cNvSpPr txBox="1"/>
          <p:nvPr/>
        </p:nvSpPr>
        <p:spPr>
          <a:xfrm>
            <a:off x="4000500" y="1981199"/>
            <a:ext cx="7667624" cy="723900"/>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Exact search, stored-vector retrieval and shared wording.</a:t>
            </a:r>
          </a:p>
        </p:txBody>
      </p:sp>
      <p:sp>
        <p:nvSpPr>
          <p:cNvPr id="6" name="TextBox 5"/>
          <p:cNvSpPr txBox="1"/>
          <p:nvPr/>
        </p:nvSpPr>
        <p:spPr>
          <a:xfrm>
            <a:off x="523874" y="2781300"/>
            <a:ext cx="3238500" cy="723900"/>
          </a:xfrm>
          <a:prstGeom prst="rect">
            <a:avLst/>
          </a:prstGeom>
          <a:noFill/>
        </p:spPr>
        <p:txBody>
          <a:bodyPr wrap="square" lIns="0" rIns="0" tIns="0" bIns="0">
            <a:spAutoFit/>
          </a:bodyPr>
          <a:lstStyle/>
          <a:p>
            <a:pPr>
              <a:lnSpc>
                <a:spcPct val="118000"/>
              </a:lnSpc>
              <a:spcBef>
                <a:spcPts val="0"/>
              </a:spcBef>
              <a:spcAft>
                <a:spcPts val="0"/>
              </a:spcAft>
              <a:defRPr sz="2200" b="1">
                <a:solidFill>
                  <a:srgbClr val="126B85"/>
                </a:solidFill>
                <a:latin typeface="Lato"/>
              </a:defRPr>
            </a:pPr>
            <a:r>
              <a:rPr>
                <a:ea typeface="Microsoft JhengHei"/>
              </a:rPr>
              <a:t>Vocabulary comparison</a:t>
            </a:r>
          </a:p>
        </p:txBody>
      </p:sp>
      <p:sp>
        <p:nvSpPr>
          <p:cNvPr id="7" name="TextBox 6"/>
          <p:cNvSpPr txBox="1"/>
          <p:nvPr/>
        </p:nvSpPr>
        <p:spPr>
          <a:xfrm>
            <a:off x="4000500" y="2781300"/>
            <a:ext cx="7667624" cy="723900"/>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String counts scored against catalogue-labelled groups.</a:t>
            </a:r>
          </a:p>
        </p:txBody>
      </p:sp>
      <p:sp>
        <p:nvSpPr>
          <p:cNvPr id="8" name="TextBox 7"/>
          <p:cNvSpPr txBox="1"/>
          <p:nvPr/>
        </p:nvSpPr>
        <p:spPr>
          <a:xfrm>
            <a:off x="523874" y="3581400"/>
            <a:ext cx="3238500" cy="723900"/>
          </a:xfrm>
          <a:prstGeom prst="rect">
            <a:avLst/>
          </a:prstGeom>
          <a:noFill/>
        </p:spPr>
        <p:txBody>
          <a:bodyPr wrap="square" lIns="0" rIns="0" tIns="0" bIns="0">
            <a:spAutoFit/>
          </a:bodyPr>
          <a:lstStyle/>
          <a:p>
            <a:pPr>
              <a:lnSpc>
                <a:spcPct val="118000"/>
              </a:lnSpc>
              <a:spcBef>
                <a:spcPts val="0"/>
              </a:spcBef>
              <a:spcAft>
                <a:spcPts val="0"/>
              </a:spcAft>
              <a:defRPr sz="2200" b="1">
                <a:solidFill>
                  <a:srgbClr val="126B85"/>
                </a:solidFill>
                <a:latin typeface="Lato"/>
              </a:defRPr>
            </a:pPr>
            <a:r>
              <a:rPr>
                <a:ea typeface="Microsoft JhengHei"/>
              </a:rPr>
              <a:t>Inquiry</a:t>
            </a:r>
          </a:p>
        </p:txBody>
      </p:sp>
      <p:sp>
        <p:nvSpPr>
          <p:cNvPr id="9" name="TextBox 8"/>
          <p:cNvSpPr txBox="1"/>
          <p:nvPr/>
        </p:nvSpPr>
        <p:spPr>
          <a:xfrm>
            <a:off x="4000500" y="3581400"/>
            <a:ext cx="7667624" cy="723900"/>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A worker calls tools; a separate reviewer checks proposals.</a:t>
            </a:r>
          </a:p>
        </p:txBody>
      </p:sp>
      <p:sp>
        <p:nvSpPr>
          <p:cNvPr id="10" name="TextBox 9"/>
          <p:cNvSpPr txBox="1"/>
          <p:nvPr/>
        </p:nvSpPr>
        <p:spPr>
          <a:xfrm>
            <a:off x="523874" y="4381500"/>
            <a:ext cx="3238500" cy="723900"/>
          </a:xfrm>
          <a:prstGeom prst="rect">
            <a:avLst/>
          </a:prstGeom>
          <a:noFill/>
        </p:spPr>
        <p:txBody>
          <a:bodyPr wrap="square" lIns="0" rIns="0" tIns="0" bIns="0">
            <a:spAutoFit/>
          </a:bodyPr>
          <a:lstStyle/>
          <a:p>
            <a:pPr>
              <a:lnSpc>
                <a:spcPct val="118000"/>
              </a:lnSpc>
              <a:spcBef>
                <a:spcPts val="0"/>
              </a:spcBef>
              <a:spcAft>
                <a:spcPts val="0"/>
              </a:spcAft>
              <a:defRPr sz="2200" b="1">
                <a:solidFill>
                  <a:srgbClr val="126B85"/>
                </a:solidFill>
                <a:latin typeface="Lato"/>
              </a:defRPr>
            </a:pPr>
            <a:r>
              <a:rPr>
                <a:ea typeface="Microsoft JhengHei"/>
              </a:rPr>
              <a:t>Findings</a:t>
            </a:r>
          </a:p>
        </p:txBody>
      </p:sp>
      <p:sp>
        <p:nvSpPr>
          <p:cNvPr id="11" name="TextBox 10"/>
          <p:cNvSpPr txBox="1"/>
          <p:nvPr/>
        </p:nvSpPr>
        <p:spPr>
          <a:xfrm>
            <a:off x="4000500" y="4381500"/>
            <a:ext cx="7667624" cy="723900"/>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Read saved proposals, citations and checks.</a:t>
            </a:r>
          </a:p>
        </p:txBody>
      </p:sp>
      <p:sp>
        <p:nvSpPr>
          <p:cNvPr id="12" name="TextBox 11"/>
          <p:cNvSpPr txBox="1"/>
          <p:nvPr/>
        </p:nvSpPr>
        <p:spPr>
          <a:xfrm>
            <a:off x="523874" y="5181600"/>
            <a:ext cx="3238500" cy="723900"/>
          </a:xfrm>
          <a:prstGeom prst="rect">
            <a:avLst/>
          </a:prstGeom>
          <a:noFill/>
        </p:spPr>
        <p:txBody>
          <a:bodyPr wrap="square" lIns="0" rIns="0" tIns="0" bIns="0">
            <a:spAutoFit/>
          </a:bodyPr>
          <a:lstStyle/>
          <a:p>
            <a:pPr>
              <a:lnSpc>
                <a:spcPct val="118000"/>
              </a:lnSpc>
              <a:spcBef>
                <a:spcPts val="0"/>
              </a:spcBef>
              <a:spcAft>
                <a:spcPts val="0"/>
              </a:spcAft>
              <a:defRPr sz="2200" b="1">
                <a:solidFill>
                  <a:srgbClr val="126B85"/>
                </a:solidFill>
                <a:latin typeface="Lato"/>
              </a:defRPr>
            </a:pPr>
            <a:r>
              <a:rPr>
                <a:ea typeface="Microsoft JhengHei"/>
              </a:rPr>
              <a:t>Graph</a:t>
            </a:r>
          </a:p>
        </p:txBody>
      </p:sp>
      <p:sp>
        <p:nvSpPr>
          <p:cNvPr id="13" name="TextBox 12"/>
          <p:cNvSpPr txBox="1"/>
          <p:nvPr/>
        </p:nvSpPr>
        <p:spPr>
          <a:xfrm>
            <a:off x="4000500" y="5181600"/>
            <a:ext cx="7667624" cy="723900"/>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Inspect links and record researcher decisions.</a:t>
            </a:r>
          </a:p>
        </p:txBody>
      </p:sp>
      <p:sp>
        <p:nvSpPr>
          <p:cNvPr id="14" name="TextBox 1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15" name="TextBox 14"/>
          <p:cNvSpPr txBox="1"/>
          <p:nvPr/>
        </p:nvSpPr>
        <p:spPr>
          <a:xfrm>
            <a:off x="11239500" y="6438900"/>
            <a:ext cx="457200" cy="238125"/>
          </a:xfrm>
          <a:prstGeom prst="rect">
            <a:avLst/>
          </a:prstGeom>
          <a:noFill/>
        </p:spPr>
        <p:txBody>
          <a:bodyPr wrap="square" lIns="0" rIns="0" tIns="0" bIns="0">
            <a:spAutoFit/>
          </a:bodyPr>
          <a:lstStyle/>
          <a:p>
            <a:pPr>
              <a:lnSpc>
                <a:spcPct val="118000"/>
              </a:lnSpc>
              <a:spcBef>
                <a:spcPts val="0"/>
              </a:spcBef>
              <a:spcAft>
                <a:spcPts val="0"/>
              </a:spcAft>
              <a:defRPr sz="1200" b="0">
                <a:solidFill>
                  <a:srgbClr val="526778"/>
                </a:solidFill>
                <a:latin typeface="Lato"/>
              </a:defRPr>
            </a:pPr>
            <a:r>
              <a:rPr>
                <a:ea typeface="Microsoft JhengHe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Technical reference</a:t>
            </a: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Which model does what?</a:t>
            </a:r>
          </a:p>
        </p:txBody>
      </p:sp>
      <p:sp>
        <p:nvSpPr>
          <p:cNvPr id="4" name="TextBox 3"/>
          <p:cNvSpPr txBox="1"/>
          <p:nvPr/>
        </p:nvSpPr>
        <p:spPr>
          <a:xfrm>
            <a:off x="523874" y="1981199"/>
            <a:ext cx="3238500" cy="723900"/>
          </a:xfrm>
          <a:prstGeom prst="rect">
            <a:avLst/>
          </a:prstGeom>
          <a:noFill/>
        </p:spPr>
        <p:txBody>
          <a:bodyPr wrap="square" lIns="0" rIns="0" tIns="0" bIns="0">
            <a:spAutoFit/>
          </a:bodyPr>
          <a:lstStyle/>
          <a:p>
            <a:pPr>
              <a:lnSpc>
                <a:spcPct val="118000"/>
              </a:lnSpc>
              <a:spcBef>
                <a:spcPts val="0"/>
              </a:spcBef>
              <a:spcAft>
                <a:spcPts val="0"/>
              </a:spcAft>
              <a:defRPr sz="2200" b="1">
                <a:solidFill>
                  <a:srgbClr val="126B85"/>
                </a:solidFill>
                <a:latin typeface="Lato"/>
              </a:defRPr>
            </a:pPr>
            <a:r>
              <a:rPr>
                <a:ea typeface="Microsoft JhengHei"/>
              </a:rPr>
              <a:t>Embedder</a:t>
            </a:r>
          </a:p>
        </p:txBody>
      </p:sp>
      <p:sp>
        <p:nvSpPr>
          <p:cNvPr id="5" name="TextBox 4"/>
          <p:cNvSpPr txBox="1"/>
          <p:nvPr/>
        </p:nvSpPr>
        <p:spPr>
          <a:xfrm>
            <a:off x="4000500" y="1981199"/>
            <a:ext cx="7667624" cy="723900"/>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mitra-qwen35-embedder (identified by the index filename).</a:t>
            </a:r>
          </a:p>
        </p:txBody>
      </p:sp>
      <p:sp>
        <p:nvSpPr>
          <p:cNvPr id="6" name="TextBox 5"/>
          <p:cNvSpPr txBox="1"/>
          <p:nvPr/>
        </p:nvSpPr>
        <p:spPr>
          <a:xfrm>
            <a:off x="523874" y="2781300"/>
            <a:ext cx="3238500" cy="723900"/>
          </a:xfrm>
          <a:prstGeom prst="rect">
            <a:avLst/>
          </a:prstGeom>
          <a:noFill/>
        </p:spPr>
        <p:txBody>
          <a:bodyPr wrap="square" lIns="0" rIns="0" tIns="0" bIns="0">
            <a:spAutoFit/>
          </a:bodyPr>
          <a:lstStyle/>
          <a:p>
            <a:pPr>
              <a:lnSpc>
                <a:spcPct val="118000"/>
              </a:lnSpc>
              <a:spcBef>
                <a:spcPts val="0"/>
              </a:spcBef>
              <a:spcAft>
                <a:spcPts val="0"/>
              </a:spcAft>
              <a:defRPr sz="2200" b="1">
                <a:solidFill>
                  <a:srgbClr val="126B85"/>
                </a:solidFill>
                <a:latin typeface="Lato"/>
              </a:defRPr>
            </a:pPr>
            <a:r>
              <a:rPr>
                <a:ea typeface="Microsoft JhengHei"/>
              </a:rPr>
              <a:t>Passage retrieval</a:t>
            </a:r>
          </a:p>
        </p:txBody>
      </p:sp>
      <p:sp>
        <p:nvSpPr>
          <p:cNvPr id="7" name="TextBox 6"/>
          <p:cNvSpPr txBox="1"/>
          <p:nvPr/>
        </p:nvSpPr>
        <p:spPr>
          <a:xfrm>
            <a:off x="4000500" y="2781300"/>
            <a:ext cx="7667624" cy="723900"/>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Cosine similarity between stored passage vectors.</a:t>
            </a:r>
          </a:p>
        </p:txBody>
      </p:sp>
      <p:sp>
        <p:nvSpPr>
          <p:cNvPr id="8" name="TextBox 7"/>
          <p:cNvSpPr txBox="1"/>
          <p:nvPr/>
        </p:nvSpPr>
        <p:spPr>
          <a:xfrm>
            <a:off x="523874" y="3581400"/>
            <a:ext cx="3238500" cy="723900"/>
          </a:xfrm>
          <a:prstGeom prst="rect">
            <a:avLst/>
          </a:prstGeom>
          <a:noFill/>
        </p:spPr>
        <p:txBody>
          <a:bodyPr wrap="square" lIns="0" rIns="0" tIns="0" bIns="0">
            <a:spAutoFit/>
          </a:bodyPr>
          <a:lstStyle/>
          <a:p>
            <a:pPr>
              <a:lnSpc>
                <a:spcPct val="118000"/>
              </a:lnSpc>
              <a:spcBef>
                <a:spcPts val="0"/>
              </a:spcBef>
              <a:spcAft>
                <a:spcPts val="0"/>
              </a:spcAft>
              <a:defRPr sz="2200" b="1">
                <a:solidFill>
                  <a:srgbClr val="126B85"/>
                </a:solidFill>
                <a:latin typeface="Lato"/>
              </a:defRPr>
            </a:pPr>
            <a:r>
              <a:rPr>
                <a:ea typeface="Microsoft JhengHei"/>
              </a:rPr>
              <a:t>Worker</a:t>
            </a:r>
          </a:p>
        </p:txBody>
      </p:sp>
      <p:sp>
        <p:nvSpPr>
          <p:cNvPr id="9" name="TextBox 8"/>
          <p:cNvSpPr txBox="1"/>
          <p:nvPr/>
        </p:nvSpPr>
        <p:spPr>
          <a:xfrm>
            <a:off x="4000500" y="3581400"/>
            <a:ext cx="7667624" cy="723900"/>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Chooses tools and writes proposals. See Inquiry for its model.</a:t>
            </a:r>
          </a:p>
        </p:txBody>
      </p:sp>
      <p:sp>
        <p:nvSpPr>
          <p:cNvPr id="10" name="TextBox 9"/>
          <p:cNvSpPr txBox="1"/>
          <p:nvPr/>
        </p:nvSpPr>
        <p:spPr>
          <a:xfrm>
            <a:off x="523874" y="4381500"/>
            <a:ext cx="3238500" cy="723900"/>
          </a:xfrm>
          <a:prstGeom prst="rect">
            <a:avLst/>
          </a:prstGeom>
          <a:noFill/>
        </p:spPr>
        <p:txBody>
          <a:bodyPr wrap="square" lIns="0" rIns="0" tIns="0" bIns="0">
            <a:spAutoFit/>
          </a:bodyPr>
          <a:lstStyle/>
          <a:p>
            <a:pPr>
              <a:lnSpc>
                <a:spcPct val="118000"/>
              </a:lnSpc>
              <a:spcBef>
                <a:spcPts val="0"/>
              </a:spcBef>
              <a:spcAft>
                <a:spcPts val="0"/>
              </a:spcAft>
              <a:defRPr sz="2200" b="1">
                <a:solidFill>
                  <a:srgbClr val="126B85"/>
                </a:solidFill>
                <a:latin typeface="Lato"/>
              </a:defRPr>
            </a:pPr>
            <a:r>
              <a:rPr>
                <a:ea typeface="Microsoft JhengHei"/>
              </a:rPr>
              <a:t>Reviewer</a:t>
            </a:r>
          </a:p>
        </p:txBody>
      </p:sp>
      <p:sp>
        <p:nvSpPr>
          <p:cNvPr id="11" name="TextBox 10"/>
          <p:cNvSpPr txBox="1"/>
          <p:nvPr/>
        </p:nvSpPr>
        <p:spPr>
          <a:xfrm>
            <a:off x="4000500" y="4381500"/>
            <a:ext cx="7667624" cy="723900"/>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A different model family records checks on proposals.</a:t>
            </a:r>
          </a:p>
        </p:txBody>
      </p:sp>
      <p:sp>
        <p:nvSpPr>
          <p:cNvPr id="12" name="TextBox 11"/>
          <p:cNvSpPr txBox="1"/>
          <p:nvPr/>
        </p:nvSpPr>
        <p:spPr>
          <a:xfrm>
            <a:off x="523874" y="5181600"/>
            <a:ext cx="3238500" cy="723900"/>
          </a:xfrm>
          <a:prstGeom prst="rect">
            <a:avLst/>
          </a:prstGeom>
          <a:noFill/>
        </p:spPr>
        <p:txBody>
          <a:bodyPr wrap="square" lIns="0" rIns="0" tIns="0" bIns="0">
            <a:spAutoFit/>
          </a:bodyPr>
          <a:lstStyle/>
          <a:p>
            <a:pPr>
              <a:lnSpc>
                <a:spcPct val="118000"/>
              </a:lnSpc>
              <a:spcBef>
                <a:spcPts val="0"/>
              </a:spcBef>
              <a:spcAft>
                <a:spcPts val="0"/>
              </a:spcAft>
              <a:defRPr sz="2200" b="1">
                <a:solidFill>
                  <a:srgbClr val="126B85"/>
                </a:solidFill>
                <a:latin typeface="Lato"/>
              </a:defRPr>
            </a:pPr>
            <a:r>
              <a:rPr>
                <a:ea typeface="Microsoft JhengHei"/>
              </a:rPr>
              <a:t>No embedding call</a:t>
            </a:r>
          </a:p>
        </p:txBody>
      </p:sp>
      <p:sp>
        <p:nvSpPr>
          <p:cNvPr id="13" name="TextBox 12"/>
          <p:cNvSpPr txBox="1"/>
          <p:nvPr/>
        </p:nvSpPr>
        <p:spPr>
          <a:xfrm>
            <a:off x="4000500" y="5181600"/>
            <a:ext cx="7667624" cy="723900"/>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Exact search, vocabulary rankings and graph display.</a:t>
            </a:r>
          </a:p>
        </p:txBody>
      </p:sp>
      <p:sp>
        <p:nvSpPr>
          <p:cNvPr id="14" name="TextBox 1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15" name="TextBox 14"/>
          <p:cNvSpPr txBox="1"/>
          <p:nvPr/>
        </p:nvSpPr>
        <p:spPr>
          <a:xfrm>
            <a:off x="11239500" y="6438900"/>
            <a:ext cx="457200" cy="238125"/>
          </a:xfrm>
          <a:prstGeom prst="rect">
            <a:avLst/>
          </a:prstGeom>
          <a:noFill/>
        </p:spPr>
        <p:txBody>
          <a:bodyPr wrap="square" lIns="0" rIns="0" tIns="0" bIns="0">
            <a:spAutoFit/>
          </a:bodyPr>
          <a:lstStyle/>
          <a:p>
            <a:pPr>
              <a:lnSpc>
                <a:spcPct val="118000"/>
              </a:lnSpc>
              <a:spcBef>
                <a:spcPts val="0"/>
              </a:spcBef>
              <a:spcAft>
                <a:spcPts val="0"/>
              </a:spcAft>
              <a:defRPr sz="1200" b="0">
                <a:solidFill>
                  <a:srgbClr val="526778"/>
                </a:solidFill>
                <a:latin typeface="Lato"/>
              </a:defRPr>
            </a:pPr>
            <a:r>
              <a:rPr>
                <a:ea typeface="Microsoft JhengHe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Technical reference</a:t>
            </a: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Reading the Graph arrows</a:t>
            </a:r>
          </a:p>
        </p:txBody>
      </p:sp>
      <p:sp>
        <p:nvSpPr>
          <p:cNvPr id="4" name="TextBox 3"/>
          <p:cNvSpPr txBox="1"/>
          <p:nvPr/>
        </p:nvSpPr>
        <p:spPr>
          <a:xfrm>
            <a:off x="523874" y="1981199"/>
            <a:ext cx="3238500" cy="723900"/>
          </a:xfrm>
          <a:prstGeom prst="rect">
            <a:avLst/>
          </a:prstGeom>
          <a:noFill/>
        </p:spPr>
        <p:txBody>
          <a:bodyPr wrap="square" lIns="0" rIns="0" tIns="0" bIns="0">
            <a:spAutoFit/>
          </a:bodyPr>
          <a:lstStyle/>
          <a:p>
            <a:pPr>
              <a:lnSpc>
                <a:spcPct val="118000"/>
              </a:lnSpc>
              <a:spcBef>
                <a:spcPts val="0"/>
              </a:spcBef>
              <a:spcAft>
                <a:spcPts val="0"/>
              </a:spcAft>
              <a:defRPr sz="2200" b="1">
                <a:solidFill>
                  <a:srgbClr val="126B85"/>
                </a:solidFill>
                <a:latin typeface="Lato"/>
              </a:defRPr>
            </a:pPr>
            <a:r>
              <a:rPr>
                <a:ea typeface="Microsoft JhengHei"/>
              </a:rPr>
              <a:t>Witness → Passage</a:t>
            </a:r>
          </a:p>
        </p:txBody>
      </p:sp>
      <p:sp>
        <p:nvSpPr>
          <p:cNvPr id="5" name="TextBox 4"/>
          <p:cNvSpPr txBox="1"/>
          <p:nvPr/>
        </p:nvSpPr>
        <p:spPr>
          <a:xfrm>
            <a:off x="4000500" y="1981199"/>
            <a:ext cx="7667624" cy="723900"/>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contains: the passage belongs to this source.</a:t>
            </a:r>
          </a:p>
        </p:txBody>
      </p:sp>
      <p:sp>
        <p:nvSpPr>
          <p:cNvPr id="6" name="TextBox 5"/>
          <p:cNvSpPr txBox="1"/>
          <p:nvPr/>
        </p:nvSpPr>
        <p:spPr>
          <a:xfrm>
            <a:off x="523874" y="2781300"/>
            <a:ext cx="3238500" cy="723900"/>
          </a:xfrm>
          <a:prstGeom prst="rect">
            <a:avLst/>
          </a:prstGeom>
          <a:noFill/>
        </p:spPr>
        <p:txBody>
          <a:bodyPr wrap="square" lIns="0" rIns="0" tIns="0" bIns="0">
            <a:spAutoFit/>
          </a:bodyPr>
          <a:lstStyle/>
          <a:p>
            <a:pPr>
              <a:lnSpc>
                <a:spcPct val="118000"/>
              </a:lnSpc>
              <a:spcBef>
                <a:spcPts val="0"/>
              </a:spcBef>
              <a:spcAft>
                <a:spcPts val="0"/>
              </a:spcAft>
              <a:defRPr sz="2200" b="1">
                <a:solidFill>
                  <a:srgbClr val="126B85"/>
                </a:solidFill>
                <a:latin typeface="Lato"/>
              </a:defRPr>
            </a:pPr>
            <a:r>
              <a:rPr>
                <a:ea typeface="Microsoft JhengHei"/>
              </a:rPr>
              <a:t>Passage → Proposal</a:t>
            </a:r>
          </a:p>
        </p:txBody>
      </p:sp>
      <p:sp>
        <p:nvSpPr>
          <p:cNvPr id="7" name="TextBox 6"/>
          <p:cNvSpPr txBox="1"/>
          <p:nvPr/>
        </p:nvSpPr>
        <p:spPr>
          <a:xfrm>
            <a:off x="4000500" y="2781300"/>
            <a:ext cx="7667624" cy="723900"/>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attests: the passage is offered as support.</a:t>
            </a:r>
          </a:p>
        </p:txBody>
      </p:sp>
      <p:sp>
        <p:nvSpPr>
          <p:cNvPr id="8" name="TextBox 7"/>
          <p:cNvSpPr txBox="1"/>
          <p:nvPr/>
        </p:nvSpPr>
        <p:spPr>
          <a:xfrm>
            <a:off x="523874" y="3581400"/>
            <a:ext cx="3238500" cy="723900"/>
          </a:xfrm>
          <a:prstGeom prst="rect">
            <a:avLst/>
          </a:prstGeom>
          <a:noFill/>
        </p:spPr>
        <p:txBody>
          <a:bodyPr wrap="square" lIns="0" rIns="0" tIns="0" bIns="0">
            <a:spAutoFit/>
          </a:bodyPr>
          <a:lstStyle/>
          <a:p>
            <a:pPr>
              <a:lnSpc>
                <a:spcPct val="118000"/>
              </a:lnSpc>
              <a:spcBef>
                <a:spcPts val="0"/>
              </a:spcBef>
              <a:spcAft>
                <a:spcPts val="0"/>
              </a:spcAft>
              <a:defRPr sz="2200" b="1">
                <a:solidFill>
                  <a:srgbClr val="126B85"/>
                </a:solidFill>
                <a:latin typeface="Lato"/>
              </a:defRPr>
            </a:pPr>
            <a:r>
              <a:rPr>
                <a:ea typeface="Microsoft JhengHei"/>
              </a:rPr>
              <a:t>Query → Proposal</a:t>
            </a:r>
          </a:p>
        </p:txBody>
      </p:sp>
      <p:sp>
        <p:nvSpPr>
          <p:cNvPr id="9" name="TextBox 8"/>
          <p:cNvSpPr txBox="1"/>
          <p:nvPr/>
        </p:nvSpPr>
        <p:spPr>
          <a:xfrm>
            <a:off x="4000500" y="3581400"/>
            <a:ext cx="7667624" cy="723900"/>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searched for: a search used to prepare the proposal.</a:t>
            </a:r>
          </a:p>
        </p:txBody>
      </p:sp>
      <p:sp>
        <p:nvSpPr>
          <p:cNvPr id="10" name="TextBox 9"/>
          <p:cNvSpPr txBox="1"/>
          <p:nvPr/>
        </p:nvSpPr>
        <p:spPr>
          <a:xfrm>
            <a:off x="523874" y="4381500"/>
            <a:ext cx="3238500" cy="723900"/>
          </a:xfrm>
          <a:prstGeom prst="rect">
            <a:avLst/>
          </a:prstGeom>
          <a:noFill/>
        </p:spPr>
        <p:txBody>
          <a:bodyPr wrap="square" lIns="0" rIns="0" tIns="0" bIns="0">
            <a:spAutoFit/>
          </a:bodyPr>
          <a:lstStyle/>
          <a:p>
            <a:pPr>
              <a:lnSpc>
                <a:spcPct val="118000"/>
              </a:lnSpc>
              <a:spcBef>
                <a:spcPts val="0"/>
              </a:spcBef>
              <a:spcAft>
                <a:spcPts val="0"/>
              </a:spcAft>
              <a:defRPr sz="2200" b="1">
                <a:solidFill>
                  <a:srgbClr val="126B85"/>
                </a:solidFill>
                <a:latin typeface="Lato"/>
              </a:defRPr>
            </a:pPr>
            <a:r>
              <a:rPr>
                <a:ea typeface="Microsoft JhengHei"/>
              </a:rPr>
              <a:t>Query → Conjecture</a:t>
            </a:r>
          </a:p>
        </p:txBody>
      </p:sp>
      <p:sp>
        <p:nvSpPr>
          <p:cNvPr id="11" name="TextBox 10"/>
          <p:cNvSpPr txBox="1"/>
          <p:nvPr/>
        </p:nvSpPr>
        <p:spPr>
          <a:xfrm>
            <a:off x="4000500" y="4381500"/>
            <a:ext cx="7667624" cy="723900"/>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tests: a planned check; inspect whether it was run.</a:t>
            </a:r>
          </a:p>
        </p:txBody>
      </p:sp>
      <p:sp>
        <p:nvSpPr>
          <p:cNvPr id="12" name="TextBox 11"/>
          <p:cNvSpPr txBox="1"/>
          <p:nvPr/>
        </p:nvSpPr>
        <p:spPr>
          <a:xfrm>
            <a:off x="523874" y="5181600"/>
            <a:ext cx="3238500" cy="723900"/>
          </a:xfrm>
          <a:prstGeom prst="rect">
            <a:avLst/>
          </a:prstGeom>
          <a:noFill/>
        </p:spPr>
        <p:txBody>
          <a:bodyPr wrap="square" lIns="0" rIns="0" tIns="0" bIns="0">
            <a:spAutoFit/>
          </a:bodyPr>
          <a:lstStyle/>
          <a:p>
            <a:pPr>
              <a:lnSpc>
                <a:spcPct val="118000"/>
              </a:lnSpc>
              <a:spcBef>
                <a:spcPts val="0"/>
              </a:spcBef>
              <a:spcAft>
                <a:spcPts val="0"/>
              </a:spcAft>
              <a:defRPr sz="2200" b="1">
                <a:solidFill>
                  <a:srgbClr val="126B85"/>
                </a:solidFill>
                <a:latin typeface="Lato"/>
              </a:defRPr>
            </a:pPr>
            <a:r>
              <a:rPr>
                <a:ea typeface="Microsoft JhengHei"/>
              </a:rPr>
              <a:t>Proposal → Question</a:t>
            </a:r>
          </a:p>
        </p:txBody>
      </p:sp>
      <p:sp>
        <p:nvSpPr>
          <p:cNvPr id="13" name="TextBox 12"/>
          <p:cNvSpPr txBox="1"/>
          <p:nvPr/>
        </p:nvSpPr>
        <p:spPr>
          <a:xfrm>
            <a:off x="4000500" y="5181600"/>
            <a:ext cx="7667624" cy="723900"/>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addresses: the question this proposal concerns.</a:t>
            </a:r>
          </a:p>
        </p:txBody>
      </p:sp>
      <p:sp>
        <p:nvSpPr>
          <p:cNvPr id="14" name="TextBox 1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15" name="TextBox 14"/>
          <p:cNvSpPr txBox="1"/>
          <p:nvPr/>
        </p:nvSpPr>
        <p:spPr>
          <a:xfrm>
            <a:off x="11239500" y="6438900"/>
            <a:ext cx="457200" cy="238125"/>
          </a:xfrm>
          <a:prstGeom prst="rect">
            <a:avLst/>
          </a:prstGeom>
          <a:noFill/>
        </p:spPr>
        <p:txBody>
          <a:bodyPr wrap="square" lIns="0" rIns="0" tIns="0" bIns="0">
            <a:spAutoFit/>
          </a:bodyPr>
          <a:lstStyle/>
          <a:p>
            <a:pPr>
              <a:lnSpc>
                <a:spcPct val="118000"/>
              </a:lnSpc>
              <a:spcBef>
                <a:spcPts val="0"/>
              </a:spcBef>
              <a:spcAft>
                <a:spcPts val="0"/>
              </a:spcAft>
              <a:defRPr sz="1200" b="0">
                <a:solidFill>
                  <a:srgbClr val="526778"/>
                </a:solidFill>
                <a:latin typeface="Lato"/>
              </a:defRPr>
            </a:pPr>
            <a:r>
              <a:rPr>
                <a:ea typeface="Microsoft JhengHei"/>
              </a:rPr>
              <a:t>35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