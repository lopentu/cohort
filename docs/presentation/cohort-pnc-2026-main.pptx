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6"/>
    <p:sldId id="272" r:id="rId17"/>
    <p:sldId id="273" r:id="rId18"/>
    <p:sldId id="270" r:id="rId19"/>
    <p:sldId id="274" r:id="rId20"/>
    <p:sldId id="275" r:id="rId21"/>
    <p:sldId id="276"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478" autoAdjust="0"/>
  </p:normalViewPr>
  <p:slideViewPr>
    <p:cSldViewPr snapToGrid="0" snapToObjects="1">
      <p:cViewPr varScale="1">
        <p:scale>
          <a:sx n="92" d="100"/>
          <a:sy n="92" d="100"/>
        </p:scale>
        <p:origin x="101" y="221"/>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08702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Cohort helps researchers find passages, compare them and keep a record of the investigation.</a:t>
            </a:r>
          </a:p>
          <a:p>
            <a:endParaRPr/>
          </a:p>
          <a:p>
            <a:r>
              <a:t>NEXT: Thank Michael Radich and introduce the data.</a:t>
            </a:r>
          </a:p>
          <a:p>
            <a:endParaRPr/>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endParaRPr/>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endParaRPr/>
          </a:p>
          <a:p>
            <a:r>
              <a:t>A plain opening you can use:</a:t>
            </a:r>
          </a:p>
          <a:p>
            <a:endParaRPr/>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endParaRPr/>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endParaRPr/>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Thank you, Michael Radich, for sharing the texts, catalogue and string list. The groups come from catalogue labels; Cohort computes the comparisons.</a:t>
            </a:r>
          </a:p>
          <a:p>
            <a:endParaRPr/>
          </a:p>
          <a:p>
            <a:r>
              <a:t>BACKGROUND</a:t>
            </a:r>
          </a:p>
          <a:p>
            <a:r>
              <a:t>SAY: Thank you to Michael Radich for sharing the material that made these examples possible.</a:t>
            </a:r>
          </a:p>
          <a:p>
            <a:endParaRPr/>
          </a:p>
          <a:p>
            <a:r>
              <a:t>NEXT: Introduce the functions.</a:t>
            </a:r>
          </a:p>
          <a:p>
            <a:endParaRPr/>
          </a:p>
          <a:p>
            <a:r>
              <a:t>BACKGROUND</a:t>
            </a:r>
          </a:p>
          <a:p>
            <a:r>
              <a:t>Explain the restriction before presenting a ranking. CBETA is much larger than this dataset. The counts below come from the current selection ledger,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endParaRPr/>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endParaRPr/>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Corpus is for finding and reading passages. Vocabulary comparison compares wording. Inquiry starts an agent investigation. Findings presents its proposals. Graph shows their sources and relationships.</a:t>
            </a:r>
          </a:p>
          <a:p>
            <a:endParaRPr/>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know that a later commentary repeats wording from T0603. Could shared wording mislead us about who translated this text? The Lotus example asks whether we can find related passages across two translations.</a:t>
            </a:r>
          </a:p>
          <a:p>
            <a:endParaRPr/>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Find passages and read them in context.</a:t>
            </a:r>
          </a:p>
          <a:p>
            <a:endParaRPr/>
          </a:p>
          <a:p>
            <a:r>
              <a:t>SAY: This is where we retrieve passages and read their context. I will show one Lotus comparison in the application.</a:t>
            </a:r>
          </a:p>
          <a:p>
            <a:endParaRPr/>
          </a:p>
          <a:p>
            <a:r>
              <a:t>BACKGROUND</a:t>
            </a:r>
          </a:p>
          <a:p>
            <a:r>
              <a:t>The selected passage is on the left; related results scroll on the right. This is the stored-embedding mode, not exact-phrase search. Source text is hidden in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An embedder has already converted passages to vectors. We compare those stored vectors, then read the candidates. The worker language model is separate.</a:t>
            </a:r>
          </a:p>
          <a:p>
            <a:endParaRPr/>
          </a:p>
          <a:p>
            <a:r>
              <a:t>BACKGROUND</a:t>
            </a:r>
          </a:p>
          <a:p>
            <a:r>
              <a:t>Use a saved semantic_neighbors action if available. Read its target and returned candidate IDs. Do not call this translator identification. The diagram is the tool workflow, not a new measured run.</a:t>
            </a:r>
          </a:p>
          <a:p>
            <a:endParaRPr/>
          </a:p>
          <a:p>
            <a:r>
              <a:t>These are tools available to agents; they are not separate top-level tabs.</a:t>
            </a:r>
          </a:p>
          <a:p>
            <a:endParaRPr/>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endParaRPr/>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endParaRPr/>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endParaRPr/>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a:p>
          <a:p>
            <a:r>
              <a:t>The tools for comparing edition apparatus require the appropriate XML source configuration. The current plain-text setup supports the exact-overlap example; do not present it as a full textual-variant collation or a reconstruction of a text’s genealogy.</a:t>
            </a:r>
          </a:p>
          <a:p>
            <a:endParaRPr/>
          </a:p>
          <a:p>
            <a:r>
              <a:t>## Technical reference: what runs in each tab</a:t>
            </a:r>
          </a:p>
          <a:p>
            <a:endParaRPr/>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endParaRPr/>
          </a:p>
          <a:p>
            <a:r>
              <a:t>Graph and Vocabulary comparison also have an AI analyst. It can use read-only tools and continue a conversation about the selected view. Its explanation does not automatically become a graph proposal.</a:t>
            </a:r>
          </a:p>
          <a:p>
            <a:endParaRPr/>
          </a:p>
          <a:p>
            <a:r>
              <a:t>### The embedder and the worker are different models</a:t>
            </a:r>
          </a:p>
          <a:p>
            <a:endParaRPr/>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endParaRPr/>
          </a:p>
          <a:p>
            <a:r>
              <a:t>Inquiry workers and the view analyst can search these embeddings with `semantic_neighbors`. They use them only if they call that tool. Exact phrase search, string-frequency rankings, citation checks and graph drawing do not use the embedder.</a:t>
            </a:r>
          </a:p>
          <a:p>
            <a:endParaRPr/>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endParaRPr/>
          </a:p>
          <a:p>
            <a:endParaRPr/>
          </a:p>
          <a:p>
            <a:r>
              <a:t>The index has no recorded model revision. Do not claim that the example texts were absent from training.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CUE: Compare material from different periods. Ask whether shared wording reflects transmission, reuse or revision. Dates and the direction of borrowing need historical evidence.</a:t>
            </a:r>
          </a:p>
          <a:p>
            <a:endParaRPr dirty="0"/>
          </a:p>
          <a:p>
            <a:r>
              <a:rPr dirty="0"/>
              <a:t>SAY: These two Lotus windows are close in the embedding index, but their longest exact shared sequence is only three Chinese characters. Retrieval gives us a pair to read; alignment shows where wording matches.</a:t>
            </a:r>
          </a:p>
          <a:p>
            <a:endParaRPr dirty="0"/>
          </a:p>
          <a:p>
            <a:r>
              <a:rPr dirty="0"/>
              <a:t>BACKGROUND</a:t>
            </a:r>
          </a:p>
          <a:p>
            <a:r>
              <a:rPr dirty="0"/>
              <a:t>Historical orientation: An </a:t>
            </a:r>
            <a:r>
              <a:rPr dirty="0" err="1"/>
              <a:t>Shigao</a:t>
            </a:r>
            <a:r>
              <a:rPr dirty="0"/>
              <a:t> worked in the second century CE. Scholarship identifies T1694 as a later commentary, probably from the third century; do not treat the date as inferred by Cohort. Its title repeats </a:t>
            </a:r>
            <a:r>
              <a:rPr dirty="0" err="1"/>
              <a:t>陰持入經</a:t>
            </a:r>
            <a:r>
              <a:rPr dirty="0"/>
              <a:t> and adds 註, commentary. This is why shared wording may reflect transmission over time rather than the same translator.</a:t>
            </a:r>
          </a:p>
          <a:p>
            <a:endParaRPr dirty="0"/>
          </a:p>
          <a:p>
            <a:r>
              <a:rPr dirty="0"/>
              <a:t>Explain the titles. T0603 is the Yin chi </a:t>
            </a:r>
            <a:r>
              <a:rPr dirty="0" err="1"/>
              <a:t>ru</a:t>
            </a:r>
            <a:r>
              <a:rPr dirty="0"/>
              <a:t> </a:t>
            </a:r>
            <a:r>
              <a:rPr dirty="0" err="1"/>
              <a:t>jing</a:t>
            </a:r>
            <a:r>
              <a:rPr dirty="0"/>
              <a:t>, associated with An </a:t>
            </a:r>
            <a:r>
              <a:rPr dirty="0" err="1"/>
              <a:t>Shigao</a:t>
            </a:r>
            <a:r>
              <a:rPr dirty="0"/>
              <a:t>. T1694 is its commentary; this relationship is known from scholarship. The tool locates shared runs, not the historical direction of borrowing.</a:t>
            </a:r>
          </a:p>
          <a:p>
            <a:endParaRPr dirty="0"/>
          </a:p>
          <a:p>
            <a:r>
              <a:rPr dirty="0"/>
              <a:t>These are tools available to agents; they are not separate top-level tabs.</a:t>
            </a:r>
          </a:p>
          <a:p>
            <a:endParaRPr dirty="0"/>
          </a:p>
          <a:p>
            <a:r>
              <a:rPr dirty="0"/>
              <a:t>**Semantic </a:t>
            </a:r>
            <a:r>
              <a:rPr dirty="0" err="1"/>
              <a:t>neighbours</a:t>
            </a:r>
            <a:r>
              <a:rPr dirty="0"/>
              <a:t>** searches an embedding index. An embedding is a numerical representation used to retrieve passages with similar content. It supplies candidates to inspect. It does not establish who translated a passage. A nearest </a:t>
            </a:r>
            <a:r>
              <a:rPr dirty="0" err="1"/>
              <a:t>neighbour</a:t>
            </a:r>
            <a:r>
              <a:rPr dirty="0"/>
              <a:t> is the closest among the candidates searched; that alone does not make it a useful match.</a:t>
            </a:r>
          </a:p>
          <a:p>
            <a:endParaRPr dirty="0"/>
          </a:p>
          <a:p>
            <a:r>
              <a:rPr dirty="0"/>
              <a:t>**Align passages** compares two selected texts for exact shared Chinese-character sequences and returns matching runs with source positions. </a:t>
            </a:r>
            <a:r>
              <a:rPr dirty="0" err="1"/>
              <a:t>Normalisation</a:t>
            </a:r>
            <a:r>
              <a:rPr dirty="0"/>
              <a:t> removes material such as punctuation from that comparison. Shared wording can suggest reuse, a common source or a recurring formula. Its direction and historical explanation require further evidence.</a:t>
            </a:r>
          </a:p>
          <a:p>
            <a:endParaRPr dirty="0"/>
          </a:p>
          <a:p>
            <a:r>
              <a:rPr dirty="0"/>
              <a:t>T0603 is the *Yin chi </a:t>
            </a:r>
            <a:r>
              <a:rPr dirty="0" err="1"/>
              <a:t>ru</a:t>
            </a:r>
            <a:r>
              <a:rPr dirty="0"/>
              <a:t> </a:t>
            </a:r>
            <a:r>
              <a:rPr dirty="0" err="1"/>
              <a:t>jing</a:t>
            </a:r>
            <a:r>
              <a:rPr dirty="0"/>
              <a:t>* </a:t>
            </a:r>
            <a:r>
              <a:rPr dirty="0" err="1"/>
              <a:t>陰持入經</a:t>
            </a:r>
            <a:r>
              <a:rPr dirty="0"/>
              <a:t>, traditionally associated with **An </a:t>
            </a:r>
            <a:r>
              <a:rPr dirty="0" err="1"/>
              <a:t>Shigao</a:t>
            </a:r>
            <a:r>
              <a:rPr dirty="0"/>
              <a:t> </a:t>
            </a:r>
            <a:r>
              <a:rPr dirty="0" err="1"/>
              <a:t>安世高</a:t>
            </a:r>
            <a:r>
              <a:rPr dirty="0"/>
              <a:t>**. T1694 is the *Yin chi </a:t>
            </a:r>
            <a:r>
              <a:rPr dirty="0" err="1"/>
              <a:t>ru</a:t>
            </a:r>
            <a:r>
              <a:rPr dirty="0"/>
              <a:t> </a:t>
            </a:r>
            <a:r>
              <a:rPr dirty="0" err="1"/>
              <a:t>jing</a:t>
            </a:r>
            <a:r>
              <a:rPr dirty="0"/>
              <a:t> </a:t>
            </a:r>
            <a:r>
              <a:rPr dirty="0" err="1"/>
              <a:t>zhu</a:t>
            </a:r>
            <a:r>
              <a:rPr dirty="0"/>
              <a:t>* </a:t>
            </a:r>
            <a:r>
              <a:rPr dirty="0" err="1"/>
              <a:t>陰持入經註</a:t>
            </a:r>
            <a:r>
              <a:rPr dirty="0"/>
              <a:t>, a commentary on it. The character 註 in the title means commentary, and the relationship is identified in scholarship. Cohort did not discover the genre from a similarity score. See the scholarly references at the end of this guide.</a:t>
            </a:r>
          </a:p>
          <a:p>
            <a:endParaRPr dirty="0"/>
          </a:p>
          <a:p>
            <a:r>
              <a:rPr dirty="0"/>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dirty="0"/>
          </a:p>
          <a:p>
            <a:r>
              <a:rPr dirty="0"/>
              <a:t>The tools for comparing edition apparatus require the appropriate XML source configuration. The current plain-text setup supports the exact-overlap example; do not present it as a full textual-variant collation or a reconstruction of a text’s genealogy.</a:t>
            </a:r>
          </a:p>
          <a:p>
            <a:endParaRPr dirty="0"/>
          </a:p>
          <a:p>
            <a:r>
              <a:rPr dirty="0"/>
              <a:t>SAY: The methods give us different things: candidate passages, vocabulary rankings and a way to test exclusions.</a:t>
            </a:r>
          </a:p>
          <a:p>
            <a:endParaRPr dirty="0"/>
          </a:p>
          <a:p>
            <a:r>
              <a:rPr dirty="0"/>
              <a:t>NEXT: Explain the limitations.</a:t>
            </a:r>
          </a:p>
          <a:p>
            <a:endParaRPr dirty="0"/>
          </a:p>
          <a:p>
            <a:r>
              <a:rPr dirty="0"/>
              <a:t>BACKGROUND</a:t>
            </a:r>
          </a:p>
          <a:p>
            <a:r>
              <a:rPr dirty="0"/>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a:t>
            </a:r>
            <a:r>
              <a:rPr dirty="0" err="1"/>
              <a:t>Taishō</a:t>
            </a:r>
            <a:r>
              <a:rPr dirty="0"/>
              <a:t> work, but other dependence and genre effects remain. Reverse control: T0262-exDevadatta ranks with </a:t>
            </a:r>
            <a:r>
              <a:rPr dirty="0" err="1"/>
              <a:t>Dharmakṣema</a:t>
            </a:r>
            <a:r>
              <a:rPr dirty="0"/>
              <a:t> under both vocabularies, not its catalogue label </a:t>
            </a:r>
            <a:r>
              <a:rPr dirty="0" err="1"/>
              <a:t>Kumārajīva</a:t>
            </a:r>
            <a:r>
              <a:rPr dirty="0"/>
              <a:t>. Mention that failure verbally: agreement for one example does not validate attribution. Measurements: scripts/check_method_examples.py; docs/presentation/method-</a:t>
            </a:r>
            <a:r>
              <a:rPr dirty="0" err="1"/>
              <a:t>examples.json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endParaRPr/>
          </a:p>
          <a:p>
            <a:r>
              <a:t>SAY: The list tells us which strings to count. Cohort compares the target’s usage with catalogue-labelled groups. It does not rank texts by how many dictionary words they contain.</a:t>
            </a:r>
          </a:p>
          <a:p>
            <a:endParaRPr/>
          </a:p>
          <a:p>
            <a:r>
              <a:t>BACKGROUND</a:t>
            </a:r>
          </a:p>
          <a:p>
            <a:r>
              <a:t>Open Vocabulary comparison and use the T0603 example. Explain the vocabulary as short character strings, then show the full ranking. The example resets to curated strings and no additional exclusions.</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These choices change what the method counts. Curated is the setting for the checked exclusion example, not a claim that it is universally best.</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This list gives catalogue membership labels, not a ranking. The two mixed categories are not individual translators. Counts are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Do not compute the headline margin by dividing the already rounded gap displayed in a table. The backend computes it from unrounded scores before display rounding.</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Compare a text’s wording with texts labelled by translator.</a:t>
            </a:r>
          </a:p>
          <a:p>
            <a:endParaRPr/>
          </a:p>
          <a:p>
            <a:r>
              <a:t>SAY: Read the group names beside A and B. Highlighting is the contribution to their score difference. The strings can occur in both groups. Strong colour is not certainty.</a:t>
            </a:r>
          </a:p>
          <a:p>
            <a:endParaRPr/>
          </a:p>
          <a:p>
            <a:r>
              <a:t>BACKGROUND</a:t>
            </a:r>
          </a:p>
          <a:p>
            <a:r>
              <a:t>This compares a text against pooled groups using string counts, not embeddings. Use the live view for exclusions. Source passages are hidden in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T1694 is in the mixed early-material group. Removing it changes that group’s profile and the leader. The target and vocabulary stay fixed. The margin is the score gap divided by distinct matched strings; it is not a probability.</a:t>
            </a:r>
          </a:p>
          <a:p>
            <a:endParaRPr/>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endParaRPr/>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endParaRPr/>
          </a:p>
          <a:p>
            <a:r>
              <a:t>Live action: enter T1694 and click Repeat comparison. Keep curated vocabulary fixed. The leading group changes, so both names must be read. This demonstrates sensitivity to included material, not successful attribution.</a:t>
            </a:r>
          </a:p>
          <a:p>
            <a:endParaRPr/>
          </a:p>
          <a:p>
            <a:r>
              <a:t>Under **Does the result depend on another text?**, enter **T1694** in **Exclude additional texts** and click **Repeat comparison**. The target remains T0603; only the reference material changes. **Restore these texts** removes the additional exclusion.</a:t>
            </a:r>
          </a:p>
          <a:p>
            <a:endParaRPr/>
          </a:p>
          <a:p>
            <a:r>
              <a:t>The reproduced results on 9 September 2026 are:</a:t>
            </a:r>
          </a:p>
          <a:p>
            <a:endParaRPr/>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endParaRPr/>
          </a:p>
          <a:p>
            <a:r>
              <a:t>T1694 contributes to the mixed group in the first row. “Other material before Dharmarakṣa” is a catalogue category for early material, not one competing translator. Excluding the commentary changes the leader and greatly reduces the lead.</a:t>
            </a:r>
          </a:p>
          <a:p>
            <a:endParaRPr/>
          </a:p>
          <a:p>
            <a:r>
              <a:t>Say:</a:t>
            </a:r>
          </a:p>
          <a:p>
            <a:endParaRPr/>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endParaRPr/>
          </a:p>
          <a:p>
            <a:r>
              <a:t>Do not translate 0.096 into a probability or call it a statistically established tie. An Shigao’s new first place does not establish his authorship. The comparison does not determine which text borrowed from which.</a:t>
            </a:r>
          </a:p>
          <a:p>
            <a:endParaRPr/>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endParaRPr/>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Give agents a research question and inspect their actions.</a:t>
            </a:r>
          </a:p>
          <a:p>
            <a:endParaRPr/>
          </a:p>
          <a:p>
            <a:r>
              <a:t>SAY: Suggested inputs fill a draft. Inquire starts the workers. This screenshot contains an unsent draft; I will inspect a saved run in the application.</a:t>
            </a:r>
          </a:p>
          <a:p>
            <a:endParaRPr/>
          </a:p>
          <a:p>
            <a:r>
              <a:t>BACKGROUND</a:t>
            </a:r>
          </a:p>
          <a:p>
            <a:r>
              <a:t>Show the distinction between a research question and research instructions. The screenshot shows an unsent draft; no new model run was started. Run history was hidden for this capture.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The worker can pull material together, suggest explanations we might want to examine, and propose a next search. These are possibilities for research. We inspect the cited passages and recorded checks before deciding what to pursue.</a:t>
            </a:r>
          </a:p>
          <a:p>
            <a:endParaRPr/>
          </a:p>
          <a:p>
            <a:r>
              <a:t>EXAMPLE: When a commentary shares wording with an earlier text, the worker could suggest reuse, a common source or a recurring formula. A useful next step is to search other texts for the same wording, or repeat the vocabulary comparison with the commentary excluded. These are examples of questions an agent can propose, not a claim that the saved run discovered a new historical relationship.</a:t>
            </a:r>
          </a:p>
          <a:p>
            <a:endParaRPr/>
          </a:p>
          <a:p>
            <a:r>
              <a:t>GROUNDING: The Graph stores links between passages and proposals, source locations, author/model records, checks and researcher decisions. It lets us inspect the basis of a proposal. It does not make an interpretation true. A reviewer can verify that a quotation occurs while still making a mistaken judgement about what it supports.</a:t>
            </a:r>
          </a:p>
          <a:p>
            <a:endParaRPr/>
          </a:p>
          <a:p>
            <a:r>
              <a:t>ROLES: The Inquiry worker calls tools and records proposals. A reviewer from a different model family records checks. The separate analyst in Graph and Vocabulary comparison can explain outputs and make further read-only tool calls; its response does not automatically become a graph proposal.</a:t>
            </a:r>
          </a:p>
          <a:p>
            <a:endParaRPr/>
          </a:p>
          <a:p>
            <a:r>
              <a:t>DIAGRAM: This is a high-level workflow, not the Graph's edge vocabulary or a promise that every retrieved passage is saved. The researcher chooses what to pursue; opening a tab does not execute this sequence.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Follow links between sources, proposals and decisions.</a:t>
            </a:r>
          </a:p>
          <a:p>
            <a:endParaRPr/>
          </a:p>
          <a:p>
            <a:r>
              <a:t>SAY: The graph is already populated by saved work. It is not a display of every corpus text. Selecting a node shows its author, model and records.</a:t>
            </a:r>
          </a:p>
          <a:p>
            <a:endParaRPr/>
          </a:p>
          <a:p>
            <a:r>
              <a:t>BACKGROUND</a:t>
            </a:r>
          </a:p>
          <a:p>
            <a:r>
              <a:t>Follow records and their relationships. Source-passage labels and query phrases are hidden in this screenshot; graph records and topology are otherwise unchanged. </a:t>
            </a:r>
          </a:p>
          <a:p>
            <a:endParaRP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endParaRPr/>
          </a:p>
          <a:p>
            <a:r>
              <a:t>BACKGROUND</a:t>
            </a: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The arrows here follow schema direction: passage part_of source; passage attests proposal; proposal addresses question. Shapes are simplified but match node types. Use one selected record rather than narrating the entire graph.</a:t>
            </a:r>
          </a:p>
          <a:p>
            <a:endParaRPr/>
          </a:p>
          <a:p>
            <a:r>
              <a:t>Diagram: Graph relationships](diagrams/graph.svg)</a:t>
            </a:r>
          </a:p>
          <a:p>
            <a:endParaRPr/>
          </a:p>
          <a:p>
            <a:r>
              <a:t>Use the question checkboxes to show the investigation you are discussing. Hiding a question changes the view; it does not delete its records. Several proposals can address one question. An older session can also contain earlier questions.</a:t>
            </a:r>
          </a:p>
          <a:p>
            <a:endParaRPr/>
          </a:p>
          <a:p>
            <a:r>
              <a:t>Select a single node. Its inspector shows the record’s type, status, worker, model, sources and relationships. New records can show the worker’s action reason. The historical model name describes the recorded call, not a later profile setting.</a:t>
            </a:r>
          </a:p>
          <a:p>
            <a:endParaRPr/>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endParaRPr/>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endParaRPr/>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The graph helps us trace proposals back to sources, inspect recorded relationships between sources, and retain the history of checks and decisions. A possible next step is edge prediction: suggesting a relationship worth investigating. We have not implemented or evaluated that capability.</a:t>
            </a:r>
          </a:p>
          <a:p>
            <a:endParaRPr/>
          </a:p>
          <a:p>
            <a:r>
              <a:t>TERMINOLOGY: Cohort has typed nodes, typed edges and record metadata. These are familiar graph-data techniques. The project deliberately calls this an evidence graph because translator and historical assertions remain contested. This does not mean that all knowledge graphs must contain only certain facts; it explains the terminology and epistemic contract of this application. See docs/design.md principles 1–2 and section 10.</a:t>
            </a:r>
          </a:p>
          <a:p>
            <a:endParaRPr/>
          </a:p>
          <a:p>
            <a:r>
              <a:t>DEPENDENCIES: Recorded quotes, parallel_of and descends_from relationships help expose related material. A graph cannot display a dependency that nobody has recorded, and an independence flag is not proof that sources are historically independent. Repeated checks are not independent witnesses.</a:t>
            </a:r>
          </a:p>
          <a:p>
            <a:endParaRPr/>
          </a:p>
          <a:p>
            <a:r>
              <a:t>EDGE PREDICTION: In graph research, link prediction scores possible missing relationships between nodes. A future Cohort feature could propose a candidate quotation or textual parallel, retrieve the relevant passages and send it for review. A predicted link would be a proposal, not historical evidence by itself. Current semantic-neighbour retrieval compares passage vectors; it is not a trained graph link-prediction model. The source-grounded edge-proposal workflow would also need implementation and evaluation.</a:t>
            </a:r>
          </a:p>
          <a:p>
            <a:endParaRPr/>
          </a:p>
          <a:p>
            <a:r>
              <a:t>BACKGROUND READING: Hogan et al., Knowledge Graphs (2021), https://arxiv.org/abs/2003.02320; Daza et al., Inductive Entity Representations from Text via Link Prediction (2021), https://arxiv.org/abs/2010.03496.</a:t>
            </a:r>
          </a:p>
          <a:p>
            <a:endParaRPr/>
          </a:p>
          <a:p>
            <a:r>
              <a:t>EXISTING CHECKS AND DECISIONS</a:t>
            </a:r>
          </a:p>
          <a:p>
            <a:r>
              <a:t>SAY: Finding a quotation at its source is one check. Whether it supports the interpretation requires reading. Accepting a passage does not accept every connected proposal.</a:t>
            </a:r>
          </a:p>
          <a:p>
            <a:endParaRPr/>
          </a:p>
          <a:p>
            <a:r>
              <a:t>BACKGROUND</a:t>
            </a:r>
          </a:p>
          <a:p>
            <a:r>
              <a:t>Do not click Accept just to create an ending. Show available controls and explain their actual eligibility rules. The reviewer cannot be treated as a reliable semantic validator; explain the current limitation if asked.</a:t>
            </a:r>
          </a:p>
          <a:p>
            <a:endParaRPr/>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endParaRPr/>
          </a:p>
          <a:p>
            <a:r>
              <a:t>A **contradiction** relationship is distinct from a researcher’s rejection. Colour alone is insufficient: some imported experiment records also have calculated assessment colours. Read the selected record’s status.</a:t>
            </a:r>
          </a:p>
          <a:p>
            <a:endParaRPr/>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endParaRPr/>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endParaRPr/>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endParaRPr/>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Read the agents’ proposals, citations and checks.</a:t>
            </a:r>
          </a:p>
          <a:p>
            <a:endParaRPr/>
          </a:p>
          <a:p>
            <a:r>
              <a:t>SAY: Findings is a readable view of saved proposals. A conjecture adds an explanation, limits and a proposed test; it is not a container made of claims.</a:t>
            </a:r>
          </a:p>
          <a:p>
            <a:endParaRPr/>
          </a:p>
          <a:p>
            <a:r>
              <a:t>BACKGROUND</a:t>
            </a:r>
          </a:p>
          <a:p>
            <a:r>
              <a:t>These are saved proposals, not established conclusions. The conjecture review found weaknesses; do not imply attested means correct. No proposal was accepted for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Now I will use the same functions on the saved material.</a:t>
            </a:r>
          </a:p>
          <a:p>
            <a:endParaRPr/>
          </a:p>
          <a:p>
            <a:r>
              <a:t>APPLICATION: Corpus → Lotus related passages and shared wording (3 min). Vocabulary comparison → T0603, exclude T1694 (3 min). Inquiry → saved action; Graph → sources and checks; Findings → one proposal (4 min). Then return to the final slide (20). Do not accept a weak scholarly proposal to demonstrate a button.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endParaRPr/>
          </a:p>
          <a:p>
            <a:r>
              <a:t>BACKGROUND</a:t>
            </a:r>
          </a:p>
          <a:p>
            <a:r>
              <a:t>SAY: The methods give us different things: candidate passages, vocabulary rankings and a way to test exclusions.</a:t>
            </a:r>
          </a:p>
          <a:p>
            <a:endParaRPr/>
          </a:p>
          <a:p>
            <a:r>
              <a:t>NEXT: Explain the limitations.</a:t>
            </a:r>
          </a:p>
          <a:p>
            <a:endParaRPr/>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endParaRPr/>
          </a:p>
          <a:p>
            <a:r>
              <a:t>SAY: These tools help us inspect the material. They do not settle the historical interpretation.</a:t>
            </a:r>
          </a:p>
          <a:p>
            <a:endParaRPr/>
          </a:p>
          <a:p>
            <a:r>
              <a:t>NEXT: End the presentation.</a:t>
            </a:r>
          </a:p>
          <a:p>
            <a:endParaRPr/>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endParaRPr/>
          </a:p>
          <a:p>
            <a:r>
              <a:t>Leave time for questions. Ask which operation would help the audience with material they already work on. The Q3 branch is described in a reference slide; do not imply it is merged or that its real-corpus findings were reproduced in this review.</a:t>
            </a:r>
          </a:p>
          <a:p>
            <a:endParaRPr/>
          </a:p>
          <a:p>
            <a:r>
              <a:t>Diachronic research studies change through time. Translator ascriptions, the reuse of earlier texts and commentary relationships are historical questions. This dataset also supplies an ordering of its catalogue groups.</a:t>
            </a:r>
          </a:p>
          <a:p>
            <a:endParaRPr/>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endParaRPr/>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endParaRPr/>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endParaRPr/>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endParaRP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668000" cy="285750"/>
          </a:xfrm>
          <a:prstGeom prst="rect">
            <a:avLst/>
          </a:prstGeom>
          <a:noFill/>
        </p:spPr>
        <p:txBody>
          <a:bodyPr wrap="square" lIns="0" tIns="0" rIns="0" bIns="0">
            <a:spAutoFit/>
          </a:bodyPr>
          <a:lstStyle/>
          <a:p>
            <a:pPr>
              <a:lnSpc>
                <a:spcPct val="118000"/>
              </a:lnSpc>
              <a:spcBef>
                <a:spcPts val="0"/>
              </a:spcBef>
              <a:spcAft>
                <a:spcPts val="0"/>
              </a:spcAft>
              <a:defRPr sz="1400" b="1">
                <a:solidFill>
                  <a:srgbClr val="126B85"/>
                </a:solidFill>
                <a:latin typeface="Lato"/>
              </a:defRPr>
            </a:pPr>
            <a:endParaRPr/>
          </a:p>
        </p:txBody>
      </p:sp>
      <p:sp>
        <p:nvSpPr>
          <p:cNvPr id="3" name="TextBox 2"/>
          <p:cNvSpPr txBox="1"/>
          <p:nvPr/>
        </p:nvSpPr>
        <p:spPr>
          <a:xfrm>
            <a:off x="495299" y="800100"/>
            <a:ext cx="11201400" cy="1000125"/>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tIns="0" r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tIns="0" r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943600"/>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² Co-Intelligence Humanities AI Future Lab</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
        <p:nvSpPr>
          <p:cNvPr id="12" name="AccentRule">
            <a:extLst>
              <a:ext uri="{FF2B5EF4-FFF2-40B4-BE49-F238E27FC236}">
                <a16:creationId xmlns:a16="http://schemas.microsoft.com/office/drawing/2014/main" id="{C3E0F568-5462-4CC8-8751-A5AF1D2CDD62}"/>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dirty="0">
                <a:ea typeface="Microsoft JhengHei"/>
              </a:rPr>
              <a:t>Acknowledgement</a:t>
            </a:r>
          </a:p>
        </p:txBody>
      </p:sp>
      <p:sp>
        <p:nvSpPr>
          <p:cNvPr id="4" name="TextBox 3"/>
          <p:cNvSpPr txBox="1"/>
          <p:nvPr/>
        </p:nvSpPr>
        <p:spPr>
          <a:xfrm>
            <a:off x="523874" y="1809750"/>
            <a:ext cx="11049000" cy="457882"/>
          </a:xfrm>
          <a:prstGeom prst="rect">
            <a:avLst/>
          </a:prstGeom>
          <a:noFill/>
        </p:spPr>
        <p:txBody>
          <a:bodyPr wrap="square" lIns="0" tIns="0" rIns="0" bIns="0">
            <a:spAutoFit/>
          </a:bodyPr>
          <a:lstStyle/>
          <a:p>
            <a:pPr>
              <a:lnSpc>
                <a:spcPct val="118000"/>
              </a:lnSpc>
              <a:spcBef>
                <a:spcPts val="0"/>
              </a:spcBef>
              <a:spcAft>
                <a:spcPts val="0"/>
              </a:spcAft>
              <a:defRPr sz="3400" b="1">
                <a:solidFill>
                  <a:srgbClr val="146C68"/>
                </a:solidFill>
                <a:latin typeface="Lato"/>
              </a:defRPr>
            </a:pPr>
            <a:r>
              <a:rPr lang="en-US" sz="2800" dirty="0">
                <a:ea typeface="Microsoft JhengHei"/>
              </a:rPr>
              <a:t>Data provided by Prof. </a:t>
            </a:r>
            <a:r>
              <a:rPr sz="2800" dirty="0">
                <a:ea typeface="Microsoft JhengHei"/>
              </a:rPr>
              <a:t>Michael Radich</a:t>
            </a:r>
            <a:r>
              <a:rPr lang="en-US" sz="2800" dirty="0">
                <a:ea typeface="Microsoft JhengHei"/>
              </a:rPr>
              <a:t> of Heidelberg University</a:t>
            </a:r>
            <a:endParaRPr sz="2800" dirty="0">
              <a:ea typeface="Microsoft JhengHei"/>
            </a:endParaRPr>
          </a:p>
        </p:txBody>
      </p:sp>
      <p:sp>
        <p:nvSpPr>
          <p:cNvPr id="5" name="TextBox 4"/>
          <p:cNvSpPr txBox="1"/>
          <p:nvPr/>
        </p:nvSpPr>
        <p:spPr>
          <a:xfrm>
            <a:off x="714375" y="36322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6" name="TextBox 5"/>
          <p:cNvSpPr txBox="1"/>
          <p:nvPr/>
        </p:nvSpPr>
        <p:spPr>
          <a:xfrm>
            <a:off x="714375" y="4419600"/>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7" name="TextBox 6"/>
          <p:cNvSpPr txBox="1"/>
          <p:nvPr/>
        </p:nvSpPr>
        <p:spPr>
          <a:xfrm>
            <a:off x="4572000" y="36322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8" name="TextBox 7"/>
          <p:cNvSpPr txBox="1"/>
          <p:nvPr/>
        </p:nvSpPr>
        <p:spPr>
          <a:xfrm>
            <a:off x="4572000" y="4419600"/>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9" name="TextBox 8"/>
          <p:cNvSpPr txBox="1"/>
          <p:nvPr/>
        </p:nvSpPr>
        <p:spPr>
          <a:xfrm>
            <a:off x="8429625" y="36322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0" name="TextBox 9"/>
          <p:cNvSpPr txBox="1"/>
          <p:nvPr/>
        </p:nvSpPr>
        <p:spPr>
          <a:xfrm>
            <a:off x="8429625" y="4419600"/>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
        <p:nvSpPr>
          <p:cNvPr id="2" name="AccentRule">
            <a:extLst>
              <a:ext uri="{FF2B5EF4-FFF2-40B4-BE49-F238E27FC236}">
                <a16:creationId xmlns:a16="http://schemas.microsoft.com/office/drawing/2014/main" id="{86637AF7-4BF9-472D-8071-E2C6FE1D097B}"/>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52322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lang="en-US" dirty="0">
                <a:ea typeface="Microsoft JhengHei"/>
              </a:rPr>
              <a:t>Cohort’s goal</a:t>
            </a:r>
            <a:endParaRPr dirty="0">
              <a:ea typeface="Microsoft JhengHei"/>
            </a:endParaRPr>
          </a:p>
        </p:txBody>
      </p:sp>
      <p:sp>
        <p:nvSpPr>
          <p:cNvPr id="4" name="TextBox 3"/>
          <p:cNvSpPr txBox="1"/>
          <p:nvPr/>
        </p:nvSpPr>
        <p:spPr>
          <a:xfrm>
            <a:off x="523874" y="1952624"/>
            <a:ext cx="10953750" cy="1104277"/>
          </a:xfrm>
          <a:prstGeom prst="rect">
            <a:avLst/>
          </a:prstGeom>
          <a:noFill/>
        </p:spPr>
        <p:txBody>
          <a:bodyPr wrap="square" lIns="0" tIns="0" rIns="0" bIns="0">
            <a:spAutoFit/>
          </a:bodyPr>
          <a:lstStyle/>
          <a:p>
            <a:pPr>
              <a:lnSpc>
                <a:spcPct val="118000"/>
              </a:lnSpc>
              <a:spcBef>
                <a:spcPts val="0"/>
              </a:spcBef>
              <a:spcAft>
                <a:spcPts val="0"/>
              </a:spcAft>
              <a:defRPr sz="3200" b="0">
                <a:solidFill>
                  <a:srgbClr val="24384A"/>
                </a:solidFill>
                <a:latin typeface="Lato"/>
              </a:defRPr>
            </a:pPr>
            <a:r>
              <a:rPr dirty="0">
                <a:ea typeface="Microsoft JhengHei"/>
              </a:rPr>
              <a:t>Let researchers</a:t>
            </a:r>
            <a:r>
              <a:rPr lang="en-US" dirty="0">
                <a:ea typeface="Microsoft JhengHei"/>
              </a:rPr>
              <a:t> leverage</a:t>
            </a:r>
            <a:r>
              <a:rPr dirty="0">
                <a:ea typeface="Microsoft JhengHei"/>
              </a:rPr>
              <a:t> agents </a:t>
            </a:r>
            <a:r>
              <a:rPr lang="en-US" dirty="0">
                <a:ea typeface="Microsoft JhengHei"/>
              </a:rPr>
              <a:t>to explore new possibilities and directions while ensuring data provenance</a:t>
            </a:r>
            <a:endParaRPr dirty="0">
              <a:ea typeface="Microsoft JhengHei"/>
            </a:endParaRPr>
          </a:p>
        </p:txBody>
      </p:sp>
      <p:sp>
        <p:nvSpPr>
          <p:cNvPr id="5" name="TextBox 4"/>
          <p:cNvSpPr txBox="1"/>
          <p:nvPr/>
        </p:nvSpPr>
        <p:spPr>
          <a:xfrm>
            <a:off x="742950" y="4500822"/>
            <a:ext cx="10477500" cy="523874"/>
          </a:xfrm>
          <a:prstGeom prst="rect">
            <a:avLst/>
          </a:prstGeom>
          <a:noFill/>
        </p:spPr>
        <p:txBody>
          <a:bodyPr wrap="square" lIns="0" tIns="0" r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6" name="TextBox 5"/>
          <p:cNvSpPr txBox="1"/>
          <p:nvPr/>
        </p:nvSpPr>
        <p:spPr>
          <a:xfrm>
            <a:off x="742950" y="5300303"/>
            <a:ext cx="10477500" cy="897297"/>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dirty="0">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dirty="0">
                <a:ea typeface="Microsoft JhengHei"/>
              </a:rPr>
              <a:t>where results can mislead, and the researcher</a:t>
            </a:r>
            <a:r>
              <a:rPr lang="en-US" dirty="0">
                <a:ea typeface="Microsoft JhengHei"/>
              </a:rPr>
              <a:t>’s</a:t>
            </a:r>
            <a:r>
              <a:rPr dirty="0">
                <a:ea typeface="Microsoft JhengHei"/>
              </a:rPr>
              <a:t> </a:t>
            </a:r>
            <a:r>
              <a:rPr lang="en-US" dirty="0">
                <a:ea typeface="Microsoft JhengHei"/>
              </a:rPr>
              <a:t>role</a:t>
            </a:r>
            <a:r>
              <a:rPr dirty="0">
                <a:ea typeface="Microsoft JhengHei"/>
              </a:rPr>
              <a:t>.</a:t>
            </a:r>
          </a:p>
        </p:txBody>
      </p:sp>
      <p:sp>
        <p:nvSpPr>
          <p:cNvPr id="8" name="Rectangle 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
        <p:nvSpPr>
          <p:cNvPr id="2" name="AccentRule">
            <a:extLst>
              <a:ext uri="{FF2B5EF4-FFF2-40B4-BE49-F238E27FC236}">
                <a16:creationId xmlns:a16="http://schemas.microsoft.com/office/drawing/2014/main" id="{FDA6DCF0-9914-4F68-A142-0EA4B7D26841}"/>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TextBox 4"/>
          <p:cNvSpPr txBox="1"/>
          <p:nvPr/>
        </p:nvSpPr>
        <p:spPr>
          <a:xfrm>
            <a:off x="666750" y="2857500"/>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Find and compare</a:t>
            </a:r>
          </a:p>
          <a:p>
            <a:pPr>
              <a:lnSpc>
                <a:spcPct val="118000"/>
              </a:lnSpc>
              <a:spcBef>
                <a:spcPts val="0"/>
              </a:spcBef>
              <a:spcAft>
                <a:spcPts val="0"/>
              </a:spcAft>
              <a:defRPr sz="2300" b="1">
                <a:solidFill>
                  <a:srgbClr val="155F88"/>
                </a:solidFill>
                <a:latin typeface="Lato"/>
              </a:defRPr>
            </a:pPr>
            <a:r>
              <a:rPr>
                <a:ea typeface="Microsoft JhengHei"/>
              </a:rPr>
              <a:t>passages</a:t>
            </a:r>
          </a:p>
        </p:txBody>
      </p:sp>
      <p:sp>
        <p:nvSpPr>
          <p:cNvPr id="6" name="TextBox 5"/>
          <p:cNvSpPr txBox="1"/>
          <p:nvPr/>
        </p:nvSpPr>
        <p:spPr>
          <a:xfrm>
            <a:off x="4429125" y="2857500"/>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Search exact phrases, retrieve related passages,</a:t>
            </a:r>
          </a:p>
          <a:p>
            <a:pPr>
              <a:lnSpc>
                <a:spcPct val="118000"/>
              </a:lnSpc>
              <a:spcBef>
                <a:spcPts val="0"/>
              </a:spcBef>
              <a:spcAft>
                <a:spcPts val="0"/>
              </a:spcAft>
              <a:defRPr sz="2300" b="0">
                <a:solidFill>
                  <a:srgbClr val="24384A"/>
                </a:solidFill>
                <a:latin typeface="Lato"/>
              </a:defRPr>
            </a:pPr>
            <a:r>
              <a:rPr>
                <a:ea typeface="Microsoft JhengHei"/>
              </a:rPr>
              <a:t>and inspect shared wording.</a:t>
            </a:r>
          </a:p>
        </p:txBody>
      </p:sp>
      <p:sp>
        <p:nvSpPr>
          <p:cNvPr id="7" name="TextBox 6"/>
          <p:cNvSpPr txBox="1"/>
          <p:nvPr/>
        </p:nvSpPr>
        <p:spPr>
          <a:xfrm>
            <a:off x="666750" y="4048125"/>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Develop research</a:t>
            </a:r>
          </a:p>
          <a:p>
            <a:pPr>
              <a:lnSpc>
                <a:spcPct val="118000"/>
              </a:lnSpc>
              <a:spcBef>
                <a:spcPts val="0"/>
              </a:spcBef>
              <a:spcAft>
                <a:spcPts val="0"/>
              </a:spcAft>
              <a:defRPr sz="2300" b="1">
                <a:solidFill>
                  <a:srgbClr val="155F88"/>
                </a:solidFill>
                <a:latin typeface="Lato"/>
              </a:defRPr>
            </a:pPr>
            <a:r>
              <a:rPr>
                <a:ea typeface="Microsoft JhengHei"/>
              </a:rPr>
              <a:t>proposals</a:t>
            </a:r>
          </a:p>
        </p:txBody>
      </p:sp>
      <p:sp>
        <p:nvSpPr>
          <p:cNvPr id="8" name="TextBox 7"/>
          <p:cNvSpPr txBox="1"/>
          <p:nvPr/>
        </p:nvSpPr>
        <p:spPr>
          <a:xfrm>
            <a:off x="4429125" y="4048125"/>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explanations, alternatives</a:t>
            </a:r>
          </a:p>
          <a:p>
            <a:pPr>
              <a:lnSpc>
                <a:spcPct val="118000"/>
              </a:lnSpc>
              <a:spcBef>
                <a:spcPts val="0"/>
              </a:spcBef>
              <a:spcAft>
                <a:spcPts val="0"/>
              </a:spcAft>
              <a:defRPr sz="2300" b="0">
                <a:solidFill>
                  <a:srgbClr val="24384A"/>
                </a:solidFill>
                <a:latin typeface="Lato"/>
              </a:defRPr>
            </a:pPr>
            <a:r>
              <a:rPr>
                <a:ea typeface="Microsoft JhengHei"/>
              </a:rPr>
              <a:t>and follow-up searches.</a:t>
            </a:r>
          </a:p>
        </p:txBody>
      </p:sp>
      <p:sp>
        <p:nvSpPr>
          <p:cNvPr id="9" name="TextBox 8"/>
          <p:cNvSpPr txBox="1"/>
          <p:nvPr/>
        </p:nvSpPr>
        <p:spPr>
          <a:xfrm>
            <a:off x="666750" y="5238750"/>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Inspect sources,</a:t>
            </a:r>
          </a:p>
          <a:p>
            <a:pPr>
              <a:lnSpc>
                <a:spcPct val="118000"/>
              </a:lnSpc>
              <a:spcBef>
                <a:spcPts val="0"/>
              </a:spcBef>
              <a:spcAft>
                <a:spcPts val="0"/>
              </a:spcAft>
              <a:defRPr sz="2300" b="1">
                <a:solidFill>
                  <a:srgbClr val="80511B"/>
                </a:solidFill>
                <a:latin typeface="Lato"/>
              </a:defRPr>
            </a:pPr>
            <a:r>
              <a:rPr>
                <a:ea typeface="Microsoft JhengHei"/>
              </a:rPr>
              <a:t>checks and decisions</a:t>
            </a:r>
          </a:p>
        </p:txBody>
      </p:sp>
      <p:sp>
        <p:nvSpPr>
          <p:cNvPr id="10" name="TextBox 9"/>
          <p:cNvSpPr txBox="1"/>
          <p:nvPr/>
        </p:nvSpPr>
        <p:spPr>
          <a:xfrm>
            <a:off x="4429125" y="5238750"/>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Trace proposals to evidence.</a:t>
            </a:r>
          </a:p>
          <a:p>
            <a:pPr>
              <a:lnSpc>
                <a:spcPct val="118000"/>
              </a:lnSpc>
              <a:spcBef>
                <a:spcPts val="0"/>
              </a:spcBef>
              <a:spcAft>
                <a:spcPts val="0"/>
              </a:spcAft>
              <a:defRPr sz="2300" b="0">
                <a:solidFill>
                  <a:srgbClr val="24384A"/>
                </a:solidFill>
                <a:latin typeface="Lato"/>
              </a:defRPr>
            </a:pPr>
            <a:r>
              <a:rPr>
                <a:ea typeface="Microsoft JhengHei"/>
              </a:rPr>
              <a:t>The researcher decides what to accept.</a:t>
            </a:r>
          </a:p>
        </p:txBody>
      </p:sp>
      <p:sp>
        <p:nvSpPr>
          <p:cNvPr id="17" name="Rectangle 16"/>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
        <p:nvSpPr>
          <p:cNvPr id="2" name="AccentRule">
            <a:extLst>
              <a:ext uri="{FF2B5EF4-FFF2-40B4-BE49-F238E27FC236}">
                <a16:creationId xmlns:a16="http://schemas.microsoft.com/office/drawing/2014/main" id="{AA380881-1BD7-4F49-844F-AA78BA380193}"/>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TextBox 5"/>
          <p:cNvSpPr txBox="1"/>
          <p:nvPr/>
        </p:nvSpPr>
        <p:spPr>
          <a:xfrm>
            <a:off x="685800" y="20288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7" name="TextBox 6"/>
          <p:cNvSpPr txBox="1"/>
          <p:nvPr/>
        </p:nvSpPr>
        <p:spPr>
          <a:xfrm>
            <a:off x="4095750" y="2028825"/>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8" name="TextBox 7"/>
          <p:cNvSpPr txBox="1"/>
          <p:nvPr/>
        </p:nvSpPr>
        <p:spPr>
          <a:xfrm>
            <a:off x="685800" y="285750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9" name="TextBox 8"/>
          <p:cNvSpPr txBox="1"/>
          <p:nvPr/>
        </p:nvSpPr>
        <p:spPr>
          <a:xfrm>
            <a:off x="4095750" y="2857500"/>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0" name="TextBox 9"/>
          <p:cNvSpPr txBox="1"/>
          <p:nvPr/>
        </p:nvSpPr>
        <p:spPr>
          <a:xfrm>
            <a:off x="685800" y="368617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1" name="TextBox 10"/>
          <p:cNvSpPr txBox="1"/>
          <p:nvPr/>
        </p:nvSpPr>
        <p:spPr>
          <a:xfrm>
            <a:off x="4095750" y="3686175"/>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2" name="TextBox 11"/>
          <p:cNvSpPr txBox="1"/>
          <p:nvPr/>
        </p:nvSpPr>
        <p:spPr>
          <a:xfrm>
            <a:off x="685800" y="53435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3" name="TextBox 12"/>
          <p:cNvSpPr txBox="1"/>
          <p:nvPr/>
        </p:nvSpPr>
        <p:spPr>
          <a:xfrm>
            <a:off x="4095750" y="5343525"/>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dirty="0">
                <a:ea typeface="Microsoft JhengHei"/>
              </a:rPr>
              <a:t>Read the agents’ proposals, citations and checks.</a:t>
            </a:r>
          </a:p>
        </p:txBody>
      </p:sp>
      <p:sp>
        <p:nvSpPr>
          <p:cNvPr id="14" name="TextBox 13"/>
          <p:cNvSpPr txBox="1"/>
          <p:nvPr/>
        </p:nvSpPr>
        <p:spPr>
          <a:xfrm>
            <a:off x="685800" y="451485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15" name="TextBox 14"/>
          <p:cNvSpPr txBox="1"/>
          <p:nvPr/>
        </p:nvSpPr>
        <p:spPr>
          <a:xfrm>
            <a:off x="4095750" y="4514850"/>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
        <p:nvSpPr>
          <p:cNvPr id="2" name="AccentRule">
            <a:extLst>
              <a:ext uri="{FF2B5EF4-FFF2-40B4-BE49-F238E27FC236}">
                <a16:creationId xmlns:a16="http://schemas.microsoft.com/office/drawing/2014/main" id="{5580DBD1-731D-4762-971F-85CCDA1DB9E0}"/>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71437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5" name="TextBox 4"/>
          <p:cNvSpPr txBox="1"/>
          <p:nvPr/>
        </p:nvSpPr>
        <p:spPr>
          <a:xfrm>
            <a:off x="71437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dirty="0" err="1">
                <a:ea typeface="Microsoft JhengHei"/>
              </a:rPr>
              <a:t>Dharmarakṣa</a:t>
            </a:r>
            <a:r>
              <a:rPr dirty="0">
                <a:ea typeface="Microsoft JhengHei"/>
              </a:rPr>
              <a:t> </a:t>
            </a:r>
            <a:r>
              <a:rPr dirty="0" err="1">
                <a:ea typeface="Microsoft JhengHei"/>
              </a:rPr>
              <a:t>竺法護</a:t>
            </a:r>
            <a:r>
              <a:rPr dirty="0">
                <a:ea typeface="Microsoft JhengHei"/>
              </a:rPr>
              <a:t> · T0263</a:t>
            </a:r>
          </a:p>
          <a:p>
            <a:pPr>
              <a:lnSpc>
                <a:spcPct val="118000"/>
              </a:lnSpc>
              <a:spcBef>
                <a:spcPts val="0"/>
              </a:spcBef>
              <a:spcAft>
                <a:spcPts val="0"/>
              </a:spcAft>
              <a:defRPr sz="2100" b="0">
                <a:solidFill>
                  <a:srgbClr val="24384A"/>
                </a:solidFill>
                <a:latin typeface="Lato"/>
              </a:defRPr>
            </a:pPr>
            <a:r>
              <a:rPr dirty="0" err="1">
                <a:ea typeface="Microsoft JhengHei"/>
              </a:rPr>
              <a:t>Kumārajīva</a:t>
            </a:r>
            <a:r>
              <a:rPr dirty="0">
                <a:ea typeface="Microsoft JhengHei"/>
              </a:rPr>
              <a:t> </a:t>
            </a:r>
            <a:r>
              <a:rPr dirty="0" err="1">
                <a:ea typeface="Microsoft JhengHei"/>
              </a:rPr>
              <a:t>鳩摩羅什</a:t>
            </a:r>
            <a:r>
              <a:rPr dirty="0">
                <a:ea typeface="Microsoft JhengHei"/>
              </a:rPr>
              <a:t> · T0262</a:t>
            </a:r>
          </a:p>
          <a:p>
            <a:pPr>
              <a:lnSpc>
                <a:spcPct val="118000"/>
              </a:lnSpc>
              <a:spcBef>
                <a:spcPts val="0"/>
              </a:spcBef>
              <a:spcAft>
                <a:spcPts val="0"/>
              </a:spcAft>
              <a:defRPr sz="2100" b="0">
                <a:solidFill>
                  <a:srgbClr val="24384A"/>
                </a:solidFill>
                <a:latin typeface="Lato"/>
              </a:defRPr>
            </a:pPr>
            <a:endParaRPr dirty="0">
              <a:ea typeface="Microsoft JhengHei"/>
            </a:endParaRPr>
          </a:p>
          <a:p>
            <a:pPr>
              <a:lnSpc>
                <a:spcPct val="118000"/>
              </a:lnSpc>
              <a:spcBef>
                <a:spcPts val="0"/>
              </a:spcBef>
              <a:spcAft>
                <a:spcPts val="0"/>
              </a:spcAft>
              <a:defRPr sz="2100" b="0">
                <a:solidFill>
                  <a:srgbClr val="24384A"/>
                </a:solidFill>
                <a:latin typeface="Lato"/>
              </a:defRPr>
            </a:pPr>
            <a:r>
              <a:rPr dirty="0">
                <a:ea typeface="Microsoft JhengHei"/>
              </a:rPr>
              <a:t>Can we find related passages</a:t>
            </a:r>
          </a:p>
          <a:p>
            <a:pPr>
              <a:lnSpc>
                <a:spcPct val="118000"/>
              </a:lnSpc>
              <a:spcBef>
                <a:spcPts val="0"/>
              </a:spcBef>
              <a:spcAft>
                <a:spcPts val="0"/>
              </a:spcAft>
              <a:defRPr sz="2100" b="0">
                <a:solidFill>
                  <a:srgbClr val="24384A"/>
                </a:solidFill>
                <a:latin typeface="Lato"/>
              </a:defRPr>
            </a:pPr>
            <a:r>
              <a:rPr dirty="0">
                <a:ea typeface="Microsoft JhengHei"/>
              </a:rPr>
              <a:t>when the wording differs?</a:t>
            </a:r>
          </a:p>
        </p:txBody>
      </p:sp>
      <p:sp>
        <p:nvSpPr>
          <p:cNvPr id="6" name="TextBox 5"/>
          <p:cNvSpPr txBox="1"/>
          <p:nvPr/>
        </p:nvSpPr>
        <p:spPr>
          <a:xfrm>
            <a:off x="652462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7" name="TextBox 6"/>
          <p:cNvSpPr txBox="1"/>
          <p:nvPr/>
        </p:nvSpPr>
        <p:spPr>
          <a:xfrm>
            <a:off x="652462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endParaRPr>
              <a:ea typeface="Microsoft JhengHei"/>
            </a:endParaR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8" name="TextBox 7"/>
          <p:cNvSpPr txBox="1"/>
          <p:nvPr/>
        </p:nvSpPr>
        <p:spPr>
          <a:xfrm>
            <a:off x="523874" y="5457825"/>
            <a:ext cx="11049000" cy="39241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lang="en-US" dirty="0">
                <a:ea typeface="Microsoft JhengHei"/>
              </a:rPr>
              <a:t>Using known  </a:t>
            </a:r>
            <a:endParaRPr dirty="0">
              <a:ea typeface="Microsoft JhengHei"/>
            </a:endParaRP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
        <p:nvSpPr>
          <p:cNvPr id="2" name="AccentRule">
            <a:extLst>
              <a:ext uri="{FF2B5EF4-FFF2-40B4-BE49-F238E27FC236}">
                <a16:creationId xmlns:a16="http://schemas.microsoft.com/office/drawing/2014/main" id="{039F0C20-FFF9-49B2-9787-EB029C628D8E}"/>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dirty="0">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pic>
        <p:nvPicPr>
          <p:cNvPr id="6" name="Picture 5" descr="corpu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Exact phrase</a:t>
            </a:r>
          </a:p>
        </p:txBody>
      </p:sp>
      <p:sp>
        <p:nvSpPr>
          <p:cNvPr id="11" name="Rectangle 10"/>
          <p:cNvSpPr/>
          <p:nvPr/>
        </p:nvSpPr>
        <p:spPr>
          <a:xfrm>
            <a:off x="9667875" y="2190750"/>
            <a:ext cx="200025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49" y="2333625"/>
            <a:ext cx="1828799" cy="310662"/>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dirty="0">
                <a:ea typeface="Microsoft JhengHei"/>
              </a:rPr>
              <a:t>Indexed passage</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Find matches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Read and compare passages</a:t>
            </a:r>
          </a:p>
        </p:txBody>
      </p:sp>
      <p:sp>
        <p:nvSpPr>
          <p:cNvPr id="20" name="TextBox 19"/>
          <p:cNvSpPr txBox="1"/>
          <p:nvPr/>
        </p:nvSpPr>
        <p:spPr>
          <a:xfrm>
            <a:off x="523874" y="5924550"/>
            <a:ext cx="6477000" cy="343427"/>
          </a:xfrm>
          <a:prstGeom prst="rect">
            <a:avLst/>
          </a:prstGeom>
          <a:noFill/>
        </p:spPr>
        <p:txBody>
          <a:bodyPr wrap="square" lIns="0" tIns="0" rIns="0" bIns="0">
            <a:spAutoFit/>
          </a:bodyPr>
          <a:lstStyle/>
          <a:p>
            <a:pPr>
              <a:lnSpc>
                <a:spcPct val="118000"/>
              </a:lnSpc>
              <a:spcBef>
                <a:spcPts val="0"/>
              </a:spcBef>
              <a:spcAft>
                <a:spcPts val="0"/>
              </a:spcAft>
              <a:defRPr sz="2100" b="0">
                <a:solidFill>
                  <a:srgbClr val="155F88"/>
                </a:solidFill>
                <a:latin typeface="Lato"/>
              </a:defRPr>
            </a:pPr>
            <a:r>
              <a:rPr dirty="0">
                <a:ea typeface="Microsoft JhengHei"/>
              </a:rPr>
              <a:t>Exact search or stored-vector retrieval</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Browsing does not add graph records.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TextBox 22"/>
          <p:cNvSpPr txBox="1"/>
          <p:nvPr/>
        </p:nvSpPr>
        <p:spPr>
          <a:xfrm>
            <a:off x="9420225" y="2409825"/>
            <a:ext cx="238125" cy="285750"/>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or</a:t>
            </a:r>
          </a:p>
        </p:txBody>
      </p:sp>
      <p:sp>
        <p:nvSpPr>
          <p:cNvPr id="24" name="AccentRule">
            <a:extLst>
              <a:ext uri="{FF2B5EF4-FFF2-40B4-BE49-F238E27FC236}">
                <a16:creationId xmlns:a16="http://schemas.microsoft.com/office/drawing/2014/main" id="{03D09C70-29C2-4FAA-BD07-07DD453B3003}"/>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Passage retrieval</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TextBox 4"/>
          <p:cNvSpPr txBox="1"/>
          <p:nvPr/>
        </p:nvSpPr>
        <p:spPr>
          <a:xfrm>
            <a:off x="714375" y="34925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6" name="TextBox 5"/>
          <p:cNvSpPr txBox="1"/>
          <p:nvPr/>
        </p:nvSpPr>
        <p:spPr>
          <a:xfrm>
            <a:off x="714375" y="4279900"/>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7" name="TextBox 6"/>
          <p:cNvSpPr txBox="1"/>
          <p:nvPr/>
        </p:nvSpPr>
        <p:spPr>
          <a:xfrm>
            <a:off x="4572000" y="34925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8" name="TextBox 7"/>
          <p:cNvSpPr txBox="1"/>
          <p:nvPr/>
        </p:nvSpPr>
        <p:spPr>
          <a:xfrm>
            <a:off x="4572000" y="4279900"/>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9" name="TextBox 8"/>
          <p:cNvSpPr txBox="1"/>
          <p:nvPr/>
        </p:nvSpPr>
        <p:spPr>
          <a:xfrm>
            <a:off x="8429625" y="34925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0" name="TextBox 9"/>
          <p:cNvSpPr txBox="1"/>
          <p:nvPr/>
        </p:nvSpPr>
        <p:spPr>
          <a:xfrm>
            <a:off x="8429625" y="4279900"/>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1" name="Connector 10"/>
          <p:cNvCxnSpPr/>
          <p:nvPr/>
        </p:nvCxnSpPr>
        <p:spPr>
          <a:xfrm>
            <a:off x="3962399" y="4381500"/>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20025" y="4381500"/>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
        <p:nvSpPr>
          <p:cNvPr id="13" name="AccentRule">
            <a:extLst>
              <a:ext uri="{FF2B5EF4-FFF2-40B4-BE49-F238E27FC236}">
                <a16:creationId xmlns:a16="http://schemas.microsoft.com/office/drawing/2014/main" id="{67D09822-3EE9-419B-A385-BEF0F77CA927}"/>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two Lotus translations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TextBox 3"/>
          <p:cNvSpPr txBox="1"/>
          <p:nvPr/>
        </p:nvSpPr>
        <p:spPr>
          <a:xfrm>
            <a:off x="714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5" name="TextBox 4"/>
          <p:cNvSpPr txBox="1"/>
          <p:nvPr/>
        </p:nvSpPr>
        <p:spPr>
          <a:xfrm>
            <a:off x="714375" y="2700055"/>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6" name="TextBox 5"/>
          <p:cNvSpPr txBox="1"/>
          <p:nvPr/>
        </p:nvSpPr>
        <p:spPr>
          <a:xfrm>
            <a:off x="7572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7" name="TextBox 6"/>
          <p:cNvSpPr txBox="1"/>
          <p:nvPr/>
        </p:nvSpPr>
        <p:spPr>
          <a:xfrm>
            <a:off x="7572375" y="2700055"/>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8" name="Connector 7"/>
          <p:cNvCxnSpPr/>
          <p:nvPr/>
        </p:nvCxnSpPr>
        <p:spPr>
          <a:xfrm>
            <a:off x="4953000" y="2890555"/>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95875" y="2333625"/>
            <a:ext cx="2143125" cy="504825"/>
          </a:xfrm>
          <a:prstGeom prst="rect">
            <a:avLst/>
          </a:prstGeom>
          <a:noFill/>
        </p:spPr>
        <p:txBody>
          <a:bodyPr wrap="square" lIns="0" tIns="0" r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0" name="TextBox 9"/>
          <p:cNvSpPr txBox="1"/>
          <p:nvPr/>
        </p:nvSpPr>
        <p:spPr>
          <a:xfrm>
            <a:off x="742950" y="5265869"/>
            <a:ext cx="10620375" cy="931730"/>
          </a:xfrm>
          <a:prstGeom prst="rect">
            <a:avLst/>
          </a:prstGeom>
          <a:noFill/>
        </p:spPr>
        <p:txBody>
          <a:bodyPr wrap="square" lIns="0" tIns="0" rIns="0" bIns="0">
            <a:spAutoFit/>
          </a:bodyPr>
          <a:lstStyle/>
          <a:p>
            <a:pPr marL="457200" indent="-457200">
              <a:lnSpc>
                <a:spcPct val="118000"/>
              </a:lnSpc>
              <a:spcBef>
                <a:spcPts val="0"/>
              </a:spcBef>
              <a:spcAft>
                <a:spcPts val="0"/>
              </a:spcAft>
              <a:buFont typeface="Arial" panose="020B0604020202020204" pitchFamily="34" charset="0"/>
              <a:buChar char="•"/>
              <a:defRPr sz="2700" b="1">
                <a:solidFill>
                  <a:srgbClr val="146C68"/>
                </a:solidFill>
                <a:latin typeface="Lato"/>
              </a:defRPr>
            </a:pPr>
            <a:r>
              <a:rPr lang="en-US" dirty="0">
                <a:ea typeface="Microsoft JhengHei"/>
              </a:rPr>
              <a:t>Exact match wouldn’t find this pair</a:t>
            </a:r>
          </a:p>
          <a:p>
            <a:pPr marL="457200" indent="-457200">
              <a:lnSpc>
                <a:spcPct val="118000"/>
              </a:lnSpc>
              <a:spcBef>
                <a:spcPts val="0"/>
              </a:spcBef>
              <a:spcAft>
                <a:spcPts val="0"/>
              </a:spcAft>
              <a:buFont typeface="Arial" panose="020B0604020202020204" pitchFamily="34" charset="0"/>
              <a:buChar char="•"/>
              <a:defRPr sz="2700" b="1">
                <a:solidFill>
                  <a:srgbClr val="146C68"/>
                </a:solidFill>
                <a:latin typeface="Lato"/>
              </a:defRPr>
            </a:pPr>
            <a:r>
              <a:rPr dirty="0">
                <a:ea typeface="Microsoft JhengHei"/>
              </a:rPr>
              <a:t>Longest exact shared sequence: 3 Chinese characters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
        <p:nvSpPr>
          <p:cNvPr id="14" name="AccentRule">
            <a:extLst>
              <a:ext uri="{FF2B5EF4-FFF2-40B4-BE49-F238E27FC236}">
                <a16:creationId xmlns:a16="http://schemas.microsoft.com/office/drawing/2014/main" id="{E93B9EC2-5CB5-4F4B-A580-FE144B250000}"/>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TextBox 3"/>
          <p:cNvSpPr txBox="1"/>
          <p:nvPr/>
        </p:nvSpPr>
        <p:spPr>
          <a:xfrm>
            <a:off x="714375" y="25114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5" name="TextBox 4"/>
          <p:cNvSpPr txBox="1"/>
          <p:nvPr/>
        </p:nvSpPr>
        <p:spPr>
          <a:xfrm>
            <a:off x="714375" y="3121025"/>
            <a:ext cx="2857500" cy="1809750"/>
          </a:xfrm>
          <a:prstGeom prst="rect">
            <a:avLst/>
          </a:prstGeom>
          <a:noFill/>
        </p:spPr>
        <p:txBody>
          <a:bodyPr wrap="square" lIns="0" tIns="0" rIns="0" bIns="0">
            <a:spAutoFit/>
          </a:bodyPr>
          <a:lstStyle/>
          <a:p>
            <a:pPr>
              <a:lnSpc>
                <a:spcPct val="118000"/>
              </a:lnSpc>
              <a:spcBef>
                <a:spcPts val="0"/>
              </a:spcBef>
              <a:spcAft>
                <a:spcPts val="0"/>
              </a:spcAft>
              <a:defRPr sz="1800" b="0">
                <a:solidFill>
                  <a:srgbClr val="24384A"/>
                </a:solidFill>
                <a:latin typeface="Lato"/>
              </a:defRPr>
            </a:pPr>
            <a:r>
              <a:t>Radich: strings selected for a Dharmarakṣa dictionary.</a:t>
            </a:r>
          </a:p>
          <a:p>
            <a:pPr>
              <a:lnSpc>
                <a:spcPct val="118000"/>
              </a:lnSpc>
              <a:spcBef>
                <a:spcPts val="0"/>
              </a:spcBef>
              <a:spcAft>
                <a:spcPts val="0"/>
              </a:spcAft>
              <a:defRPr sz="1800" b="0">
                <a:solidFill>
                  <a:srgbClr val="24384A"/>
                </a:solidFill>
                <a:latin typeface="Lato"/>
              </a:defRPr>
            </a:pPr>
            <a:r>
              <a:t>Frequent: common strings in translator-uncertain texts; no group labels used.</a:t>
            </a:r>
          </a:p>
        </p:txBody>
      </p:sp>
      <p:sp>
        <p:nvSpPr>
          <p:cNvPr id="6" name="TextBox 5"/>
          <p:cNvSpPr txBox="1"/>
          <p:nvPr/>
        </p:nvSpPr>
        <p:spPr>
          <a:xfrm>
            <a:off x="4619625" y="25114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7" name="TextBox 6"/>
          <p:cNvSpPr txBox="1"/>
          <p:nvPr/>
        </p:nvSpPr>
        <p:spPr>
          <a:xfrm>
            <a:off x="4619625" y="3121025"/>
            <a:ext cx="2857500" cy="1809750"/>
          </a:xfrm>
          <a:prstGeom prst="rect">
            <a:avLst/>
          </a:prstGeom>
          <a:noFill/>
        </p:spPr>
        <p:txBody>
          <a:bodyPr wrap="square" lIns="0" tIns="0" rIns="0" bIns="0">
            <a:spAutoFit/>
          </a:bodyPr>
          <a:lstStyle/>
          <a:p>
            <a:pPr>
              <a:lnSpc>
                <a:spcPct val="118000"/>
              </a:lnSpc>
              <a:spcBef>
                <a:spcPts val="0"/>
              </a:spcBef>
              <a:spcAft>
                <a:spcPts val="0"/>
              </a:spcAft>
              <a:defRPr sz="1800" b="0">
                <a:solidFill>
                  <a:srgbClr val="24384A"/>
                </a:solidFill>
                <a:latin typeface="Lato"/>
              </a:defRPr>
            </a:pPr>
            <a:r>
              <a:t>Count each selected string in the target.</a:t>
            </a:r>
          </a:p>
          <a:p>
            <a:pPr>
              <a:lnSpc>
                <a:spcPct val="118000"/>
              </a:lnSpc>
              <a:spcBef>
                <a:spcPts val="0"/>
              </a:spcBef>
              <a:spcAft>
                <a:spcPts val="0"/>
              </a:spcAft>
              <a:defRPr sz="1800" b="0">
                <a:solidFill>
                  <a:srgbClr val="24384A"/>
                </a:solidFill>
                <a:latin typeface="Lato"/>
              </a:defRPr>
            </a:pPr>
            <a:r>
              <a:t>Repeated occurrences contribute repeatedly.</a:t>
            </a:r>
          </a:p>
        </p:txBody>
      </p:sp>
      <p:sp>
        <p:nvSpPr>
          <p:cNvPr id="8" name="TextBox 7"/>
          <p:cNvSpPr txBox="1"/>
          <p:nvPr/>
        </p:nvSpPr>
        <p:spPr>
          <a:xfrm>
            <a:off x="8524875" y="2511425"/>
            <a:ext cx="295275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Reference groups</a:t>
            </a:r>
          </a:p>
        </p:txBody>
      </p:sp>
      <p:sp>
        <p:nvSpPr>
          <p:cNvPr id="9" name="TextBox 8"/>
          <p:cNvSpPr txBox="1"/>
          <p:nvPr/>
        </p:nvSpPr>
        <p:spPr>
          <a:xfrm>
            <a:off x="8524875" y="3121025"/>
            <a:ext cx="2952750" cy="1809750"/>
          </a:xfrm>
          <a:prstGeom prst="rect">
            <a:avLst/>
          </a:prstGeom>
          <a:noFill/>
        </p:spPr>
        <p:txBody>
          <a:bodyPr wrap="square" lIns="0" tIns="0" rIns="0" bIns="0">
            <a:spAutoFit/>
          </a:bodyPr>
          <a:lstStyle/>
          <a:p>
            <a:pPr>
              <a:lnSpc>
                <a:spcPct val="118000"/>
              </a:lnSpc>
              <a:spcBef>
                <a:spcPts val="0"/>
              </a:spcBef>
              <a:spcAft>
                <a:spcPts val="0"/>
              </a:spcAft>
              <a:defRPr sz="1800" b="0">
                <a:solidFill>
                  <a:srgbClr val="24384A"/>
                </a:solidFill>
                <a:latin typeface="Lato"/>
              </a:defRPr>
            </a:pPr>
            <a:r>
              <a:t>Count the same strings in reference texts with catalogue group labels.</a:t>
            </a:r>
          </a:p>
          <a:p>
            <a:pPr>
              <a:lnSpc>
                <a:spcPct val="118000"/>
              </a:lnSpc>
              <a:spcBef>
                <a:spcPts val="0"/>
              </a:spcBef>
              <a:spcAft>
                <a:spcPts val="0"/>
              </a:spcAft>
              <a:defRPr sz="1800" b="0">
                <a:solidFill>
                  <a:srgbClr val="24384A"/>
                </a:solidFill>
                <a:latin typeface="Lato"/>
              </a:defRPr>
            </a:pPr>
            <a:r>
              <a:t>Use relative frequencies; exclude the target’s own work.</a:t>
            </a:r>
          </a:p>
        </p:txBody>
      </p:sp>
      <p:cxnSp>
        <p:nvCxnSpPr>
          <p:cNvPr id="10" name="Connector 9"/>
          <p:cNvCxnSpPr/>
          <p:nvPr/>
        </p:nvCxnSpPr>
        <p:spPr>
          <a:xfrm>
            <a:off x="3810000" y="32162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01250" y="4886325"/>
            <a:ext cx="0" cy="3333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48375" y="4886325"/>
            <a:ext cx="0" cy="3333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67250" y="5381625"/>
            <a:ext cx="6810375" cy="762000"/>
          </a:xfrm>
          <a:prstGeom prst="rect">
            <a:avLst/>
          </a:prstGeom>
          <a:noFill/>
        </p:spPr>
        <p:txBody>
          <a:bodyPr wrap="square" lIns="0" tIns="0" rIns="0" bIns="0">
            <a:spAutoFit/>
          </a:bodyPr>
          <a:lstStyle/>
          <a:p>
            <a:pPr>
              <a:lnSpc>
                <a:spcPct val="118000"/>
              </a:lnSpc>
              <a:spcBef>
                <a:spcPts val="0"/>
              </a:spcBef>
              <a:spcAft>
                <a:spcPts val="0"/>
              </a:spcAft>
              <a:defRPr sz="2100" b="1">
                <a:solidFill>
                  <a:srgbClr val="80511B"/>
                </a:solidFill>
                <a:latin typeface="Lato"/>
              </a:defRPr>
            </a:pPr>
            <a:r>
              <a:t>Rank groups by how well their string frequencies fit the target.</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
        <p:nvSpPr>
          <p:cNvPr id="14" name="AccentRule">
            <a:extLst>
              <a:ext uri="{FF2B5EF4-FFF2-40B4-BE49-F238E27FC236}">
                <a16:creationId xmlns:a16="http://schemas.microsoft.com/office/drawing/2014/main" id="{54FB4A4E-CC1C-4D1D-AE19-FF9F8620B62F}"/>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cxnSp>
        <p:nvCxnSpPr>
          <p:cNvPr id="100" name="Target to group comparison"/>
          <p:cNvCxnSpPr/>
          <p:nvPr/>
        </p:nvCxnSpPr>
        <p:spPr>
          <a:xfrm>
            <a:off x="7762875" y="32162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pic>
        <p:nvPicPr>
          <p:cNvPr id="6" name="Picture 5" descr="vocabula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19999" y="2333625"/>
            <a:ext cx="1698568" cy="310662"/>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dirty="0">
                <a:ea typeface="Microsoft JhengHei"/>
              </a:rPr>
              <a:t>Target + strings</a:t>
            </a:r>
          </a:p>
        </p:txBody>
      </p:sp>
      <p:sp>
        <p:nvSpPr>
          <p:cNvPr id="11" name="Rectangle 10"/>
          <p:cNvSpPr/>
          <p:nvPr/>
        </p:nvSpPr>
        <p:spPr>
          <a:xfrm>
            <a:off x="9667875" y="2190750"/>
            <a:ext cx="200025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Labelled texts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Compare string frequencies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Rank the catalogue groups</a:t>
            </a:r>
          </a:p>
        </p:txBody>
      </p:sp>
      <p:sp>
        <p:nvSpPr>
          <p:cNvPr id="20" name="TextBox 19"/>
          <p:cNvSpPr txBox="1"/>
          <p:nvPr/>
        </p:nvSpPr>
        <p:spPr>
          <a:xfrm>
            <a:off x="523874" y="5867400"/>
            <a:ext cx="6477000" cy="558800"/>
          </a:xfrm>
          <a:prstGeom prst="rect">
            <a:avLst/>
          </a:prstGeom>
          <a:noFill/>
        </p:spPr>
        <p:txBody>
          <a:bodyPr wrap="square" lIns="0" tIns="0" rIns="0" bIns="0">
            <a:spAutoFit/>
          </a:bodyPr>
          <a:lstStyle/>
          <a:p>
            <a:pPr>
              <a:lnSpc>
                <a:spcPct val="118000"/>
              </a:lnSpc>
              <a:spcBef>
                <a:spcPts val="0"/>
              </a:spcBef>
              <a:spcAft>
                <a:spcPts val="0"/>
              </a:spcAft>
              <a:defRPr sz="2100" b="0">
                <a:solidFill>
                  <a:srgbClr val="80511B"/>
                </a:solidFill>
                <a:latin typeface="Lato"/>
              </a:defRPr>
            </a:pPr>
            <a:r>
              <a:rPr>
                <a:ea typeface="Microsoft JhengHei"/>
              </a:rPr>
              <a:t>Exclude a comparison text and repeat.</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The vocabulary selects which strings count.</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AccentRule">
            <a:extLst>
              <a:ext uri="{FF2B5EF4-FFF2-40B4-BE49-F238E27FC236}">
                <a16:creationId xmlns:a16="http://schemas.microsoft.com/office/drawing/2014/main" id="{B70C9061-E0EF-48CD-9D4E-0DE2B4FB9086}"/>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earlier text and later commentary</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TextBox 3"/>
          <p:cNvSpPr txBox="1"/>
          <p:nvPr/>
        </p:nvSpPr>
        <p:spPr>
          <a:xfrm>
            <a:off x="71437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5" name="TextBox 4"/>
          <p:cNvSpPr txBox="1"/>
          <p:nvPr/>
        </p:nvSpPr>
        <p:spPr>
          <a:xfrm>
            <a:off x="71437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6" name="TextBox 5"/>
          <p:cNvSpPr txBox="1"/>
          <p:nvPr/>
        </p:nvSpPr>
        <p:spPr>
          <a:xfrm>
            <a:off x="671512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7" name="TextBox 6"/>
          <p:cNvSpPr txBox="1"/>
          <p:nvPr/>
        </p:nvSpPr>
        <p:spPr>
          <a:xfrm>
            <a:off x="671512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8" name="Connector 7"/>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3874" y="5172075"/>
            <a:ext cx="11049000" cy="828240"/>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dirty="0">
                <a:ea typeface="Microsoft JhengHei"/>
              </a:rPr>
              <a:t>T1694 is </a:t>
            </a:r>
            <a:r>
              <a:rPr lang="en-US" dirty="0">
                <a:ea typeface="Microsoft JhengHei"/>
              </a:rPr>
              <a:t>a</a:t>
            </a:r>
            <a:r>
              <a:rPr dirty="0">
                <a:ea typeface="Microsoft JhengHei"/>
              </a:rPr>
              <a:t> commentary on T0603</a:t>
            </a:r>
            <a:r>
              <a:rPr lang="en-US" dirty="0">
                <a:ea typeface="Microsoft JhengHei"/>
              </a:rPr>
              <a:t> with large spans of overlap, artificially boosting similarity</a:t>
            </a:r>
            <a:endParaRPr dirty="0">
              <a:ea typeface="Microsoft JhengHei"/>
            </a:endParaRP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
        <p:nvSpPr>
          <p:cNvPr id="13" name="AccentRule">
            <a:extLst>
              <a:ext uri="{FF2B5EF4-FFF2-40B4-BE49-F238E27FC236}">
                <a16:creationId xmlns:a16="http://schemas.microsoft.com/office/drawing/2014/main" id="{7386ED30-88F8-41E7-8684-CC294B0D8DF1}"/>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pic>
        <p:nvPicPr>
          <p:cNvPr id="6" name="Picture 5" descr="inqui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Question</a:t>
            </a:r>
          </a:p>
        </p:txBody>
      </p:sp>
      <p:sp>
        <p:nvSpPr>
          <p:cNvPr id="11" name="Rectangle 10"/>
          <p:cNvSpPr/>
          <p:nvPr/>
        </p:nvSpPr>
        <p:spPr>
          <a:xfrm>
            <a:off x="9667875" y="2190750"/>
            <a:ext cx="200025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Instructions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Worker calls tools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Save actions and proposals</a:t>
            </a:r>
          </a:p>
        </p:txBody>
      </p:sp>
      <p:sp>
        <p:nvSpPr>
          <p:cNvPr id="20" name="TextBox 19"/>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65439A"/>
                </a:solidFill>
                <a:latin typeface="Lato"/>
              </a:defRPr>
            </a:pPr>
            <a:r>
              <a:rPr>
                <a:ea typeface="Microsoft JhengHei"/>
              </a:rPr>
              <a:t>A separate reviewer records checks.</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Reopen completed work in Run results.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AccentRule">
            <a:extLst>
              <a:ext uri="{FF2B5EF4-FFF2-40B4-BE49-F238E27FC236}">
                <a16:creationId xmlns:a16="http://schemas.microsoft.com/office/drawing/2014/main" id="{7D403E93-E906-4D09-B5EC-09FA1169ED70}"/>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Interpretation · reuse, revision and transmission</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From passages to research proposals</a:t>
            </a:r>
          </a:p>
        </p:txBody>
      </p:sp>
      <p:sp>
        <p:nvSpPr>
          <p:cNvPr id="4" name="TextBox 3"/>
          <p:cNvSpPr txBox="1"/>
          <p:nvPr/>
        </p:nvSpPr>
        <p:spPr>
          <a:xfrm>
            <a:off x="523874" y="1828800"/>
            <a:ext cx="11049000" cy="781050"/>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a:ea typeface="Microsoft JhengHei"/>
              </a:rPr>
              <a:t>Agents can compare material, suggest explanations and propose follow-up searches.</a:t>
            </a:r>
          </a:p>
        </p:txBody>
      </p:sp>
      <p:sp>
        <p:nvSpPr>
          <p:cNvPr id="5" name="Rectangle 4"/>
          <p:cNvSpPr/>
          <p:nvPr/>
        </p:nvSpPr>
        <p:spPr>
          <a:xfrm>
            <a:off x="523874" y="3048000"/>
            <a:ext cx="3333750" cy="16668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953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55F88"/>
                </a:solidFill>
                <a:latin typeface="Lato"/>
              </a:defRPr>
            </a:pPr>
            <a:r>
              <a:rPr>
                <a:ea typeface="Microsoft JhengHei"/>
              </a:rPr>
              <a:t>Read and compare</a:t>
            </a:r>
          </a:p>
        </p:txBody>
      </p:sp>
      <p:sp>
        <p:nvSpPr>
          <p:cNvPr id="7" name="TextBox 6"/>
          <p:cNvSpPr txBox="1"/>
          <p:nvPr/>
        </p:nvSpPr>
        <p:spPr>
          <a:xfrm>
            <a:off x="6953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Retrieve passages</a:t>
            </a:r>
          </a:p>
          <a:p>
            <a:pPr>
              <a:lnSpc>
                <a:spcPct val="118000"/>
              </a:lnSpc>
              <a:spcBef>
                <a:spcPts val="0"/>
              </a:spcBef>
              <a:spcAft>
                <a:spcPts val="0"/>
              </a:spcAft>
              <a:defRPr sz="2000" b="0">
                <a:solidFill>
                  <a:srgbClr val="24384A"/>
                </a:solidFill>
                <a:latin typeface="Lato"/>
              </a:defRPr>
            </a:pPr>
            <a:r>
              <a:rPr>
                <a:ea typeface="Microsoft JhengHei"/>
              </a:rPr>
              <a:t>Summarise observations</a:t>
            </a:r>
          </a:p>
        </p:txBody>
      </p:sp>
      <p:sp>
        <p:nvSpPr>
          <p:cNvPr id="8" name="Rectangle 7"/>
          <p:cNvSpPr/>
          <p:nvPr/>
        </p:nvSpPr>
        <p:spPr>
          <a:xfrm>
            <a:off x="4429125" y="3048000"/>
            <a:ext cx="3333750" cy="16668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0057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65439A"/>
                </a:solidFill>
                <a:latin typeface="Lato"/>
              </a:defRPr>
            </a:pPr>
            <a:r>
              <a:rPr>
                <a:ea typeface="Microsoft JhengHei"/>
              </a:rPr>
              <a:t>Propose</a:t>
            </a:r>
          </a:p>
        </p:txBody>
      </p:sp>
      <p:sp>
        <p:nvSpPr>
          <p:cNvPr id="10" name="TextBox 9"/>
          <p:cNvSpPr txBox="1"/>
          <p:nvPr/>
        </p:nvSpPr>
        <p:spPr>
          <a:xfrm>
            <a:off x="460057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Possible explanations</a:t>
            </a:r>
          </a:p>
          <a:p>
            <a:pPr>
              <a:lnSpc>
                <a:spcPct val="118000"/>
              </a:lnSpc>
              <a:spcBef>
                <a:spcPts val="0"/>
              </a:spcBef>
              <a:spcAft>
                <a:spcPts val="0"/>
              </a:spcAft>
              <a:defRPr sz="2000" b="0">
                <a:solidFill>
                  <a:srgbClr val="24384A"/>
                </a:solidFill>
                <a:latin typeface="Lato"/>
              </a:defRPr>
            </a:pPr>
            <a:r>
              <a:rPr>
                <a:ea typeface="Microsoft JhengHei"/>
              </a:rPr>
              <a:t>Questions to investigate</a:t>
            </a:r>
          </a:p>
        </p:txBody>
      </p:sp>
      <p:sp>
        <p:nvSpPr>
          <p:cNvPr id="11" name="Rectangle 10"/>
          <p:cNvSpPr/>
          <p:nvPr/>
        </p:nvSpPr>
        <p:spPr>
          <a:xfrm>
            <a:off x="8334375" y="3048000"/>
            <a:ext cx="3333750" cy="16668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058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46C68"/>
                </a:solidFill>
                <a:latin typeface="Lato"/>
              </a:defRPr>
            </a:pPr>
            <a:r>
              <a:rPr>
                <a:ea typeface="Microsoft JhengHei"/>
              </a:rPr>
              <a:t>Inspect and decide</a:t>
            </a:r>
          </a:p>
        </p:txBody>
      </p:sp>
      <p:sp>
        <p:nvSpPr>
          <p:cNvPr id="13" name="TextBox 12"/>
          <p:cNvSpPr txBox="1"/>
          <p:nvPr/>
        </p:nvSpPr>
        <p:spPr>
          <a:xfrm>
            <a:off x="85058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Read the cited sources</a:t>
            </a:r>
          </a:p>
          <a:p>
            <a:pPr>
              <a:lnSpc>
                <a:spcPct val="118000"/>
              </a:lnSpc>
              <a:spcBef>
                <a:spcPts val="0"/>
              </a:spcBef>
              <a:spcAft>
                <a:spcPts val="0"/>
              </a:spcAft>
              <a:defRPr sz="2000" b="0">
                <a:solidFill>
                  <a:srgbClr val="24384A"/>
                </a:solidFill>
                <a:latin typeface="Lato"/>
              </a:defRPr>
            </a:pPr>
            <a:r>
              <a:rPr>
                <a:ea typeface="Microsoft JhengHei"/>
              </a:rPr>
              <a:t>Choose what to pursue</a:t>
            </a:r>
          </a:p>
        </p:txBody>
      </p:sp>
      <p:cxnSp>
        <p:nvCxnSpPr>
          <p:cNvPr id="14" name="Connector 13"/>
          <p:cNvCxnSpPr/>
          <p:nvPr/>
        </p:nvCxnSpPr>
        <p:spPr>
          <a:xfrm>
            <a:off x="393382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3907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874" y="5105400"/>
            <a:ext cx="2159000" cy="4476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Graph</a:t>
            </a:r>
          </a:p>
        </p:txBody>
      </p:sp>
      <p:sp>
        <p:nvSpPr>
          <p:cNvPr id="17" name="TextBox 16"/>
          <p:cNvSpPr txBox="1"/>
          <p:nvPr/>
        </p:nvSpPr>
        <p:spPr>
          <a:xfrm>
            <a:off x="2762250" y="5105400"/>
            <a:ext cx="8858250" cy="7620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Keeps proposals linked to passages, checks and researcher decisions.</a:t>
            </a:r>
          </a:p>
        </p:txBody>
      </p:sp>
      <p:sp>
        <p:nvSpPr>
          <p:cNvPr id="18" name="TextBox 17"/>
          <p:cNvSpPr txBox="1"/>
          <p:nvPr/>
        </p:nvSpPr>
        <p:spPr>
          <a:xfrm>
            <a:off x="523874" y="5962650"/>
            <a:ext cx="11049000" cy="390525"/>
          </a:xfrm>
          <a:prstGeom prst="rect">
            <a:avLst/>
          </a:prstGeom>
          <a:noFill/>
        </p:spPr>
        <p:txBody>
          <a:bodyPr wrap="square" lIns="0" tIns="0" rIns="0" bIns="0">
            <a:spAutoFit/>
          </a:bodyPr>
          <a:lstStyle/>
          <a:p>
            <a:pPr>
              <a:lnSpc>
                <a:spcPct val="118000"/>
              </a:lnSpc>
              <a:spcBef>
                <a:spcPts val="0"/>
              </a:spcBef>
              <a:spcAft>
                <a:spcPts val="0"/>
              </a:spcAft>
              <a:defRPr sz="2200" b="0">
                <a:solidFill>
                  <a:srgbClr val="526778"/>
                </a:solidFill>
                <a:latin typeface="Lato"/>
              </a:defRPr>
            </a:pPr>
            <a:r>
              <a:rPr>
                <a:ea typeface="Microsoft JhengHei"/>
              </a:rPr>
              <a:t>A citation that resolves can still support a weak interpretation.</a:t>
            </a:r>
          </a:p>
        </p:txBody>
      </p:sp>
      <p:sp>
        <p:nvSpPr>
          <p:cNvPr id="19" name="Rectangle 1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
        <p:nvSpPr>
          <p:cNvPr id="21" name="AccentRule">
            <a:extLst>
              <a:ext uri="{FF2B5EF4-FFF2-40B4-BE49-F238E27FC236}">
                <a16:creationId xmlns:a16="http://schemas.microsoft.com/office/drawing/2014/main" id="{E7376052-6646-4270-B004-9BE59F1F43F7}"/>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Follow links between sources, proposals and decisions.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pic>
        <p:nvPicPr>
          <p:cNvPr id="6" name="Picture 5" descr="graph.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Select a research question</a:t>
            </a:r>
          </a:p>
        </p:txBody>
      </p:sp>
      <p:cxnSp>
        <p:nvCxnSpPr>
          <p:cNvPr id="11" name="Connector 10"/>
          <p:cNvCxnSpPr/>
          <p:nvPr/>
        </p:nvCxnSpPr>
        <p:spPr>
          <a:xfrm>
            <a:off x="9572625" y="3028950"/>
            <a:ext cx="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477125" y="3590925"/>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Inspect linked records</a:t>
            </a:r>
          </a:p>
        </p:txBody>
      </p:sp>
      <p:cxnSp>
        <p:nvCxnSpPr>
          <p:cNvPr id="14" name="Connector 13"/>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495300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Accept or reject a record</a:t>
            </a:r>
          </a:p>
        </p:txBody>
      </p:sp>
      <p:sp>
        <p:nvSpPr>
          <p:cNvPr id="17" name="TextBox 16"/>
          <p:cNvSpPr txBox="1"/>
          <p:nvPr/>
        </p:nvSpPr>
        <p:spPr>
          <a:xfrm>
            <a:off x="523874" y="5867400"/>
            <a:ext cx="6477000" cy="5588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Show exploration adds recorded tool activity.</a:t>
            </a:r>
          </a:p>
        </p:txBody>
      </p:sp>
      <p:sp>
        <p:nvSpPr>
          <p:cNvPr id="18" name="TextBox 17"/>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Filtering the view does not delete records.</a:t>
            </a:r>
          </a:p>
        </p:txBody>
      </p:sp>
      <p:sp>
        <p:nvSpPr>
          <p:cNvPr id="19" name="TextBox 18"/>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0" name="AccentRule">
            <a:extLst>
              <a:ext uri="{FF2B5EF4-FFF2-40B4-BE49-F238E27FC236}">
                <a16:creationId xmlns:a16="http://schemas.microsoft.com/office/drawing/2014/main" id="{DFB81FCB-3BF2-4F43-A8F3-217109B3DBF3}"/>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a query points to a proposal</a:t>
            </a: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4375" y="2257425"/>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Witness</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48124" y="2257425"/>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86775" y="2257425"/>
            <a:ext cx="1352550" cy="666750"/>
          </a:xfrm>
          <a:prstGeom prst="rect">
            <a:avLst/>
          </a:prstGeom>
          <a:noFill/>
        </p:spPr>
        <p:txBody>
          <a:bodyPr wrap="square" lIns="0" tIns="0" rIns="0" bIns="0">
            <a:spAutoFit/>
          </a:bodyPr>
          <a:lstStyle/>
          <a:p>
            <a:pPr>
              <a:lnSpc>
                <a:spcPct val="118000"/>
              </a:lnSpc>
              <a:spcBef>
                <a:spcPts val="0"/>
              </a:spcBef>
              <a:spcAft>
                <a:spcPts val="0"/>
              </a:spcAft>
              <a:defRPr sz="1700" b="1">
                <a:solidFill>
                  <a:srgbClr val="24384A"/>
                </a:solidFill>
                <a:latin typeface="Lato"/>
              </a:defRPr>
            </a:pPr>
            <a:r>
              <a:rPr>
                <a:ea typeface="Microsoft JhengHei"/>
              </a:rPr>
              <a:t>Claim /</a:t>
            </a:r>
          </a:p>
          <a:p>
            <a:pPr>
              <a:lnSpc>
                <a:spcPct val="118000"/>
              </a:lnSpc>
              <a:spcBef>
                <a:spcPts val="0"/>
              </a:spcBef>
              <a:spcAft>
                <a:spcPts val="0"/>
              </a:spcAft>
              <a:defRPr sz="1700" b="1">
                <a:solidFill>
                  <a:srgbClr val="24384A"/>
                </a:solidFill>
                <a:latin typeface="Lato"/>
              </a:defRPr>
            </a:pPr>
            <a:r>
              <a:rPr>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048124" y="4381500"/>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Query</a:t>
            </a:r>
          </a:p>
        </p:txBody>
      </p:sp>
      <p:sp>
        <p:nvSpPr>
          <p:cNvPr id="12" name="5-Point Star 11"/>
          <p:cNvSpPr/>
          <p:nvPr/>
        </p:nvSpPr>
        <p:spPr>
          <a:xfrm>
            <a:off x="8858250" y="4333875"/>
            <a:ext cx="2000250" cy="12858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048750" y="4591050"/>
            <a:ext cx="1619250" cy="1047749"/>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endParaR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59100" y="2076450"/>
            <a:ext cx="889000" cy="314325"/>
          </a:xfrm>
          <a:prstGeom prst="rect">
            <a:avLst/>
          </a:prstGeom>
          <a:noFill/>
        </p:spPr>
        <p:txBody>
          <a:bodyPr wrap="square" lIns="0" tIns="0" rIns="0" bIns="0">
            <a:spAutoFit/>
          </a:bodyPr>
          <a:lstStyle/>
          <a:p>
            <a:pPr>
              <a:lnSpc>
                <a:spcPct val="118000"/>
              </a:lnSpc>
              <a:spcBef>
                <a:spcPts val="0"/>
              </a:spcBef>
              <a:spcAft>
                <a:spcPts val="0"/>
              </a:spcAft>
              <a:defRPr sz="1400" b="0">
                <a:solidFill>
                  <a:srgbClr val="24384A"/>
                </a:solidFill>
                <a:latin typeface="Lato"/>
              </a:defRPr>
            </a:pPr>
            <a:r>
              <a:rPr>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86525" y="2076450"/>
            <a:ext cx="952500" cy="314325"/>
          </a:xfrm>
          <a:prstGeom prst="rect">
            <a:avLst/>
          </a:prstGeom>
          <a:noFill/>
        </p:spPr>
        <p:txBody>
          <a:bodyPr wrap="square" lIns="0" tIns="0" rIns="0" bIns="0">
            <a:spAutoFit/>
          </a:bodyPr>
          <a:lstStyle/>
          <a:p>
            <a:pPr>
              <a:lnSpc>
                <a:spcPct val="118000"/>
              </a:lnSpc>
              <a:spcBef>
                <a:spcPts val="0"/>
              </a:spcBef>
              <a:spcAft>
                <a:spcPts val="0"/>
              </a:spcAft>
              <a:defRPr sz="1400" b="0">
                <a:solidFill>
                  <a:srgbClr val="24384A"/>
                </a:solidFill>
                <a:latin typeface="Lato"/>
              </a:defRPr>
            </a:pPr>
            <a:r>
              <a:rPr>
                <a:ea typeface="Microsoft JhengHei"/>
              </a:rPr>
              <a:t>attests</a:t>
            </a:r>
          </a:p>
        </p:txBody>
      </p:sp>
      <p:cxnSp>
        <p:nvCxnSpPr>
          <p:cNvPr id="18" name="Connector 17"/>
          <p:cNvCxnSpPr/>
          <p:nvPr/>
        </p:nvCxnSpPr>
        <p:spPr>
          <a:xfrm flipV="1">
            <a:off x="6334125" y="3381376"/>
            <a:ext cx="1524000" cy="1047749"/>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77000" y="4629150"/>
            <a:ext cx="1905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65439A"/>
                </a:solidFill>
                <a:latin typeface="Lato"/>
              </a:defRPr>
            </a:pPr>
            <a:r>
              <a:rPr>
                <a:ea typeface="Microsoft JhengHei"/>
              </a:rPr>
              <a:t>searched for</a:t>
            </a:r>
          </a:p>
        </p:txBody>
      </p:sp>
      <p:sp>
        <p:nvSpPr>
          <p:cNvPr id="20" name="TextBox 19"/>
          <p:cNvSpPr txBox="1"/>
          <p:nvPr/>
        </p:nvSpPr>
        <p:spPr>
          <a:xfrm>
            <a:off x="6477000" y="5000625"/>
            <a:ext cx="17145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65439A"/>
                </a:solidFill>
                <a:latin typeface="Lato"/>
              </a:defRPr>
            </a:pPr>
            <a:r>
              <a:rPr>
                <a:ea typeface="Microsoft JhengHei"/>
              </a:rPr>
              <a:t>or tests</a:t>
            </a:r>
          </a:p>
        </p:txBody>
      </p:sp>
      <p:cxnSp>
        <p:nvCxnSpPr>
          <p:cNvPr id="21" name="Connector 20"/>
          <p:cNvCxnSpPr/>
          <p:nvPr/>
        </p:nvCxnSpPr>
        <p:spPr>
          <a:xfrm>
            <a:off x="9620250" y="3352800"/>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06000" y="3638550"/>
            <a:ext cx="1524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addresses</a:t>
            </a:r>
          </a:p>
        </p:txBody>
      </p:sp>
      <p:sp>
        <p:nvSpPr>
          <p:cNvPr id="23" name="TextBox 22"/>
          <p:cNvSpPr txBox="1"/>
          <p:nvPr/>
        </p:nvSpPr>
        <p:spPr>
          <a:xfrm>
            <a:off x="8620125" y="5791200"/>
            <a:ext cx="2857500" cy="4191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Research question</a:t>
            </a:r>
          </a:p>
        </p:txBody>
      </p:sp>
      <p:sp>
        <p:nvSpPr>
          <p:cNvPr id="24" name="TextBox 23"/>
          <p:cNvSpPr txBox="1"/>
          <p:nvPr/>
        </p:nvSpPr>
        <p:spPr>
          <a:xfrm>
            <a:off x="523874" y="5505450"/>
            <a:ext cx="7524749" cy="714375"/>
          </a:xfrm>
          <a:prstGeom prst="rect">
            <a:avLst/>
          </a:prstGeom>
          <a:noFill/>
        </p:spPr>
        <p:txBody>
          <a:bodyPr wrap="square" lIns="0" tIns="0" rIns="0" bIns="0">
            <a:spAutoFit/>
          </a:bodyPr>
          <a:lstStyle/>
          <a:p>
            <a:pPr>
              <a:lnSpc>
                <a:spcPct val="118000"/>
              </a:lnSpc>
              <a:spcBef>
                <a:spcPts val="0"/>
              </a:spcBef>
              <a:spcAft>
                <a:spcPts val="0"/>
              </a:spcAft>
              <a:defRPr sz="2200" b="0">
                <a:solidFill>
                  <a:srgbClr val="24384A"/>
                </a:solidFill>
                <a:latin typeface="Lato"/>
              </a:defRPr>
            </a:pPr>
            <a:r>
              <a:rPr>
                <a:ea typeface="Microsoft JhengHei"/>
              </a:rPr>
              <a:t>Arrows show different relationships.</a:t>
            </a:r>
          </a:p>
          <a:p>
            <a:pPr>
              <a:lnSpc>
                <a:spcPct val="118000"/>
              </a:lnSpc>
              <a:spcBef>
                <a:spcPts val="0"/>
              </a:spcBef>
              <a:spcAft>
                <a:spcPts val="0"/>
              </a:spcAft>
              <a:defRPr sz="2200" b="0">
                <a:solidFill>
                  <a:srgbClr val="24384A"/>
                </a:solidFill>
                <a:latin typeface="Lato"/>
              </a:defRPr>
            </a:pPr>
            <a:r>
              <a:rPr>
                <a:ea typeface="Microsoft JhengHei"/>
              </a:rPr>
              <a:t>A search is not itself a supporting quotation.</a:t>
            </a: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sp>
        <p:nvSpPr>
          <p:cNvPr id="27" name="AccentRule">
            <a:extLst>
              <a:ext uri="{FF2B5EF4-FFF2-40B4-BE49-F238E27FC236}">
                <a16:creationId xmlns:a16="http://schemas.microsoft.com/office/drawing/2014/main" id="{C33539E3-C184-4764-8EC3-D6F6551CF7D7}"/>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use an evidence graph?</a:t>
            </a:r>
          </a:p>
        </p:txBody>
      </p:sp>
      <p:sp>
        <p:nvSpPr>
          <p:cNvPr id="4" name="TextBox 3"/>
          <p:cNvSpPr txBox="1"/>
          <p:nvPr/>
        </p:nvSpPr>
        <p:spPr>
          <a:xfrm>
            <a:off x="523874" y="1924049"/>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Trace a proposal</a:t>
            </a:r>
          </a:p>
        </p:txBody>
      </p:sp>
      <p:sp>
        <p:nvSpPr>
          <p:cNvPr id="5" name="TextBox 4"/>
          <p:cNvSpPr txBox="1"/>
          <p:nvPr/>
        </p:nvSpPr>
        <p:spPr>
          <a:xfrm>
            <a:off x="4095750" y="1924049"/>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Follow its citations to passages and source records.</a:t>
            </a:r>
          </a:p>
        </p:txBody>
      </p:sp>
      <p:sp>
        <p:nvSpPr>
          <p:cNvPr id="6" name="TextBox 5"/>
          <p:cNvSpPr txBox="1"/>
          <p:nvPr/>
        </p:nvSpPr>
        <p:spPr>
          <a:xfrm>
            <a:off x="523874" y="2962275"/>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Inspect dependencies</a:t>
            </a:r>
          </a:p>
        </p:txBody>
      </p:sp>
      <p:sp>
        <p:nvSpPr>
          <p:cNvPr id="7" name="TextBox 6"/>
          <p:cNvSpPr txBox="1"/>
          <p:nvPr/>
        </p:nvSpPr>
        <p:spPr>
          <a:xfrm>
            <a:off x="4095750" y="2962275"/>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See recorded quotation, parallel and descent links.</a:t>
            </a:r>
          </a:p>
        </p:txBody>
      </p:sp>
      <p:sp>
        <p:nvSpPr>
          <p:cNvPr id="8" name="TextBox 7"/>
          <p:cNvSpPr txBox="1"/>
          <p:nvPr/>
        </p:nvSpPr>
        <p:spPr>
          <a:xfrm>
            <a:off x="523874" y="4000500"/>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Keep the history</a:t>
            </a:r>
          </a:p>
        </p:txBody>
      </p:sp>
      <p:sp>
        <p:nvSpPr>
          <p:cNvPr id="9" name="TextBox 8"/>
          <p:cNvSpPr txBox="1"/>
          <p:nvPr/>
        </p:nvSpPr>
        <p:spPr>
          <a:xfrm>
            <a:off x="4095750" y="4000500"/>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Who proposed it, what was checked, what the researcher decided.</a:t>
            </a:r>
          </a:p>
        </p:txBody>
      </p:sp>
      <p:sp>
        <p:nvSpPr>
          <p:cNvPr id="10" name="TextBox 9"/>
          <p:cNvSpPr txBox="1"/>
          <p:nvPr/>
        </p:nvSpPr>
        <p:spPr>
          <a:xfrm>
            <a:off x="523874" y="5276850"/>
            <a:ext cx="11049000" cy="428625"/>
          </a:xfrm>
          <a:prstGeom prst="rect">
            <a:avLst/>
          </a:prstGeom>
          <a:noFill/>
        </p:spPr>
        <p:txBody>
          <a:bodyPr wrap="square" lIns="0" tIns="0" rIns="0" bIns="0">
            <a:spAutoFit/>
          </a:bodyPr>
          <a:lstStyle/>
          <a:p>
            <a:pPr>
              <a:lnSpc>
                <a:spcPct val="118000"/>
              </a:lnSpc>
              <a:spcBef>
                <a:spcPts val="0"/>
              </a:spcBef>
              <a:spcAft>
                <a:spcPts val="0"/>
              </a:spcAft>
              <a:defRPr sz="2400" b="1">
                <a:solidFill>
                  <a:srgbClr val="65439A"/>
                </a:solidFill>
                <a:latin typeface="Lato"/>
              </a:defRPr>
            </a:pPr>
            <a:r>
              <a:rPr>
                <a:ea typeface="Microsoft JhengHei"/>
              </a:rPr>
              <a:t>Future work: edge prediction</a:t>
            </a:r>
          </a:p>
        </p:txBody>
      </p:sp>
      <p:sp>
        <p:nvSpPr>
          <p:cNvPr id="11" name="TextBox 10"/>
          <p:cNvSpPr txBox="1"/>
          <p:nvPr/>
        </p:nvSpPr>
        <p:spPr>
          <a:xfrm>
            <a:off x="523874" y="5810250"/>
            <a:ext cx="11049000" cy="50482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a quotation or parallel to investigate, with passages to check.</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
        <p:nvSpPr>
          <p:cNvPr id="14" name="AccentRule">
            <a:extLst>
              <a:ext uri="{FF2B5EF4-FFF2-40B4-BE49-F238E27FC236}">
                <a16:creationId xmlns:a16="http://schemas.microsoft.com/office/drawing/2014/main" id="{AEA4C187-C641-4E50-A382-7F94FA61A5A2}"/>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pic>
        <p:nvPicPr>
          <p:cNvPr id="6" name="Picture 5" descr="finding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Open a saved proposal</a:t>
            </a:r>
          </a:p>
        </p:txBody>
      </p:sp>
      <p:cxnSp>
        <p:nvCxnSpPr>
          <p:cNvPr id="11" name="Connector 10"/>
          <p:cNvCxnSpPr/>
          <p:nvPr/>
        </p:nvCxnSpPr>
        <p:spPr>
          <a:xfrm flipH="1">
            <a:off x="8429625" y="3038475"/>
            <a:ext cx="1095375"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25000" y="3038475"/>
            <a:ext cx="1143000"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477125" y="3667125"/>
            <a:ext cx="190500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20000" y="3810000"/>
            <a:ext cx="161925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Cited passages</a:t>
            </a:r>
          </a:p>
        </p:txBody>
      </p:sp>
      <p:sp>
        <p:nvSpPr>
          <p:cNvPr id="15" name="Rectangle 14"/>
          <p:cNvSpPr/>
          <p:nvPr/>
        </p:nvSpPr>
        <p:spPr>
          <a:xfrm>
            <a:off x="9667875" y="3667125"/>
            <a:ext cx="200025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810750" y="3810000"/>
            <a:ext cx="171450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Checks</a:t>
            </a:r>
          </a:p>
        </p:txBody>
      </p:sp>
      <p:sp>
        <p:nvSpPr>
          <p:cNvPr id="17" name="TextBox 16"/>
          <p:cNvSpPr txBox="1"/>
          <p:nvPr/>
        </p:nvSpPr>
        <p:spPr>
          <a:xfrm>
            <a:off x="7477125" y="5010150"/>
            <a:ext cx="4190999" cy="76200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Read its explanation</a:t>
            </a:r>
          </a:p>
          <a:p>
            <a:pPr>
              <a:lnSpc>
                <a:spcPct val="118000"/>
              </a:lnSpc>
              <a:spcBef>
                <a:spcPts val="0"/>
              </a:spcBef>
              <a:spcAft>
                <a:spcPts val="0"/>
              </a:spcAft>
              <a:defRPr sz="2300" b="1">
                <a:solidFill>
                  <a:srgbClr val="146C68"/>
                </a:solidFill>
                <a:latin typeface="Lato"/>
              </a:defRPr>
            </a:pPr>
            <a:r>
              <a:rPr>
                <a:ea typeface="Microsoft JhengHei"/>
              </a:rPr>
              <a:t>and alternatives.</a:t>
            </a:r>
          </a:p>
        </p:txBody>
      </p:sp>
      <p:sp>
        <p:nvSpPr>
          <p:cNvPr id="18" name="TextBox 17"/>
          <p:cNvSpPr txBox="1"/>
          <p:nvPr/>
        </p:nvSpPr>
        <p:spPr>
          <a:xfrm>
            <a:off x="523874" y="5816600"/>
            <a:ext cx="6477000" cy="609600"/>
          </a:xfrm>
          <a:prstGeom prst="rect">
            <a:avLst/>
          </a:prstGeom>
          <a:noFill/>
        </p:spPr>
        <p:txBody>
          <a:bodyPr wrap="square" lIns="0" tIns="0" rIns="0" bIns="0">
            <a:spAutoFit/>
          </a:bodyPr>
          <a:lstStyle/>
          <a:p>
            <a:pPr>
              <a:lnSpc>
                <a:spcPct val="118000"/>
              </a:lnSpc>
              <a:spcBef>
                <a:spcPts val="0"/>
              </a:spcBef>
              <a:spcAft>
                <a:spcPts val="0"/>
              </a:spcAft>
              <a:defRPr sz="2100" b="0">
                <a:solidFill>
                  <a:srgbClr val="146C68"/>
                </a:solidFill>
                <a:latin typeface="Lato"/>
              </a:defRPr>
            </a:pPr>
            <a:r>
              <a:rPr>
                <a:ea typeface="Microsoft JhengHei"/>
              </a:rPr>
              <a:t>Follow a citation into Graph to inspect its source.</a:t>
            </a:r>
          </a:p>
        </p:txBody>
      </p:sp>
      <p:sp>
        <p:nvSpPr>
          <p:cNvPr id="19" name="TextBox 18"/>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Inspect one proposal at a time.</a:t>
            </a:r>
          </a:p>
        </p:txBody>
      </p:sp>
      <p:sp>
        <p:nvSpPr>
          <p:cNvPr id="20" name="TextBox 19"/>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1" name="AccentRule">
            <a:extLst>
              <a:ext uri="{FF2B5EF4-FFF2-40B4-BE49-F238E27FC236}">
                <a16:creationId xmlns:a16="http://schemas.microsoft.com/office/drawing/2014/main" id="{8481F6A8-7D87-46B4-953A-8C7F1A560644}"/>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781050" y="22574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5" name="TextBox 4"/>
          <p:cNvSpPr txBox="1"/>
          <p:nvPr/>
        </p:nvSpPr>
        <p:spPr>
          <a:xfrm>
            <a:off x="1600200" y="2095499"/>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6" name="TextBox 5"/>
          <p:cNvSpPr txBox="1"/>
          <p:nvPr/>
        </p:nvSpPr>
        <p:spPr>
          <a:xfrm>
            <a:off x="4667250" y="22098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7" name="TextBox 6"/>
          <p:cNvSpPr txBox="1"/>
          <p:nvPr/>
        </p:nvSpPr>
        <p:spPr>
          <a:xfrm>
            <a:off x="781050" y="35147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8" name="TextBox 7"/>
          <p:cNvSpPr txBox="1"/>
          <p:nvPr/>
        </p:nvSpPr>
        <p:spPr>
          <a:xfrm>
            <a:off x="1600200" y="33528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9" name="TextBox 8"/>
          <p:cNvSpPr txBox="1"/>
          <p:nvPr/>
        </p:nvSpPr>
        <p:spPr>
          <a:xfrm>
            <a:off x="4667250" y="34671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0" name="TextBox 9"/>
          <p:cNvSpPr txBox="1"/>
          <p:nvPr/>
        </p:nvSpPr>
        <p:spPr>
          <a:xfrm>
            <a:off x="781050" y="47720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1" name="TextBox 10"/>
          <p:cNvSpPr txBox="1"/>
          <p:nvPr/>
        </p:nvSpPr>
        <p:spPr>
          <a:xfrm>
            <a:off x="1600200" y="46101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2" name="TextBox 11"/>
          <p:cNvSpPr txBox="1"/>
          <p:nvPr/>
        </p:nvSpPr>
        <p:spPr>
          <a:xfrm>
            <a:off x="4667250" y="47244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Inquiry → Graph → Findings</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
        <p:nvSpPr>
          <p:cNvPr id="15" name="AccentRule">
            <a:extLst>
              <a:ext uri="{FF2B5EF4-FFF2-40B4-BE49-F238E27FC236}">
                <a16:creationId xmlns:a16="http://schemas.microsoft.com/office/drawing/2014/main" id="{5AD56324-3DB7-4518-AB27-90D5FDD60BDB}"/>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 and limits</a:t>
            </a:r>
          </a:p>
        </p:txBody>
      </p:sp>
      <p:sp>
        <p:nvSpPr>
          <p:cNvPr id="4" name="TextBox 3"/>
          <p:cNvSpPr txBox="1"/>
          <p:nvPr/>
        </p:nvSpPr>
        <p:spPr>
          <a:xfrm>
            <a:off x="523874" y="1943100"/>
            <a:ext cx="5286375" cy="485775"/>
          </a:xfrm>
          <a:prstGeom prst="rect">
            <a:avLst/>
          </a:prstGeom>
          <a:noFill/>
        </p:spPr>
        <p:txBody>
          <a:bodyPr wrap="square" lIns="0" tIns="0" rIns="0" bIns="0">
            <a:spAutoFit/>
          </a:bodyPr>
          <a:lstStyle/>
          <a:p>
            <a:pPr>
              <a:lnSpc>
                <a:spcPct val="118000"/>
              </a:lnSpc>
              <a:spcBef>
                <a:spcPts val="0"/>
              </a:spcBef>
              <a:spcAft>
                <a:spcPts val="0"/>
              </a:spcAft>
              <a:defRPr sz="2400" b="1">
                <a:solidFill>
                  <a:srgbClr val="146C68"/>
                </a:solidFill>
                <a:latin typeface="Lato"/>
              </a:defRPr>
            </a:pPr>
            <a:r>
              <a:t>What the tools showed</a:t>
            </a:r>
          </a:p>
        </p:txBody>
      </p:sp>
      <p:sp>
        <p:nvSpPr>
          <p:cNvPr id="5" name="TextBox 4"/>
          <p:cNvSpPr txBox="1"/>
          <p:nvPr/>
        </p:nvSpPr>
        <p:spPr>
          <a:xfrm>
            <a:off x="6524625" y="1943100"/>
            <a:ext cx="5143500" cy="485775"/>
          </a:xfrm>
          <a:prstGeom prst="rect">
            <a:avLst/>
          </a:prstGeom>
          <a:noFill/>
        </p:spPr>
        <p:txBody>
          <a:bodyPr wrap="square" lIns="0" tIns="0" rIns="0" bIns="0">
            <a:spAutoFit/>
          </a:bodyPr>
          <a:lstStyle/>
          <a:p>
            <a:pPr>
              <a:lnSpc>
                <a:spcPct val="118000"/>
              </a:lnSpc>
              <a:spcBef>
                <a:spcPts val="0"/>
              </a:spcBef>
              <a:spcAft>
                <a:spcPts val="0"/>
              </a:spcAft>
              <a:defRPr sz="2400" b="1">
                <a:solidFill>
                  <a:srgbClr val="80511B"/>
                </a:solidFill>
                <a:latin typeface="Lato"/>
              </a:defRPr>
            </a:pPr>
            <a:r>
              <a:t>What we still need to check</a:t>
            </a:r>
          </a:p>
        </p:txBody>
      </p:sp>
      <p:sp>
        <p:nvSpPr>
          <p:cNvPr id="6" name="TextBox 5"/>
          <p:cNvSpPr txBox="1"/>
          <p:nvPr/>
        </p:nvSpPr>
        <p:spPr>
          <a:xfrm>
            <a:off x="762000" y="2714625"/>
            <a:ext cx="5048250"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t>The Lotus search found a passage in another translation despite little exact shared wording.</a:t>
            </a:r>
          </a:p>
        </p:txBody>
      </p:sp>
      <p:sp>
        <p:nvSpPr>
          <p:cNvPr id="7" name="TextBox 6"/>
          <p:cNvSpPr txBox="1"/>
          <p:nvPr/>
        </p:nvSpPr>
        <p:spPr>
          <a:xfrm>
            <a:off x="6762750" y="2714625"/>
            <a:ext cx="4905375"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t>T0262 Lotus: known translator Kumārajīva 鳩摩羅什; vocabulary ranks Dharmakṣema 曇無讖 first.</a:t>
            </a:r>
          </a:p>
        </p:txBody>
      </p:sp>
      <p:sp>
        <p:nvSpPr>
          <p:cNvPr id="8" name="TextBox 7"/>
          <p:cNvSpPr txBox="1"/>
          <p:nvPr/>
        </p:nvSpPr>
        <p:spPr>
          <a:xfrm>
            <a:off x="762000" y="3886200"/>
            <a:ext cx="5048250"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t>Removing T0603’s commentary changes which vocabulary group ranks first.</a:t>
            </a:r>
          </a:p>
        </p:txBody>
      </p:sp>
      <p:sp>
        <p:nvSpPr>
          <p:cNvPr id="9" name="TextBox 8"/>
          <p:cNvSpPr txBox="1"/>
          <p:nvPr/>
        </p:nvSpPr>
        <p:spPr>
          <a:xfrm>
            <a:off x="6762750" y="3886200"/>
            <a:ext cx="4905375"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t>Getting one text right does not show that the method reliably identifies unknown translators.</a:t>
            </a:r>
          </a:p>
        </p:txBody>
      </p:sp>
      <p:sp>
        <p:nvSpPr>
          <p:cNvPr id="10" name="TextBox 9"/>
          <p:cNvSpPr txBox="1"/>
          <p:nvPr/>
        </p:nvSpPr>
        <p:spPr>
          <a:xfrm>
            <a:off x="762000" y="5057775"/>
            <a:ext cx="5048250"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t>The graph brings proposals, cited passages and recorded checks together.</a:t>
            </a:r>
          </a:p>
        </p:txBody>
      </p:sp>
      <p:sp>
        <p:nvSpPr>
          <p:cNvPr id="11" name="TextBox 10"/>
          <p:cNvSpPr txBox="1"/>
          <p:nvPr/>
        </p:nvSpPr>
        <p:spPr>
          <a:xfrm>
            <a:off x="6762750" y="5057775"/>
            <a:ext cx="4905375"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t>Researchers still need to assess the interpretation and whether its tests are useful.</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
        <p:nvSpPr>
          <p:cNvPr id="14" name="AccentRule">
            <a:extLst>
              <a:ext uri="{FF2B5EF4-FFF2-40B4-BE49-F238E27FC236}">
                <a16:creationId xmlns:a16="http://schemas.microsoft.com/office/drawing/2014/main" id="{8FCD6111-2C3B-4A92-A014-88C34B4076D9}"/>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952500" y="2381250"/>
            <a:ext cx="10287000" cy="1143000"/>
          </a:xfrm>
          <a:prstGeom prst="rect">
            <a:avLst/>
          </a:prstGeom>
          <a:noFill/>
        </p:spPr>
        <p:txBody>
          <a:bodyPr wrap="square" lIns="0" tIns="0" rIns="0" bIns="0">
            <a:spAutoFit/>
          </a:bodyPr>
          <a:lstStyle/>
          <a:p>
            <a:pPr algn="ctr">
              <a:lnSpc>
                <a:spcPct val="118000"/>
              </a:lnSpc>
              <a:spcBef>
                <a:spcPts val="0"/>
              </a:spcBef>
              <a:spcAft>
                <a:spcPts val="0"/>
              </a:spcAft>
              <a:defRPr sz="5200" b="1">
                <a:solidFill>
                  <a:srgbClr val="24384A"/>
                </a:solidFill>
                <a:latin typeface="Lato"/>
              </a:defRPr>
            </a:pPr>
            <a:r>
              <a:rPr>
                <a:ea typeface="Microsoft JhengHei"/>
              </a:rPr>
              <a:t>Thank you</a:t>
            </a:r>
          </a:p>
        </p:txBody>
      </p:sp>
      <p:sp>
        <p:nvSpPr>
          <p:cNvPr id="4" name="TextBox 3"/>
          <p:cNvSpPr txBox="1"/>
          <p:nvPr/>
        </p:nvSpPr>
        <p:spPr>
          <a:xfrm>
            <a:off x="952500" y="3619500"/>
            <a:ext cx="10287000" cy="571500"/>
          </a:xfrm>
          <a:prstGeom prst="rect">
            <a:avLst/>
          </a:prstGeom>
          <a:noFill/>
        </p:spPr>
        <p:txBody>
          <a:bodyPr wrap="square" lIns="0" tIns="0" rIns="0" bIns="0">
            <a:spAutoFit/>
          </a:bodyPr>
          <a:lstStyle/>
          <a:p>
            <a:pPr algn="ctr">
              <a:lnSpc>
                <a:spcPct val="118000"/>
              </a:lnSpc>
              <a:spcBef>
                <a:spcPts val="0"/>
              </a:spcBef>
              <a:spcAft>
                <a:spcPts val="0"/>
              </a:spcAft>
              <a:defRPr sz="2200" b="1">
                <a:solidFill>
                  <a:srgbClr val="146C68"/>
                </a:solidFill>
                <a:latin typeface="Lato"/>
              </a:defRPr>
            </a:pPr>
            <a:r>
              <a:t>Cohort · PNC 2026</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18C3500-9FFC-4C17-A935-8B3EC89A867B}">
  <we:reference id="wa200010001" version="1.0.0.1" store="en-US" storeType="OMEX"/>
  <we:alternateReferences>
    <we:reference id="wa200010001" version="1.0.0.1" store="wa200010001" storeType="OMEX"/>
  </we:alternateReferences>
  <we:properties>
    <we:property name="claude.fileId" value="&quot;ef803f54-82cd-4662-a865-ae21f3d93cb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66</TotalTime>
  <Words>9215</Words>
  <Application>Microsoft Office PowerPoint</Application>
  <PresentationFormat>Widescreen</PresentationFormat>
  <Paragraphs>675</Paragraphs>
  <Slides>21</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Microsoft JhengHei</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Richard Lian</cp:lastModifiedBy>
  <cp:revision>6</cp:revision>
  <dcterms:created xsi:type="dcterms:W3CDTF">2013-01-27T09:14:16Z</dcterms:created>
  <dcterms:modified xsi:type="dcterms:W3CDTF">2026-09-09T05:42:37Z</dcterms:modified>
  <cp:category/>
</cp:coreProperties>
</file>