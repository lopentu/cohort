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7"/>
    <p:sldId id="272" r:id="rId18"/>
    <p:sldId id="273" r:id="rId19"/>
    <p:sldId id="270" r:id="rId16"/>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478" autoAdjust="0"/>
  </p:normalViewPr>
  <p:slideViewPr>
    <p:cSldViewPr snapToGrid="0" snapToObjects="1">
      <p:cViewPr varScale="1">
        <p:scale>
          <a:sx n="99" d="100"/>
          <a:sy n="99" d="100"/>
        </p:scale>
        <p:origin x="734"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a:t>
            </a:r>
            <a:r>
              <a:rPr dirty="0"/>
              <a:t> under both vocabularies, not its catalogue label </a:t>
            </a:r>
            <a:r>
              <a:rPr dirty="0" err="1"/>
              <a:t>Kumārajīva</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Compare a text’s wording with texts labelled by translator.</a:t>
            </a:r>
          </a:p>
          <a:p>
            <a:endParaRPr/>
          </a:p>
          <a:p>
            <a:r>
              <a:t>SAY: Read the group names beside A and B. Highlighting is the contribution to their score difference. The strings can occur in both groups. Strong colour is not certainty.</a:t>
            </a:r>
          </a:p>
          <a:p>
            <a:endParaRPr/>
          </a:p>
          <a:p>
            <a:r>
              <a:t>BACKGROUND</a:t>
            </a:r>
          </a:p>
          <a:p>
            <a:r>
              <a:t>This compares a text against pooled groups using string counts, not embeddings. Use the live view for exclusions. Source passages are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endParaRPr/>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Graph → sources and checks; Findings → one proposal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Co-Intelligence Humanities AI Future Lab</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Acknowledgement</a:t>
            </a:r>
          </a:p>
        </p:txBody>
      </p:sp>
      <p:sp>
        <p:nvSpPr>
          <p:cNvPr id="4" name="TextBox 3"/>
          <p:cNvSpPr txBox="1"/>
          <p:nvPr/>
        </p:nvSpPr>
        <p:spPr>
          <a:xfrm>
            <a:off x="523874" y="1809750"/>
            <a:ext cx="11049000" cy="457882"/>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2800" dirty="0">
                <a:ea typeface="Microsoft JhengHei"/>
              </a:rPr>
              <a:t>Data provided by Prof. </a:t>
            </a:r>
            <a:r>
              <a:rPr sz="2800" dirty="0">
                <a:ea typeface="Microsoft JhengHei"/>
              </a:rPr>
              <a:t>Michael Radich</a:t>
            </a:r>
            <a:r>
              <a:rPr lang="en-US" sz="2800" dirty="0">
                <a:ea typeface="Microsoft JhengHei"/>
              </a:rPr>
              <a:t> of Heidelberg University</a:t>
            </a:r>
            <a:endParaRPr sz="2800" dirty="0">
              <a:ea typeface="Microsoft JhengHei"/>
            </a:endParaRPr>
          </a:p>
        </p:txBody>
      </p:sp>
      <p:sp>
        <p:nvSpPr>
          <p:cNvPr id="5" name="TextBox 4"/>
          <p:cNvSpPr txBox="1"/>
          <p:nvPr/>
        </p:nvSpPr>
        <p:spPr>
          <a:xfrm>
            <a:off x="71437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Cohort’s goal</a:t>
            </a:r>
            <a:endParaRPr dirty="0">
              <a:ea typeface="Microsoft JhengHei"/>
            </a:endParaRPr>
          </a:p>
        </p:txBody>
      </p:sp>
      <p:sp>
        <p:nvSpPr>
          <p:cNvPr id="4" name="TextBox 3"/>
          <p:cNvSpPr txBox="1"/>
          <p:nvPr/>
        </p:nvSpPr>
        <p:spPr>
          <a:xfrm>
            <a:off x="523874" y="1952624"/>
            <a:ext cx="10953750" cy="1104277"/>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a:t>
            </a:r>
            <a:r>
              <a:rPr lang="en-US" dirty="0">
                <a:ea typeface="Microsoft JhengHei"/>
              </a:rPr>
              <a:t> leverage</a:t>
            </a:r>
            <a:r>
              <a:rPr dirty="0">
                <a:ea typeface="Microsoft JhengHei"/>
              </a:rPr>
              <a:t> agents </a:t>
            </a:r>
            <a:r>
              <a:rPr lang="en-US" dirty="0">
                <a:ea typeface="Microsoft JhengHei"/>
              </a:rPr>
              <a:t>to explore new possibilities and directions while ensuring data provenance</a:t>
            </a:r>
            <a:endParaRPr dirty="0">
              <a:ea typeface="Microsoft JhengHei"/>
            </a:endParaRPr>
          </a:p>
        </p:txBody>
      </p:sp>
      <p:sp>
        <p:nvSpPr>
          <p:cNvPr id="5" name="TextBox 4"/>
          <p:cNvSpPr txBox="1"/>
          <p:nvPr/>
        </p:nvSpPr>
        <p:spPr>
          <a:xfrm>
            <a:off x="742950" y="3905249"/>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66750" y="285750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Find and compare</a:t>
            </a:r>
          </a:p>
          <a:p>
            <a:pPr>
              <a:lnSpc>
                <a:spcPct val="118000"/>
              </a:lnSpc>
              <a:spcBef>
                <a:spcPts val="0"/>
              </a:spcBef>
              <a:spcAft>
                <a:spcPts val="0"/>
              </a:spcAft>
              <a:defRPr sz="2300" b="1">
                <a:solidFill>
                  <a:srgbClr val="155F88"/>
                </a:solidFill>
                <a:latin typeface="Lato"/>
              </a:defRPr>
            </a:pPr>
            <a:r>
              <a:rPr>
                <a:ea typeface="Microsoft JhengHei"/>
              </a:rPr>
              <a:t>passages</a:t>
            </a:r>
          </a:p>
        </p:txBody>
      </p:sp>
      <p:sp>
        <p:nvSpPr>
          <p:cNvPr id="6" name="TextBox 5"/>
          <p:cNvSpPr txBox="1"/>
          <p:nvPr/>
        </p:nvSpPr>
        <p:spPr>
          <a:xfrm>
            <a:off x="4429125" y="285750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Search exact phrases, retrieve related passages,</a:t>
            </a:r>
          </a:p>
          <a:p>
            <a:pPr>
              <a:lnSpc>
                <a:spcPct val="118000"/>
              </a:lnSpc>
              <a:spcBef>
                <a:spcPts val="0"/>
              </a:spcBef>
              <a:spcAft>
                <a:spcPts val="0"/>
              </a:spcAft>
              <a:defRPr sz="2300" b="0">
                <a:solidFill>
                  <a:srgbClr val="24384A"/>
                </a:solidFill>
                <a:latin typeface="Lato"/>
              </a:defRPr>
            </a:pPr>
            <a:r>
              <a:rPr>
                <a:ea typeface="Microsoft JhengHei"/>
              </a:rPr>
              <a:t>and inspect shared wording.</a:t>
            </a:r>
          </a:p>
        </p:txBody>
      </p:sp>
      <p:sp>
        <p:nvSpPr>
          <p:cNvPr id="7" name="TextBox 6"/>
          <p:cNvSpPr txBox="1"/>
          <p:nvPr/>
        </p:nvSpPr>
        <p:spPr>
          <a:xfrm>
            <a:off x="666750" y="4048125"/>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Develop research</a:t>
            </a:r>
          </a:p>
          <a:p>
            <a:pPr>
              <a:lnSpc>
                <a:spcPct val="118000"/>
              </a:lnSpc>
              <a:spcBef>
                <a:spcPts val="0"/>
              </a:spcBef>
              <a:spcAft>
                <a:spcPts val="0"/>
              </a:spcAft>
              <a:defRPr sz="2300" b="1">
                <a:solidFill>
                  <a:srgbClr val="155F88"/>
                </a:solidFill>
                <a:latin typeface="Lato"/>
              </a:defRPr>
            </a:pPr>
            <a:r>
              <a:rPr>
                <a:ea typeface="Microsoft JhengHei"/>
              </a:rPr>
              <a:t>proposals</a:t>
            </a:r>
          </a:p>
        </p:txBody>
      </p:sp>
      <p:sp>
        <p:nvSpPr>
          <p:cNvPr id="8" name="TextBox 7"/>
          <p:cNvSpPr txBox="1"/>
          <p:nvPr/>
        </p:nvSpPr>
        <p:spPr>
          <a:xfrm>
            <a:off x="4429125" y="4048125"/>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explanations, alternatives</a:t>
            </a:r>
          </a:p>
          <a:p>
            <a:pPr>
              <a:lnSpc>
                <a:spcPct val="118000"/>
              </a:lnSpc>
              <a:spcBef>
                <a:spcPts val="0"/>
              </a:spcBef>
              <a:spcAft>
                <a:spcPts val="0"/>
              </a:spcAft>
              <a:defRPr sz="2300" b="0">
                <a:solidFill>
                  <a:srgbClr val="24384A"/>
                </a:solidFill>
                <a:latin typeface="Lato"/>
              </a:defRPr>
            </a:pPr>
            <a:r>
              <a:rPr>
                <a:ea typeface="Microsoft JhengHei"/>
              </a:rPr>
              <a:t>and follow-up searches.</a:t>
            </a:r>
          </a:p>
        </p:txBody>
      </p:sp>
      <p:sp>
        <p:nvSpPr>
          <p:cNvPr id="9" name="TextBox 8"/>
          <p:cNvSpPr txBox="1"/>
          <p:nvPr/>
        </p:nvSpPr>
        <p:spPr>
          <a:xfrm>
            <a:off x="666750" y="523875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Inspect sources,</a:t>
            </a:r>
          </a:p>
          <a:p>
            <a:pPr>
              <a:lnSpc>
                <a:spcPct val="118000"/>
              </a:lnSpc>
              <a:spcBef>
                <a:spcPts val="0"/>
              </a:spcBef>
              <a:spcAft>
                <a:spcPts val="0"/>
              </a:spcAft>
              <a:defRPr sz="2300" b="1">
                <a:solidFill>
                  <a:srgbClr val="80511B"/>
                </a:solidFill>
                <a:latin typeface="Lato"/>
              </a:defRPr>
            </a:pPr>
            <a:r>
              <a:rPr>
                <a:ea typeface="Microsoft JhengHei"/>
              </a:rPr>
              <a:t>checks and decisions</a:t>
            </a:r>
          </a:p>
        </p:txBody>
      </p:sp>
      <p:sp>
        <p:nvSpPr>
          <p:cNvPr id="10" name="TextBox 9"/>
          <p:cNvSpPr txBox="1"/>
          <p:nvPr/>
        </p:nvSpPr>
        <p:spPr>
          <a:xfrm>
            <a:off x="4429125" y="523875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Trace proposals to evidence.</a:t>
            </a:r>
          </a:p>
          <a:p>
            <a:pPr>
              <a:lnSpc>
                <a:spcPct val="118000"/>
              </a:lnSpc>
              <a:spcBef>
                <a:spcPts val="0"/>
              </a:spcBef>
              <a:spcAft>
                <a:spcPts val="0"/>
              </a:spcAft>
              <a:defRPr sz="2300" b="0">
                <a:solidFill>
                  <a:srgbClr val="24384A"/>
                </a:solidFill>
                <a:latin typeface="Lato"/>
              </a:defRPr>
            </a:pPr>
            <a:r>
              <a:rPr>
                <a:ea typeface="Microsoft JhengHei"/>
              </a:rPr>
              <a:t>The researcher decides what to accept.</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53435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Read the agents’ proposals, citations and checks.</a:t>
            </a:r>
          </a:p>
        </p:txBody>
      </p:sp>
      <p:sp>
        <p:nvSpPr>
          <p:cNvPr id="14" name="TextBox 13"/>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451485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dirty="0">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tIns="0" r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tIns="0" r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tIns="0" r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86775" y="2257425"/>
            <a:ext cx="1352550" cy="666750"/>
          </a:xfrm>
          <a:prstGeom prst="rect">
            <a:avLst/>
          </a:prstGeom>
          <a:noFill/>
        </p:spPr>
        <p:txBody>
          <a:bodyPr wrap="square" lIns="0" tIns="0" r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48750" y="4591050"/>
            <a:ext cx="1619250" cy="1047749"/>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Inquiry → Graph → Findings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property name="claude.fileId" value="&quot;ef803f54-82cd-4662-a865-ae21f3d93cb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35</TotalTime>
  <Words>9249</Words>
  <Application>Microsoft Office PowerPoint</Application>
  <PresentationFormat>Widescreen</PresentationFormat>
  <Paragraphs>676</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4</cp:revision>
  <dcterms:created xsi:type="dcterms:W3CDTF">2013-01-27T09:14:16Z</dcterms:created>
  <dcterms:modified xsi:type="dcterms:W3CDTF">2026-09-09T05:07:11Z</dcterms:modified>
  <cp:category/>
</cp:coreProperties>
</file>