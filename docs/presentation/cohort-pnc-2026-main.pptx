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0"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478" autoAdjust="0"/>
  </p:normalViewPr>
  <p:slideViewPr>
    <p:cSldViewPr snapToGrid="0" snapToObjects="1">
      <p:cViewPr varScale="1">
        <p:scale>
          <a:sx n="92" d="100"/>
          <a:sy n="92" d="100"/>
        </p:scale>
        <p:origin x="101" y="22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Graph → sources and checks; Findings → one proposal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9436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
        <p:nvSpPr>
          <p:cNvPr id="12" name="AccentRule">
            <a:extLst>
              <a:ext uri="{FF2B5EF4-FFF2-40B4-BE49-F238E27FC236}">
                <a16:creationId xmlns:a16="http://schemas.microsoft.com/office/drawing/2014/main" id="{C3E0F568-5462-4CC8-8751-A5AF1D2CDD6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
        <p:nvSpPr>
          <p:cNvPr id="2" name="AccentRule">
            <a:extLst>
              <a:ext uri="{FF2B5EF4-FFF2-40B4-BE49-F238E27FC236}">
                <a16:creationId xmlns:a16="http://schemas.microsoft.com/office/drawing/2014/main" id="{86637AF7-4BF9-472D-8071-E2C6FE1D097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goal</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4500822"/>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5300303"/>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
        <p:nvSpPr>
          <p:cNvPr id="2" name="AccentRule">
            <a:extLst>
              <a:ext uri="{FF2B5EF4-FFF2-40B4-BE49-F238E27FC236}">
                <a16:creationId xmlns:a16="http://schemas.microsoft.com/office/drawing/2014/main" id="{FDA6DCF0-9914-4F68-A142-0EA4B7D2684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
        <p:nvSpPr>
          <p:cNvPr id="2" name="AccentRule">
            <a:extLst>
              <a:ext uri="{FF2B5EF4-FFF2-40B4-BE49-F238E27FC236}">
                <a16:creationId xmlns:a16="http://schemas.microsoft.com/office/drawing/2014/main" id="{AA380881-1BD7-4F49-844F-AA78BA38019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53435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Read the agents’ proposals, citations and checks.</a:t>
            </a:r>
          </a:p>
        </p:txBody>
      </p:sp>
      <p:sp>
        <p:nvSpPr>
          <p:cNvPr id="14" name="TextBox 13"/>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451485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
        <p:nvSpPr>
          <p:cNvPr id="2" name="AccentRule">
            <a:extLst>
              <a:ext uri="{FF2B5EF4-FFF2-40B4-BE49-F238E27FC236}">
                <a16:creationId xmlns:a16="http://schemas.microsoft.com/office/drawing/2014/main" id="{5580DBD1-731D-4762-971F-85CCDA1DB9E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39241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lang="en-US" dirty="0">
                <a:ea typeface="Microsoft JhengHei"/>
              </a:rPr>
              <a:t>Using known  </a:t>
            </a:r>
            <a:endParaRPr dirty="0">
              <a:ea typeface="Microsoft JhengHei"/>
            </a:endParaRP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
        <p:nvSpPr>
          <p:cNvPr id="2" name="AccentRule">
            <a:extLst>
              <a:ext uri="{FF2B5EF4-FFF2-40B4-BE49-F238E27FC236}">
                <a16:creationId xmlns:a16="http://schemas.microsoft.com/office/drawing/2014/main" id="{039F0C20-FFF9-49B2-9787-EB029C628D8E}"/>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
        <p:nvSpPr>
          <p:cNvPr id="24" name="AccentRule">
            <a:extLst>
              <a:ext uri="{FF2B5EF4-FFF2-40B4-BE49-F238E27FC236}">
                <a16:creationId xmlns:a16="http://schemas.microsoft.com/office/drawing/2014/main" id="{03D09C70-29C2-4FAA-BD07-07DD453B300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
        <p:nvSpPr>
          <p:cNvPr id="13" name="AccentRule">
            <a:extLst>
              <a:ext uri="{FF2B5EF4-FFF2-40B4-BE49-F238E27FC236}">
                <a16:creationId xmlns:a16="http://schemas.microsoft.com/office/drawing/2014/main" id="{67D09822-3EE9-419B-A385-BEF0F77CA92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890555"/>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5265869"/>
            <a:ext cx="10620375" cy="931730"/>
          </a:xfrm>
          <a:prstGeom prst="rect">
            <a:avLst/>
          </a:prstGeom>
          <a:noFill/>
        </p:spPr>
        <p:txBody>
          <a:bodyPr wrap="square" lIns="0" tIns="0" rIns="0" bIns="0">
            <a:spAutoFit/>
          </a:bodyPr>
          <a:lstStyle/>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lang="en-US" dirty="0">
                <a:ea typeface="Microsoft JhengHei"/>
              </a:rPr>
              <a:t>Exact match wouldn’t find this pair</a:t>
            </a:r>
          </a:p>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dirty="0">
                <a:ea typeface="Microsoft JhengHei"/>
              </a:rPr>
              <a:t>Longest exact shared sequence: 3 Chinese characters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
        <p:nvSpPr>
          <p:cNvPr id="14" name="AccentRule">
            <a:extLst>
              <a:ext uri="{FF2B5EF4-FFF2-40B4-BE49-F238E27FC236}">
                <a16:creationId xmlns:a16="http://schemas.microsoft.com/office/drawing/2014/main" id="{E93B9EC2-5CB5-4F4B-A580-FE144B25000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Radich: strings selected for a Dharmarakṣa dictionary.</a:t>
            </a:r>
          </a:p>
          <a:p>
            <a:pPr>
              <a:lnSpc>
                <a:spcPct val="118000"/>
              </a:lnSpc>
              <a:spcBef>
                <a:spcPts val="0"/>
              </a:spcBef>
              <a:spcAft>
                <a:spcPts val="0"/>
              </a:spcAft>
              <a:defRPr sz="1800" b="0">
                <a:solidFill>
                  <a:srgbClr val="24384A"/>
                </a:solidFill>
                <a:latin typeface="Lato"/>
              </a:defRPr>
            </a:pPr>
            <a:r>
              <a:t>Frequent: common strings in translator-uncertain texts; no group labels used.</a:t>
            </a:r>
          </a:p>
        </p:txBody>
      </p:sp>
      <p:sp>
        <p:nvSpPr>
          <p:cNvPr id="6" name="TextBox 5"/>
          <p:cNvSpPr txBox="1"/>
          <p:nvPr/>
        </p:nvSpPr>
        <p:spPr>
          <a:xfrm>
            <a:off x="461962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each selected string in the target.</a:t>
            </a:r>
          </a:p>
          <a:p>
            <a:pPr>
              <a:lnSpc>
                <a:spcPct val="118000"/>
              </a:lnSpc>
              <a:spcBef>
                <a:spcPts val="0"/>
              </a:spcBef>
              <a:spcAft>
                <a:spcPts val="0"/>
              </a:spcAft>
              <a:defRPr sz="1800" b="0">
                <a:solidFill>
                  <a:srgbClr val="24384A"/>
                </a:solidFill>
                <a:latin typeface="Lato"/>
              </a:defRPr>
            </a:pPr>
            <a:r>
              <a:t>Repeated occurrences contribute repeatedly.</a:t>
            </a:r>
          </a:p>
        </p:txBody>
      </p:sp>
      <p:sp>
        <p:nvSpPr>
          <p:cNvPr id="8" name="TextBox 7"/>
          <p:cNvSpPr txBox="1"/>
          <p:nvPr/>
        </p:nvSpPr>
        <p:spPr>
          <a:xfrm>
            <a:off x="8524875" y="25114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Reference groups</a:t>
            </a:r>
          </a:p>
        </p:txBody>
      </p:sp>
      <p:sp>
        <p:nvSpPr>
          <p:cNvPr id="9" name="TextBox 8"/>
          <p:cNvSpPr txBox="1"/>
          <p:nvPr/>
        </p:nvSpPr>
        <p:spPr>
          <a:xfrm>
            <a:off x="8524875" y="3121025"/>
            <a:ext cx="295275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the same strings in reference texts with catalogue group labels.</a:t>
            </a:r>
          </a:p>
          <a:p>
            <a:pPr>
              <a:lnSpc>
                <a:spcPct val="118000"/>
              </a:lnSpc>
              <a:spcBef>
                <a:spcPts val="0"/>
              </a:spcBef>
              <a:spcAft>
                <a:spcPts val="0"/>
              </a:spcAft>
              <a:defRPr sz="1800" b="0">
                <a:solidFill>
                  <a:srgbClr val="24384A"/>
                </a:solidFill>
                <a:latin typeface="Lato"/>
              </a:defRPr>
            </a:pPr>
            <a:r>
              <a:t>Use relative frequencies; exclude the target’s own work.</a:t>
            </a:r>
          </a:p>
        </p:txBody>
      </p:sp>
      <p:cxnSp>
        <p:nvCxnSpPr>
          <p:cNvPr id="10" name="Connector 9"/>
          <p:cNvCxnSpPr/>
          <p:nvPr/>
        </p:nvCxnSpPr>
        <p:spPr>
          <a:xfrm>
            <a:off x="3810000"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5381625"/>
            <a:ext cx="6810375" cy="762000"/>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t>Rank groups by how well their string frequencies fit the target.</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
        <p:nvSpPr>
          <p:cNvPr id="14" name="AccentRule">
            <a:extLst>
              <a:ext uri="{FF2B5EF4-FFF2-40B4-BE49-F238E27FC236}">
                <a16:creationId xmlns:a16="http://schemas.microsoft.com/office/drawing/2014/main" id="{54FB4A4E-CC1C-4D1D-AE19-FF9F8620B62F}"/>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cxnSp>
        <p:nvCxnSpPr>
          <p:cNvPr id="100" name="Target to group comparison"/>
          <p:cNvCxnSpPr/>
          <p:nvPr/>
        </p:nvCxnSpPr>
        <p:spPr>
          <a:xfrm>
            <a:off x="7762875"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9999" y="2333625"/>
            <a:ext cx="1698568"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dirty="0">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B70C9061-E0EF-48CD-9D4E-0DE2B4FB9086}"/>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82824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dirty="0">
                <a:ea typeface="Microsoft JhengHei"/>
              </a:rPr>
              <a:t>T1694 is </a:t>
            </a:r>
            <a:r>
              <a:rPr lang="en-US" dirty="0">
                <a:ea typeface="Microsoft JhengHei"/>
              </a:rPr>
              <a:t>a</a:t>
            </a:r>
            <a:r>
              <a:rPr dirty="0">
                <a:ea typeface="Microsoft JhengHei"/>
              </a:rPr>
              <a:t> commentary on T0603</a:t>
            </a:r>
            <a:r>
              <a:rPr lang="en-US" dirty="0">
                <a:ea typeface="Microsoft JhengHei"/>
              </a:rPr>
              <a:t> with large spans of overlap, artificially boosting similarity</a:t>
            </a:r>
            <a:endParaRPr dirty="0">
              <a:ea typeface="Microsoft JhengHei"/>
            </a:endParaRP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
        <p:nvSpPr>
          <p:cNvPr id="13" name="AccentRule">
            <a:extLst>
              <a:ext uri="{FF2B5EF4-FFF2-40B4-BE49-F238E27FC236}">
                <a16:creationId xmlns:a16="http://schemas.microsoft.com/office/drawing/2014/main" id="{7386ED30-88F8-41E7-8684-CC294B0D8DF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7D403E93-E906-4D09-B5EC-09FA1169ED7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159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
        <p:nvSpPr>
          <p:cNvPr id="21" name="AccentRule">
            <a:extLst>
              <a:ext uri="{FF2B5EF4-FFF2-40B4-BE49-F238E27FC236}">
                <a16:creationId xmlns:a16="http://schemas.microsoft.com/office/drawing/2014/main" id="{E7376052-6646-4270-B004-9BE59F1F43F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0" name="AccentRule">
            <a:extLst>
              <a:ext uri="{FF2B5EF4-FFF2-40B4-BE49-F238E27FC236}">
                <a16:creationId xmlns:a16="http://schemas.microsoft.com/office/drawing/2014/main" id="{DFB81FCB-3BF2-4F43-A8F3-217109B3DBF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100" y="2076450"/>
            <a:ext cx="8890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791200"/>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
        <p:nvSpPr>
          <p:cNvPr id="27" name="AccentRule">
            <a:extLst>
              <a:ext uri="{FF2B5EF4-FFF2-40B4-BE49-F238E27FC236}">
                <a16:creationId xmlns:a16="http://schemas.microsoft.com/office/drawing/2014/main" id="{C33539E3-C184-4764-8EC3-D6F6551CF7D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
        <p:nvSpPr>
          <p:cNvPr id="14" name="AccentRule">
            <a:extLst>
              <a:ext uri="{FF2B5EF4-FFF2-40B4-BE49-F238E27FC236}">
                <a16:creationId xmlns:a16="http://schemas.microsoft.com/office/drawing/2014/main" id="{AEA4C187-C641-4E50-A382-7F94FA61A5A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816600"/>
            <a:ext cx="6477000" cy="609600"/>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1" name="AccentRule">
            <a:extLst>
              <a:ext uri="{FF2B5EF4-FFF2-40B4-BE49-F238E27FC236}">
                <a16:creationId xmlns:a16="http://schemas.microsoft.com/office/drawing/2014/main" id="{8481F6A8-7D87-46B4-953A-8C7F1A560644}"/>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Graph → Findings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
        <p:nvSpPr>
          <p:cNvPr id="15" name="AccentRule">
            <a:extLst>
              <a:ext uri="{FF2B5EF4-FFF2-40B4-BE49-F238E27FC236}">
                <a16:creationId xmlns:a16="http://schemas.microsoft.com/office/drawing/2014/main" id="{5AD56324-3DB7-4518-AB27-90D5FDD60BD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
        <p:nvSpPr>
          <p:cNvPr id="14" name="AccentRule">
            <a:extLst>
              <a:ext uri="{FF2B5EF4-FFF2-40B4-BE49-F238E27FC236}">
                <a16:creationId xmlns:a16="http://schemas.microsoft.com/office/drawing/2014/main" id="{8FCD6111-2C3B-4A92-A014-88C34B4076D9}"/>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66</TotalTime>
  <Words>9215</Words>
  <Application>Microsoft Office PowerPoint</Application>
  <PresentationFormat>Widescreen</PresentationFormat>
  <Paragraphs>675</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6</cp:revision>
  <dcterms:created xsi:type="dcterms:W3CDTF">2013-01-27T09:14:16Z</dcterms:created>
  <dcterms:modified xsi:type="dcterms:W3CDTF">2026-09-09T05:42:37Z</dcterms:modified>
  <cp:category/>
</cp:coreProperties>
</file>